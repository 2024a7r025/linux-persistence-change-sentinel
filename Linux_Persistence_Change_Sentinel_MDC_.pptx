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1"/>
  </p:sldMasterIdLst>
  <p:notesMasterIdLst>
    <p:notesMasterId r:id="rId17"/>
  </p:notesMasterIdLst>
  <p:sldIdLst>
    <p:sldId id="379" r:id="rId2"/>
    <p:sldId id="525" r:id="rId3"/>
    <p:sldId id="526" r:id="rId4"/>
    <p:sldId id="527" r:id="rId5"/>
    <p:sldId id="528" r:id="rId6"/>
    <p:sldId id="529" r:id="rId7"/>
    <p:sldId id="530" r:id="rId8"/>
    <p:sldId id="531" r:id="rId9"/>
    <p:sldId id="532" r:id="rId10"/>
    <p:sldId id="533" r:id="rId11"/>
    <p:sldId id="534" r:id="rId12"/>
    <p:sldId id="535" r:id="rId13"/>
    <p:sldId id="536" r:id="rId14"/>
    <p:sldId id="537" r:id="rId15"/>
    <p:sldId id="538" r:id="rId16"/>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941" autoAdjust="0"/>
    <p:restoredTop sz="94041" autoAdjust="0"/>
  </p:normalViewPr>
  <p:slideViewPr>
    <p:cSldViewPr snapToGrid="0">
      <p:cViewPr varScale="1">
        <p:scale>
          <a:sx n="77" d="100"/>
          <a:sy n="77" d="100"/>
        </p:scale>
        <p:origin x="1973" y="96"/>
      </p:cViewPr>
      <p:guideLst>
        <p:guide orient="horz" pos="2160"/>
        <p:guide pos="2880"/>
      </p:guideLst>
    </p:cSldViewPr>
  </p:slideViewPr>
  <p:notesTextViewPr>
    <p:cViewPr>
      <p:scale>
        <a:sx n="1" d="1"/>
        <a:sy n="1" d="1"/>
      </p:scale>
      <p:origin x="0" y="0"/>
    </p:cViewPr>
  </p:notesTextViewPr>
  <p:sorterViewPr>
    <p:cViewPr>
      <p:scale>
        <a:sx n="100" d="100"/>
        <a:sy n="100" d="100"/>
      </p:scale>
      <p:origin x="0" y="0"/>
    </p:cViewPr>
  </p:sorterViewPr>
  <p:notesViewPr>
    <p:cSldViewPr snapToGrid="0">
      <p:cViewPr varScale="1">
        <p:scale>
          <a:sx n="59" d="100"/>
          <a:sy n="59" d="100"/>
        </p:scale>
        <p:origin x="2460"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C18445B-3D83-48F8-8074-7A945437CEF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dirty="0"/>
          </a:p>
        </p:txBody>
      </p:sp>
      <p:sp>
        <p:nvSpPr>
          <p:cNvPr id="3" name="Date Placeholder 2">
            <a:extLst>
              <a:ext uri="{FF2B5EF4-FFF2-40B4-BE49-F238E27FC236}">
                <a16:creationId xmlns:a16="http://schemas.microsoft.com/office/drawing/2014/main" id="{914DCF11-2565-4585-B14D-DE65C8B338D4}"/>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F5D7F702-C849-4981-AD7E-916FA0F2FB34}" type="datetimeFigureOut">
              <a:rPr lang="en-US"/>
              <a:pPr>
                <a:defRPr/>
              </a:pPr>
              <a:t>10/21/2026</a:t>
            </a:fld>
            <a:endParaRPr lang="en-US" dirty="0"/>
          </a:p>
        </p:txBody>
      </p:sp>
      <p:sp>
        <p:nvSpPr>
          <p:cNvPr id="4" name="Slide Image Placeholder 3">
            <a:extLst>
              <a:ext uri="{FF2B5EF4-FFF2-40B4-BE49-F238E27FC236}">
                <a16:creationId xmlns:a16="http://schemas.microsoft.com/office/drawing/2014/main" id="{3EBBC463-3244-48B7-9B27-FE9395C46187}"/>
              </a:ext>
            </a:extLst>
          </p:cNvPr>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a:extLst>
              <a:ext uri="{FF2B5EF4-FFF2-40B4-BE49-F238E27FC236}">
                <a16:creationId xmlns:a16="http://schemas.microsoft.com/office/drawing/2014/main" id="{5410931D-B801-4759-8B55-646BB45BD9E8}"/>
              </a:ext>
            </a:extLst>
          </p:cNvPr>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C049E9F1-013D-4E40-8E40-E44D90C541BB}"/>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dirty="0"/>
          </a:p>
        </p:txBody>
      </p:sp>
      <p:sp>
        <p:nvSpPr>
          <p:cNvPr id="7" name="Slide Number Placeholder 6">
            <a:extLst>
              <a:ext uri="{FF2B5EF4-FFF2-40B4-BE49-F238E27FC236}">
                <a16:creationId xmlns:a16="http://schemas.microsoft.com/office/drawing/2014/main" id="{E3CE0D85-C464-4273-89B9-031AFAC5EFEF}"/>
              </a:ext>
            </a:extLst>
          </p:cNvPr>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anose="020F0502020204030204" pitchFamily="34" charset="0"/>
              </a:defRPr>
            </a:lvl1pPr>
          </a:lstStyle>
          <a:p>
            <a:pPr>
              <a:defRPr/>
            </a:pPr>
            <a:fld id="{3850892F-F9FC-456A-BEE2-9EDE45E6D0B8}" type="slidenum">
              <a:rPr lang="en-US" altLang="en-US"/>
              <a:pPr>
                <a:defRPr/>
              </a:pPr>
              <a:t>‹#›</a:t>
            </a:fld>
            <a:endParaRPr lang="en-US" altLang="en-US" dirty="0"/>
          </a:p>
        </p:txBody>
      </p:sp>
    </p:spTree>
    <p:extLst>
      <p:ext uri="{BB962C8B-B14F-4D97-AF65-F5344CB8AC3E}">
        <p14:creationId xmlns:p14="http://schemas.microsoft.com/office/powerpoint/2010/main" val="167301257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a:extLst>
              <a:ext uri="{FF2B5EF4-FFF2-40B4-BE49-F238E27FC236}">
                <a16:creationId xmlns:a16="http://schemas.microsoft.com/office/drawing/2014/main" id="{010EEB2E-AD9B-413B-B6C3-EB5E83782000}"/>
              </a:ext>
            </a:extLst>
          </p:cNvPr>
          <p:cNvSpPr>
            <a:spLocks noGrp="1" noRot="1" noChangeAspect="1" noTextEdit="1"/>
          </p:cNvSpPr>
          <p:nvPr>
            <p:ph type="sldImg"/>
          </p:nvPr>
        </p:nvSpPr>
        <p:spPr bwMode="auto">
          <a:xfrm>
            <a:off x="1371600" y="1143000"/>
            <a:ext cx="4114800" cy="3086100"/>
          </a:xfrm>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a:extLst>
              <a:ext uri="{FF2B5EF4-FFF2-40B4-BE49-F238E27FC236}">
                <a16:creationId xmlns:a16="http://schemas.microsoft.com/office/drawing/2014/main" id="{94E90F94-B400-4281-83AE-CCE5888FF267}"/>
              </a:ext>
            </a:extLst>
          </p:cNvPr>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t>Good morning everyone. We are Arun Kumar and Abhishek Sharma from B.Tech CSE, Cyber Security, 5th semester, batch 2024. Our project for the MDC-CS-501 evaluation is called Linux Persistence Change Sentinel. In simple words, it is a small tool that watches important Linux configuration files and tells us when something has changed from a saved, trusted copy. We tested it safely on a mock Linux folder on Windows, and today we will explain the idea, the design, the results and the limits.</a:t>
            </a:r>
          </a:p>
        </p:txBody>
      </p:sp>
      <p:sp>
        <p:nvSpPr>
          <p:cNvPr id="24580" name="Slide Number Placeholder 3">
            <a:extLst>
              <a:ext uri="{FF2B5EF4-FFF2-40B4-BE49-F238E27FC236}">
                <a16:creationId xmlns:a16="http://schemas.microsoft.com/office/drawing/2014/main" id="{1627386B-90AB-4EC7-BBB6-8EBBD1B3E13B}"/>
              </a:ext>
            </a:extLst>
          </p:cNvPr>
          <p:cNvSpPr>
            <a:spLocks noGrp="1"/>
          </p:cNvSpPr>
          <p:nvPr>
            <p:ph type="sldNum" sz="quarter" idx="5"/>
          </p:nvPr>
        </p:nvSpPr>
        <p:spPr bwMode="auto">
          <a:ln>
            <a:miter lim="800000"/>
            <a:headEnd/>
            <a:tailEnd/>
          </a:ln>
        </p:spPr>
        <p:txBody>
          <a:bodyPr/>
          <a:lstStyle/>
          <a:p>
            <a:pPr>
              <a:defRPr/>
            </a:pPr>
            <a:fld id="{1D71760B-D2A6-42F8-B9C5-E0C097D11814}" type="slidenum">
              <a:rPr lang="en-US">
                <a:solidFill>
                  <a:prstClr val="black"/>
                </a:solidFill>
                <a:latin typeface="Calibri"/>
                <a:cs typeface="+mn-cs"/>
              </a:rPr>
              <a:pPr>
                <a:defRPr/>
              </a:pPr>
              <a:t>1</a:t>
            </a:fld>
            <a:endParaRPr lang="en-US">
              <a:solidFill>
                <a:prstClr val="black"/>
              </a:solidFill>
              <a:latin typeface="Calibri"/>
              <a:cs typeface="+mn-cs"/>
            </a:endParaRPr>
          </a:p>
        </p:txBody>
      </p:sp>
    </p:spTree>
    <p:extLst>
      <p:ext uri="{BB962C8B-B14F-4D97-AF65-F5344CB8AC3E}">
        <p14:creationId xmlns:p14="http://schemas.microsoft.com/office/powerpoint/2010/main" val="1389046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our agenda. We start with the background and the problem, then our objectives and the basic concepts. After that we show the solution, its architecture, the technologies and the step-by-step method. Then we demonstrate the three types of changes, show the dashboard, explain testing, and finish with limitations, future scope and the conclusion.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Persistence means an attacker keeps access to a system even after a reboot or logout. MITRE ATT&amp;CK lists this as tactic TA0003. On Linux, many settings are plain text files, for example /etc/crontab, which schedules jobs. One extra line there can run a program automatically. That is why these files matter. A baseline is a saved known-good snapshot. If we compare today's files with the baseline, we can see exactly what changed instead of searching by hand.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identified four problems. One: persistence is stealthy, because attackers hide inside normal-looking files like cron or SSH keys. Two: checking many system files by hand is slow and easy to get wrong. Three: a simple 'file changed' message is not enough, an analyst needs to see the exact lines. Four: full file-integrity products are heavy and complex, so a small readable prototype is better for learning. Our need is a simple tool that shows what changed, where, and how important it is.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set five objectives. First, create a baseline using SHA-256 hashes and metadata of 23 persistence locations. Second, detect changes by comparing a new scan with the baseline and classifying them as added, modified or deleted. Third, show a unified line diff so the analyst sees the exact lines. Fourth, give each finding a rule-based severity and a MITRE ATT&amp;CK tag. Fifth, build a local dashboard where an analyst can filter events and open the diff.</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shows the main persistence locations that Sentinel watches. Cron runs jobs on a schedule, sudoers controls admin rights, ld.so.preload loads a library into every program, systemd starts services at boot, authorized_keys allows SSH key login, and shell start-up files run commands at login. Each location has a MITRE ATT&amp;CK technique ID and a severity set by our rules. The example below is only illustrative: a cron line that would run a hidden script every day at 3 AM, even after a reboot. Important: the severity shows how sensitive the location is. It is not proof that someone attacked.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 we are clear about what Sentinel does and does not do. It scans 23 persistence locations, stores a SHA-256 baseline, detects added, modified and deleted items, shows line diffs, gives a rule-based severity with an ATT&amp;CK tag, and logs events for a dashboard. It does not monitor the kernel in real time, it cannot prove malicious intent or identify an attacker, it does not block or fix anything, and we have not verified it on a real Kali or production system. The key message: detecting a change is not the same as proving an attack.</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Our design has four layers. Layer one is the target: the mock_linux folder, which copies the structure of a Linux file system safely. Layer two is the core engine in Python: scanner.py reads files and hashes them, baseline.py saves the known-good snapshot, detector.py compares baseline and current state, and rules.py gives severity and ATT&amp;CK tags. Layer three is storage: baseline.json and events.json. Layer four is the interface: the manage.py command line and the web dashboard on localhost port 8080. Real operating-system files are never touched.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whole project uses only the Python 3 standard library, so there is nothing extra to install. hashlib creates SHA-256 fingerprints of files. difflib builds the unified line differences. http.server runs the local dashboard. json stores the baseline and the events. unittest runs our automated tests. The dashboard front end is plain HTML5, CSS3 and JavaScript. We run commands through manage.py in Windows PowerShell.</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five-step cycle. Step one, baseline: we hash and record the 23 locations. Step two, simulate: we make a safe change inside mock_linux. Step three, scan and compare: Sentinel scans again and compares the new hashes with the baseline. Step four, diff and severity: it classifies the change, builds a unified diff with difflib and adds the rule-based severity. Step five, dashboard: the event is saved and shown so the analyst can review it. Three key terms: a baseline is the known-good snapshot; a SHA-256 hash is a fingerprint of the file content, and if one character changes the fingerprint changes; the event log is events.json, which records every detected change.</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Sentinel reports three kinds of change. MODIFIED: we appended a harmless comment to the mock crontab. The SHA-256 hash no longer matched the baseline, so Sentinel reported MODIFIED with HIGH severity and technique T1053.003, together with a line diff. This one we demonstrated on the dashboard. ADDED: a file that is present now but was not in the baseline. DELETED: a file that is in the baseline but is now missing. These two are covered by our unit tests. Everything happens inside mock_linux, and the test comment is harmless. It is not a real attack.</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real screenshot from our dashboard, running locally on port 8080. At the top, the DEMO MODE banner says that only the mock_linux folder is monitored and real OS files are never touched. The four cards show monitoring status, the 23 monitored files, the number of detected changes and the high or critical alerts. The table shows our event: MODIFIED, severity HIGH, path /etc/crontab, tagged T1053.003. The View Diff button opens the line-by-line difference. In this capture the cards show a clean state while the log still lists the earlier modified event. Remember that HIGH reflects how sensitive cron is, not proof of malicious activity.</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 our earlier test run, all four unit tests passed in 0.049 seconds, with no false alarm on a clean scan. The tests check four situations: a clean scan produces no events, an added file is detected, a modified file is detected with its diff, and a deleted file is detected. We also demonstrated by hand: create the baseline, run a clean scan, modify the mock crontab, see the MODIFIED event on the dashboard, and use reset to return to a clean state. These are the reported results from our test runs on the mock tree. We do not claim any performance benchmark, and we have not tested on a live Linux system.</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Let us be honest about the limits. We tested only on a mock Linux folder on Windows, not on real Kali or production Linux, and the mock crontab is a sample file. Sentinel scans on demand, it is not real-time. Severity is rule-based and is not proof of attack. It does not respond automatically or identify attackers, and without whitelisting, normal admin changes will also be flagged. In future work we can test on a real Linux virtual machine, add real-time monitoring with inotify, eBPF or auditd, forward events to a SIEM with alerts, add whitelisting and approval of changes, and cover more persistence locations. These are future ideas, not current features.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 conclude: we built a working prototype that baselines 23 persistence locations with SHA-256, detects added, modified and deleted items, shows exact line diffs, and presents results on a local dashboard with rule-based severity and MITRE ATT&amp;CK tags. We kept the scope honest: Sentinel detects changes, it does not prove attacks, and it was validated on a mock tree. Thank you for listening. We are happy to answer your questions.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7BEFB50-DFDB-433B-8285-DB86B5D0C070}"/>
              </a:ext>
            </a:extLst>
          </p:cNvPr>
          <p:cNvSpPr/>
          <p:nvPr/>
        </p:nvSpPr>
        <p:spPr bwMode="white">
          <a:xfrm>
            <a:off x="0" y="5970588"/>
            <a:ext cx="9144000" cy="887412"/>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E630C425-27A5-40AA-961A-8CFDE17FA4DD}"/>
              </a:ext>
            </a:extLst>
          </p:cNvPr>
          <p:cNvSpPr/>
          <p:nvPr/>
        </p:nvSpPr>
        <p:spPr>
          <a:xfrm>
            <a:off x="-9525" y="6053139"/>
            <a:ext cx="2249091" cy="712787"/>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6C71B3EE-07D3-40CD-A5C9-E7B6A7D3EB55}"/>
              </a:ext>
            </a:extLst>
          </p:cNvPr>
          <p:cNvSpPr/>
          <p:nvPr/>
        </p:nvSpPr>
        <p:spPr>
          <a:xfrm>
            <a:off x="2358628" y="6043614"/>
            <a:ext cx="6785372" cy="714375"/>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Title 7"/>
          <p:cNvSpPr>
            <a:spLocks noGrp="1"/>
          </p:cNvSpPr>
          <p:nvPr>
            <p:ph type="ctrTitle"/>
          </p:nvPr>
        </p:nvSpPr>
        <p:spPr>
          <a:xfrm>
            <a:off x="2362200" y="4038600"/>
            <a:ext cx="6477000" cy="1828800"/>
          </a:xfrm>
        </p:spPr>
        <p:txBody>
          <a:bodyPr anchor="b"/>
          <a:lstStyle>
            <a:lvl1pPr>
              <a:defRPr cap="all" baseline="0"/>
            </a:lvl1pPr>
          </a:lstStyle>
          <a:p>
            <a:r>
              <a:rPr lang="en-US"/>
              <a:t>Click to edit Master title style</a:t>
            </a:r>
            <a:endParaRPr lang="en-US" dirty="0"/>
          </a:p>
        </p:txBody>
      </p:sp>
      <p:sp>
        <p:nvSpPr>
          <p:cNvPr id="9" name="Subtitle 8"/>
          <p:cNvSpPr>
            <a:spLocks noGrp="1"/>
          </p:cNvSpPr>
          <p:nvPr>
            <p:ph type="subTitle" idx="1"/>
          </p:nvPr>
        </p:nvSpPr>
        <p:spPr>
          <a:xfrm>
            <a:off x="2362200" y="6050037"/>
            <a:ext cx="6705600" cy="685800"/>
          </a:xfrm>
        </p:spPr>
        <p:txBody>
          <a:bodyPr anchor="ctr">
            <a:normAutofit/>
          </a:bodyPr>
          <a:lstStyle>
            <a:lvl1pPr marL="0" indent="0" algn="l">
              <a:buNone/>
              <a:defRPr sz="1950">
                <a:solidFill>
                  <a:srgbClr val="FFFFFF"/>
                </a:solidFill>
              </a:defRPr>
            </a:lvl1pPr>
            <a:lvl2pPr marL="342900" indent="0" algn="ctr">
              <a:buNone/>
            </a:lvl2pPr>
            <a:lvl3pPr marL="685800" indent="0" algn="ctr">
              <a:buNone/>
            </a:lvl3pPr>
            <a:lvl4pPr marL="1028700" indent="0" algn="ctr">
              <a:buNone/>
            </a:lvl4pPr>
            <a:lvl5pPr marL="1371600" indent="0" algn="ctr">
              <a:buNone/>
            </a:lvl5pPr>
            <a:lvl6pPr marL="1714500" indent="0" algn="ctr">
              <a:buNone/>
            </a:lvl6pPr>
            <a:lvl7pPr marL="2057400" indent="0" algn="ctr">
              <a:buNone/>
            </a:lvl7pPr>
            <a:lvl8pPr marL="2400300" indent="0" algn="ctr">
              <a:buNone/>
            </a:lvl8pPr>
            <a:lvl9pPr marL="2743200" indent="0" algn="ctr">
              <a:buNone/>
            </a:lvl9pPr>
          </a:lstStyle>
          <a:p>
            <a:r>
              <a:rPr lang="en-US"/>
              <a:t>Click to edit Master subtitle style</a:t>
            </a:r>
            <a:endParaRPr lang="en-US" dirty="0"/>
          </a:p>
        </p:txBody>
      </p:sp>
      <p:sp>
        <p:nvSpPr>
          <p:cNvPr id="7" name="Date Placeholder 27">
            <a:extLst>
              <a:ext uri="{FF2B5EF4-FFF2-40B4-BE49-F238E27FC236}">
                <a16:creationId xmlns:a16="http://schemas.microsoft.com/office/drawing/2014/main" id="{3733BC89-84AA-4433-89FB-B7A7E5D13F89}"/>
              </a:ext>
            </a:extLst>
          </p:cNvPr>
          <p:cNvSpPr>
            <a:spLocks noGrp="1"/>
          </p:cNvSpPr>
          <p:nvPr>
            <p:ph type="dt" sz="half" idx="10"/>
          </p:nvPr>
        </p:nvSpPr>
        <p:spPr>
          <a:xfrm>
            <a:off x="76200" y="6069013"/>
            <a:ext cx="2057400" cy="685800"/>
          </a:xfrm>
        </p:spPr>
        <p:txBody>
          <a:bodyPr>
            <a:noAutofit/>
          </a:bodyPr>
          <a:lstStyle>
            <a:lvl1pPr algn="ctr">
              <a:defRPr sz="1500">
                <a:solidFill>
                  <a:srgbClr val="FFFFFF"/>
                </a:solidFill>
              </a:defRPr>
            </a:lvl1pPr>
          </a:lstStyle>
          <a:p>
            <a:pPr>
              <a:defRPr/>
            </a:pPr>
            <a:fld id="{E9FDA555-E7D0-42F0-AC4C-4811C25EA4F9}" type="datetime8">
              <a:rPr lang="en-US" smtClean="0"/>
              <a:pPr>
                <a:defRPr/>
              </a:pPr>
              <a:t>10/21/2026 9:52 AM</a:t>
            </a:fld>
            <a:endParaRPr lang="en-US" dirty="0"/>
          </a:p>
        </p:txBody>
      </p:sp>
      <p:sp>
        <p:nvSpPr>
          <p:cNvPr id="10" name="Footer Placeholder 16">
            <a:extLst>
              <a:ext uri="{FF2B5EF4-FFF2-40B4-BE49-F238E27FC236}">
                <a16:creationId xmlns:a16="http://schemas.microsoft.com/office/drawing/2014/main" id="{52B60891-0B66-4CA7-88CB-DE5EC0A18DED}"/>
              </a:ext>
            </a:extLst>
          </p:cNvPr>
          <p:cNvSpPr>
            <a:spLocks noGrp="1"/>
          </p:cNvSpPr>
          <p:nvPr>
            <p:ph type="ftr" sz="quarter" idx="11"/>
          </p:nvPr>
        </p:nvSpPr>
        <p:spPr>
          <a:xfrm>
            <a:off x="2085975" y="236539"/>
            <a:ext cx="5867400" cy="365125"/>
          </a:xfrm>
        </p:spPr>
        <p:txBody>
          <a:bodyPr/>
          <a:lstStyle>
            <a:lvl1pPr algn="r">
              <a:defRPr>
                <a:solidFill>
                  <a:schemeClr val="tx2"/>
                </a:solidFill>
              </a:defRPr>
            </a:lvl1pPr>
          </a:lstStyle>
          <a:p>
            <a:pPr>
              <a:defRPr/>
            </a:pPr>
            <a:endParaRPr lang="en-US" dirty="0"/>
          </a:p>
        </p:txBody>
      </p:sp>
      <p:sp>
        <p:nvSpPr>
          <p:cNvPr id="11" name="Slide Number Placeholder 28">
            <a:extLst>
              <a:ext uri="{FF2B5EF4-FFF2-40B4-BE49-F238E27FC236}">
                <a16:creationId xmlns:a16="http://schemas.microsoft.com/office/drawing/2014/main" id="{CBE7F8AC-DBDA-417F-981D-F15B3426B9B3}"/>
              </a:ext>
            </a:extLst>
          </p:cNvPr>
          <p:cNvSpPr>
            <a:spLocks noGrp="1"/>
          </p:cNvSpPr>
          <p:nvPr>
            <p:ph type="sldNum" sz="quarter" idx="12"/>
          </p:nvPr>
        </p:nvSpPr>
        <p:spPr>
          <a:xfrm>
            <a:off x="8001000" y="228600"/>
            <a:ext cx="838200" cy="381000"/>
          </a:xfrm>
        </p:spPr>
        <p:txBody>
          <a:bodyPr/>
          <a:lstStyle>
            <a:lvl1pPr>
              <a:defRPr sz="1050">
                <a:solidFill>
                  <a:schemeClr val="tx2"/>
                </a:solidFill>
              </a:defRPr>
            </a:lvl1pPr>
          </a:lstStyle>
          <a:p>
            <a:pPr>
              <a:defRPr/>
            </a:pPr>
            <a:fld id="{98247BE2-61CD-463C-AD78-643FCA7B2A77}" type="slidenum">
              <a:rPr lang="en-US"/>
              <a:pPr>
                <a:defRPr/>
              </a:pPr>
              <a:t>‹#›</a:t>
            </a:fld>
            <a:endParaRPr lang="en-US" dirty="0"/>
          </a:p>
        </p:txBody>
      </p:sp>
    </p:spTree>
    <p:extLst>
      <p:ext uri="{BB962C8B-B14F-4D97-AF65-F5344CB8AC3E}">
        <p14:creationId xmlns:p14="http://schemas.microsoft.com/office/powerpoint/2010/main" val="2688426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12648" y="228600"/>
            <a:ext cx="8153400" cy="990600"/>
          </a:xfrm>
        </p:spPr>
        <p:txBody>
          <a:bodyPr/>
          <a:lstStyle/>
          <a:p>
            <a:r>
              <a:rPr lang="en-US"/>
              <a:t>Click to edit Master title style</a:t>
            </a:r>
            <a:endParaRPr lang="en-US" dirty="0"/>
          </a:p>
        </p:txBody>
      </p:sp>
      <p:sp>
        <p:nvSpPr>
          <p:cNvPr id="8" name="Content Placeholder 7"/>
          <p:cNvSpPr>
            <a:spLocks noGrp="1"/>
          </p:cNvSpPr>
          <p:nvPr>
            <p:ph sz="quarter" idx="1"/>
          </p:nvPr>
        </p:nvSpPr>
        <p:spPr>
          <a:xfrm>
            <a:off x="612648" y="1600200"/>
            <a:ext cx="8153400" cy="4495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37D23AF-71EC-4251-B17F-BDD25760D152}"/>
              </a:ext>
            </a:extLst>
          </p:cNvPr>
          <p:cNvSpPr>
            <a:spLocks noGrp="1"/>
          </p:cNvSpPr>
          <p:nvPr>
            <p:ph type="dt" sz="half" idx="10"/>
          </p:nvPr>
        </p:nvSpPr>
        <p:spPr/>
        <p:txBody>
          <a:bodyPr/>
          <a:lstStyle>
            <a:lvl1pPr>
              <a:defRPr dirty="0"/>
            </a:lvl1pPr>
          </a:lstStyle>
          <a:p>
            <a:pPr>
              <a:defRPr/>
            </a:pPr>
            <a:fld id="{A5EB19C7-A313-4953-8844-CFDFBDB67712}" type="datetime8">
              <a:rPr lang="en-US" smtClean="0"/>
              <a:pPr>
                <a:defRPr/>
              </a:pPr>
              <a:t>10/21/2026 9:52 AM</a:t>
            </a:fld>
            <a:endParaRPr lang="en-US" dirty="0"/>
          </a:p>
        </p:txBody>
      </p:sp>
      <p:sp>
        <p:nvSpPr>
          <p:cNvPr id="5" name="Footer Placeholder 4">
            <a:extLst>
              <a:ext uri="{FF2B5EF4-FFF2-40B4-BE49-F238E27FC236}">
                <a16:creationId xmlns:a16="http://schemas.microsoft.com/office/drawing/2014/main" id="{DB1A2D69-AA10-4583-9E8F-0A4D9446E68E}"/>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5">
            <a:extLst>
              <a:ext uri="{FF2B5EF4-FFF2-40B4-BE49-F238E27FC236}">
                <a16:creationId xmlns:a16="http://schemas.microsoft.com/office/drawing/2014/main" id="{2A6E2A9D-5CE7-4FA5-BC28-FB271F754EE7}"/>
              </a:ext>
            </a:extLst>
          </p:cNvPr>
          <p:cNvSpPr>
            <a:spLocks noGrp="1"/>
          </p:cNvSpPr>
          <p:nvPr>
            <p:ph type="sldNum" sz="quarter" idx="12"/>
          </p:nvPr>
        </p:nvSpPr>
        <p:spPr/>
        <p:txBody>
          <a:bodyPr/>
          <a:lstStyle>
            <a:lvl1pPr>
              <a:defRPr sz="1050">
                <a:solidFill>
                  <a:srgbClr val="FFFFFF"/>
                </a:solidFill>
              </a:defRPr>
            </a:lvl1pPr>
          </a:lstStyle>
          <a:p>
            <a:pPr>
              <a:defRPr/>
            </a:pPr>
            <a:fld id="{78BBDA1B-EB2C-49E2-A1CF-4342CA4EF36C}" type="slidenum">
              <a:rPr lang="en-US"/>
              <a:pPr>
                <a:defRPr/>
              </a:pPr>
              <a:t>‹#›</a:t>
            </a:fld>
            <a:endParaRPr lang="en-US" dirty="0"/>
          </a:p>
        </p:txBody>
      </p:sp>
    </p:spTree>
    <p:extLst>
      <p:ext uri="{BB962C8B-B14F-4D97-AF65-F5344CB8AC3E}">
        <p14:creationId xmlns:p14="http://schemas.microsoft.com/office/powerpoint/2010/main" val="1457230553"/>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9230AD3-0C7A-45F5-A43D-9C62B1FE456E}"/>
              </a:ext>
            </a:extLst>
          </p:cNvPr>
          <p:cNvSpPr/>
          <p:nvPr/>
        </p:nvSpPr>
        <p:spPr bwMode="white">
          <a:xfrm>
            <a:off x="0" y="1524000"/>
            <a:ext cx="9144000" cy="1143000"/>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4757C25B-6FC9-4FB2-9E6E-4912144234FE}"/>
              </a:ext>
            </a:extLst>
          </p:cNvPr>
          <p:cNvSpPr/>
          <p:nvPr/>
        </p:nvSpPr>
        <p:spPr>
          <a:xfrm>
            <a:off x="0" y="1600200"/>
            <a:ext cx="1295400" cy="990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DEC32344-6E1C-4BEB-B4E3-5CFAA72A62DD}"/>
              </a:ext>
            </a:extLst>
          </p:cNvPr>
          <p:cNvSpPr/>
          <p:nvPr/>
        </p:nvSpPr>
        <p:spPr>
          <a:xfrm>
            <a:off x="1371600" y="1600200"/>
            <a:ext cx="7772400" cy="990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Text Placeholder 2"/>
          <p:cNvSpPr>
            <a:spLocks noGrp="1"/>
          </p:cNvSpPr>
          <p:nvPr>
            <p:ph type="body" idx="1"/>
          </p:nvPr>
        </p:nvSpPr>
        <p:spPr>
          <a:xfrm>
            <a:off x="1371601" y="2743200"/>
            <a:ext cx="7123113" cy="1673225"/>
          </a:xfrm>
        </p:spPr>
        <p:txBody>
          <a:bodyPr/>
          <a:lstStyle>
            <a:lvl1pPr>
              <a:buNone/>
              <a:defRPr sz="2100">
                <a:solidFill>
                  <a:schemeClr val="tx2"/>
                </a:solidFill>
              </a:defRPr>
            </a:lvl1pPr>
            <a:lvl2pPr>
              <a:buNone/>
              <a:defRPr sz="1350">
                <a:solidFill>
                  <a:schemeClr val="tx1">
                    <a:tint val="75000"/>
                  </a:schemeClr>
                </a:solidFill>
              </a:defRPr>
            </a:lvl2pPr>
            <a:lvl3pPr>
              <a:buNone/>
              <a:defRPr sz="1200">
                <a:solidFill>
                  <a:schemeClr val="tx1">
                    <a:tint val="75000"/>
                  </a:schemeClr>
                </a:solidFill>
              </a:defRPr>
            </a:lvl3pPr>
            <a:lvl4pPr>
              <a:buNone/>
              <a:defRPr sz="1050">
                <a:solidFill>
                  <a:schemeClr val="tx1">
                    <a:tint val="75000"/>
                  </a:schemeClr>
                </a:solidFill>
              </a:defRPr>
            </a:lvl4pPr>
            <a:lvl5pPr>
              <a:buNone/>
              <a:defRPr sz="1050">
                <a:solidFill>
                  <a:schemeClr val="tx1">
                    <a:tint val="75000"/>
                  </a:schemeClr>
                </a:solidFill>
              </a:defRPr>
            </a:lvl5pPr>
          </a:lstStyle>
          <a:p>
            <a:pPr lvl="0"/>
            <a:r>
              <a:rPr lang="en-US"/>
              <a:t>Click to edit Master text styles</a:t>
            </a:r>
          </a:p>
        </p:txBody>
      </p:sp>
      <p:sp>
        <p:nvSpPr>
          <p:cNvPr id="2" name="Title 1"/>
          <p:cNvSpPr>
            <a:spLocks noGrp="1"/>
          </p:cNvSpPr>
          <p:nvPr>
            <p:ph type="title"/>
          </p:nvPr>
        </p:nvSpPr>
        <p:spPr>
          <a:xfrm>
            <a:off x="1371600" y="1600200"/>
            <a:ext cx="7620000" cy="990600"/>
          </a:xfrm>
        </p:spPr>
        <p:txBody>
          <a:bodyPr/>
          <a:lstStyle>
            <a:lvl1pPr algn="l">
              <a:buNone/>
              <a:defRPr sz="3300" b="0" cap="none">
                <a:solidFill>
                  <a:srgbClr val="FFFFFF"/>
                </a:solidFill>
              </a:defRPr>
            </a:lvl1pPr>
          </a:lstStyle>
          <a:p>
            <a:r>
              <a:rPr lang="en-US"/>
              <a:t>Click to edit Master title style</a:t>
            </a:r>
            <a:endParaRPr lang="en-US" dirty="0"/>
          </a:p>
        </p:txBody>
      </p:sp>
      <p:sp>
        <p:nvSpPr>
          <p:cNvPr id="7" name="Date Placeholder 11">
            <a:extLst>
              <a:ext uri="{FF2B5EF4-FFF2-40B4-BE49-F238E27FC236}">
                <a16:creationId xmlns:a16="http://schemas.microsoft.com/office/drawing/2014/main" id="{4E06E9CF-DCA0-4469-9588-146DDA3B615C}"/>
              </a:ext>
            </a:extLst>
          </p:cNvPr>
          <p:cNvSpPr>
            <a:spLocks noGrp="1"/>
          </p:cNvSpPr>
          <p:nvPr>
            <p:ph type="dt" sz="half" idx="10"/>
          </p:nvPr>
        </p:nvSpPr>
        <p:spPr/>
        <p:txBody>
          <a:bodyPr/>
          <a:lstStyle>
            <a:lvl1pPr>
              <a:defRPr/>
            </a:lvl1pPr>
          </a:lstStyle>
          <a:p>
            <a:pPr>
              <a:defRPr/>
            </a:pPr>
            <a:fld id="{97650DA2-C70C-4FFB-9E2D-CA69753C4E81}" type="datetime8">
              <a:rPr lang="en-US" smtClean="0"/>
              <a:pPr>
                <a:defRPr/>
              </a:pPr>
              <a:t>10/21/2026 9:52 AM</a:t>
            </a:fld>
            <a:endParaRPr lang="en-US" dirty="0"/>
          </a:p>
        </p:txBody>
      </p:sp>
      <p:sp>
        <p:nvSpPr>
          <p:cNvPr id="8" name="Slide Number Placeholder 12">
            <a:extLst>
              <a:ext uri="{FF2B5EF4-FFF2-40B4-BE49-F238E27FC236}">
                <a16:creationId xmlns:a16="http://schemas.microsoft.com/office/drawing/2014/main" id="{024E1A5F-0041-47BD-AB34-3894313F5A86}"/>
              </a:ext>
            </a:extLst>
          </p:cNvPr>
          <p:cNvSpPr>
            <a:spLocks noGrp="1"/>
          </p:cNvSpPr>
          <p:nvPr>
            <p:ph type="sldNum" sz="quarter" idx="11"/>
          </p:nvPr>
        </p:nvSpPr>
        <p:spPr>
          <a:xfrm>
            <a:off x="0" y="1752601"/>
            <a:ext cx="1295400" cy="701675"/>
          </a:xfrm>
        </p:spPr>
        <p:txBody>
          <a:bodyPr>
            <a:noAutofit/>
          </a:bodyPr>
          <a:lstStyle>
            <a:lvl1pPr>
              <a:defRPr sz="1800">
                <a:solidFill>
                  <a:srgbClr val="FFFFFF"/>
                </a:solidFill>
              </a:defRPr>
            </a:lvl1pPr>
          </a:lstStyle>
          <a:p>
            <a:pPr>
              <a:defRPr/>
            </a:pPr>
            <a:fld id="{666A1CEC-9DD6-4F71-8FF7-224B44B36D75}" type="slidenum">
              <a:rPr lang="en-US"/>
              <a:pPr>
                <a:defRPr/>
              </a:pPr>
              <a:t>‹#›</a:t>
            </a:fld>
            <a:endParaRPr lang="en-US" dirty="0"/>
          </a:p>
        </p:txBody>
      </p:sp>
      <p:sp>
        <p:nvSpPr>
          <p:cNvPr id="9" name="Footer Placeholder 13">
            <a:extLst>
              <a:ext uri="{FF2B5EF4-FFF2-40B4-BE49-F238E27FC236}">
                <a16:creationId xmlns:a16="http://schemas.microsoft.com/office/drawing/2014/main" id="{3F02C43B-73CC-4732-8E2B-39CB4F86C03C}"/>
              </a:ext>
            </a:extLst>
          </p:cNvPr>
          <p:cNvSpPr>
            <a:spLocks noGrp="1"/>
          </p:cNvSpPr>
          <p:nvPr>
            <p:ph type="ftr" sz="quarter" idx="12"/>
          </p:nvPr>
        </p:nvSpPr>
        <p:spPr/>
        <p:txBody>
          <a:bodyPr/>
          <a:lstStyle>
            <a:lvl1pPr>
              <a:defRPr/>
            </a:lvl1pPr>
          </a:lstStyle>
          <a:p>
            <a:pPr>
              <a:defRPr/>
            </a:pPr>
            <a:endParaRPr lang="en-US" dirty="0"/>
          </a:p>
        </p:txBody>
      </p:sp>
    </p:spTree>
    <p:extLst>
      <p:ext uri="{BB962C8B-B14F-4D97-AF65-F5344CB8AC3E}">
        <p14:creationId xmlns:p14="http://schemas.microsoft.com/office/powerpoint/2010/main" val="4140937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Content Placeholder 8"/>
          <p:cNvSpPr>
            <a:spLocks noGrp="1"/>
          </p:cNvSpPr>
          <p:nvPr>
            <p:ph sz="quarter" idx="1"/>
          </p:nvPr>
        </p:nvSpPr>
        <p:spPr>
          <a:xfrm>
            <a:off x="609600"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Content Placeholder 10"/>
          <p:cNvSpPr>
            <a:spLocks noGrp="1"/>
          </p:cNvSpPr>
          <p:nvPr>
            <p:ph sz="quarter" idx="2"/>
          </p:nvPr>
        </p:nvSpPr>
        <p:spPr>
          <a:xfrm>
            <a:off x="4844901" y="1589567"/>
            <a:ext cx="3886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7">
            <a:extLst>
              <a:ext uri="{FF2B5EF4-FFF2-40B4-BE49-F238E27FC236}">
                <a16:creationId xmlns:a16="http://schemas.microsoft.com/office/drawing/2014/main" id="{38A05C4A-FA42-4D8C-B6A5-0F623E6EB9A2}"/>
              </a:ext>
            </a:extLst>
          </p:cNvPr>
          <p:cNvSpPr>
            <a:spLocks noGrp="1"/>
          </p:cNvSpPr>
          <p:nvPr>
            <p:ph type="dt" sz="half" idx="10"/>
          </p:nvPr>
        </p:nvSpPr>
        <p:spPr/>
        <p:txBody>
          <a:bodyPr rtlCol="0"/>
          <a:lstStyle>
            <a:lvl1pPr>
              <a:defRPr/>
            </a:lvl1pPr>
          </a:lstStyle>
          <a:p>
            <a:pPr>
              <a:defRPr/>
            </a:pPr>
            <a:fld id="{02A22236-1168-4432-ABC0-6C926F115FB2}" type="datetime8">
              <a:rPr lang="en-US" smtClean="0"/>
              <a:pPr>
                <a:defRPr/>
              </a:pPr>
              <a:t>10/21/2026 9:52 AM</a:t>
            </a:fld>
            <a:endParaRPr lang="en-US" dirty="0"/>
          </a:p>
        </p:txBody>
      </p:sp>
      <p:sp>
        <p:nvSpPr>
          <p:cNvPr id="6" name="Slide Number Placeholder 9">
            <a:extLst>
              <a:ext uri="{FF2B5EF4-FFF2-40B4-BE49-F238E27FC236}">
                <a16:creationId xmlns:a16="http://schemas.microsoft.com/office/drawing/2014/main" id="{675BC25A-D772-4BAD-82C5-8DE60CDA0412}"/>
              </a:ext>
            </a:extLst>
          </p:cNvPr>
          <p:cNvSpPr>
            <a:spLocks noGrp="1"/>
          </p:cNvSpPr>
          <p:nvPr>
            <p:ph type="sldNum" sz="quarter" idx="11"/>
          </p:nvPr>
        </p:nvSpPr>
        <p:spPr/>
        <p:txBody>
          <a:bodyPr rtlCol="0"/>
          <a:lstStyle>
            <a:lvl1pPr>
              <a:defRPr sz="1050">
                <a:solidFill>
                  <a:srgbClr val="FFFFFF"/>
                </a:solidFill>
              </a:defRPr>
            </a:lvl1pPr>
          </a:lstStyle>
          <a:p>
            <a:pPr>
              <a:defRPr/>
            </a:pPr>
            <a:fld id="{7D9237E2-D6D8-4F93-B4E7-7A3A919C426E}" type="slidenum">
              <a:rPr lang="en-US"/>
              <a:pPr>
                <a:defRPr/>
              </a:pPr>
              <a:t>‹#›</a:t>
            </a:fld>
            <a:endParaRPr lang="en-US" dirty="0"/>
          </a:p>
        </p:txBody>
      </p:sp>
      <p:sp>
        <p:nvSpPr>
          <p:cNvPr id="7" name="Footer Placeholder 11">
            <a:extLst>
              <a:ext uri="{FF2B5EF4-FFF2-40B4-BE49-F238E27FC236}">
                <a16:creationId xmlns:a16="http://schemas.microsoft.com/office/drawing/2014/main" id="{A359C2BF-21AF-4D80-AF5B-B2C0FCB01489}"/>
              </a:ext>
            </a:extLst>
          </p:cNvPr>
          <p:cNvSpPr>
            <a:spLocks noGrp="1"/>
          </p:cNvSpPr>
          <p:nvPr>
            <p:ph type="ftr" sz="quarter" idx="12"/>
          </p:nvPr>
        </p:nvSpPr>
        <p:spPr/>
        <p:txBody>
          <a:bodyPr rtlCol="0"/>
          <a:lstStyle>
            <a:lvl1pPr>
              <a:defRPr/>
            </a:lvl1pPr>
          </a:lstStyle>
          <a:p>
            <a:pPr>
              <a:defRPr/>
            </a:pPr>
            <a:endParaRPr lang="en-US" dirty="0"/>
          </a:p>
        </p:txBody>
      </p:sp>
    </p:spTree>
    <p:extLst>
      <p:ext uri="{BB962C8B-B14F-4D97-AF65-F5344CB8AC3E}">
        <p14:creationId xmlns:p14="http://schemas.microsoft.com/office/powerpoint/2010/main" val="2773246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3400" y="273050"/>
            <a:ext cx="8153400" cy="869950"/>
          </a:xfrm>
        </p:spPr>
        <p:txBody>
          <a:bodyPr/>
          <a:lstStyle>
            <a:lvl1pPr>
              <a:defRPr/>
            </a:lvl1pPr>
          </a:lstStyle>
          <a:p>
            <a:r>
              <a:rPr lang="en-US"/>
              <a:t>Click to edit Master title style</a:t>
            </a:r>
            <a:endParaRPr lang="en-US" dirty="0"/>
          </a:p>
        </p:txBody>
      </p:sp>
      <p:sp>
        <p:nvSpPr>
          <p:cNvPr id="11" name="Content Placeholder 10"/>
          <p:cNvSpPr>
            <a:spLocks noGrp="1"/>
          </p:cNvSpPr>
          <p:nvPr>
            <p:ph sz="quarter" idx="2"/>
          </p:nvPr>
        </p:nvSpPr>
        <p:spPr>
          <a:xfrm>
            <a:off x="609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12"/>
          <p:cNvSpPr>
            <a:spLocks noGrp="1"/>
          </p:cNvSpPr>
          <p:nvPr>
            <p:ph sz="quarter" idx="4"/>
          </p:nvPr>
        </p:nvSpPr>
        <p:spPr>
          <a:xfrm>
            <a:off x="4800600" y="2438400"/>
            <a:ext cx="3886200" cy="3581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Text Placeholder 15"/>
          <p:cNvSpPr>
            <a:spLocks noGrp="1"/>
          </p:cNvSpPr>
          <p:nvPr>
            <p:ph type="body" sz="quarter" idx="1"/>
          </p:nvPr>
        </p:nvSpPr>
        <p:spPr>
          <a:xfrm>
            <a:off x="609600" y="1752600"/>
            <a:ext cx="3886200" cy="640080"/>
          </a:xfrm>
          <a:solidFill>
            <a:schemeClr val="accent2"/>
          </a:solidFill>
        </p:spPr>
        <p:txBody>
          <a:bodyPr rtlCol="0" anchor="ctr"/>
          <a:lstStyle>
            <a:lvl1pPr marL="0" indent="0">
              <a:buFontTx/>
              <a:buNone/>
              <a:defRPr sz="1500" b="1">
                <a:solidFill>
                  <a:srgbClr val="FFFFFF"/>
                </a:solidFill>
              </a:defRPr>
            </a:lvl1pPr>
          </a:lstStyle>
          <a:p>
            <a:pPr lvl="0"/>
            <a:r>
              <a:rPr lang="en-US"/>
              <a:t>Click to edit Master text styles</a:t>
            </a:r>
          </a:p>
        </p:txBody>
      </p:sp>
      <p:sp>
        <p:nvSpPr>
          <p:cNvPr id="15" name="Text Placeholder 14"/>
          <p:cNvSpPr>
            <a:spLocks noGrp="1"/>
          </p:cNvSpPr>
          <p:nvPr>
            <p:ph type="body" sz="quarter" idx="3"/>
          </p:nvPr>
        </p:nvSpPr>
        <p:spPr>
          <a:xfrm>
            <a:off x="4800600" y="1752600"/>
            <a:ext cx="3886200" cy="640080"/>
          </a:xfrm>
          <a:solidFill>
            <a:schemeClr val="accent4"/>
          </a:solidFill>
        </p:spPr>
        <p:txBody>
          <a:bodyPr rtlCol="0" anchor="ctr"/>
          <a:lstStyle>
            <a:lvl1pPr marL="0" indent="0">
              <a:buFontTx/>
              <a:buNone/>
              <a:defRPr sz="1500" b="1">
                <a:solidFill>
                  <a:srgbClr val="FFFFFF"/>
                </a:solidFill>
              </a:defRPr>
            </a:lvl1pPr>
          </a:lstStyle>
          <a:p>
            <a:pPr lvl="0"/>
            <a:r>
              <a:rPr lang="en-US"/>
              <a:t>Click to edit Master text styles</a:t>
            </a:r>
          </a:p>
        </p:txBody>
      </p:sp>
      <p:sp>
        <p:nvSpPr>
          <p:cNvPr id="7" name="Date Placeholder 9">
            <a:extLst>
              <a:ext uri="{FF2B5EF4-FFF2-40B4-BE49-F238E27FC236}">
                <a16:creationId xmlns:a16="http://schemas.microsoft.com/office/drawing/2014/main" id="{31028AF4-9E92-4B7F-8FF5-70E8FC8CFC8C}"/>
              </a:ext>
            </a:extLst>
          </p:cNvPr>
          <p:cNvSpPr>
            <a:spLocks noGrp="1"/>
          </p:cNvSpPr>
          <p:nvPr>
            <p:ph type="dt" sz="half" idx="10"/>
          </p:nvPr>
        </p:nvSpPr>
        <p:spPr/>
        <p:txBody>
          <a:bodyPr rtlCol="0"/>
          <a:lstStyle>
            <a:lvl1pPr>
              <a:defRPr dirty="0"/>
            </a:lvl1pPr>
          </a:lstStyle>
          <a:p>
            <a:pPr>
              <a:defRPr/>
            </a:pPr>
            <a:fld id="{3D2B433E-0492-43EF-A4EE-44302D691569}" type="datetime8">
              <a:rPr lang="en-US" smtClean="0"/>
              <a:pPr>
                <a:defRPr/>
              </a:pPr>
              <a:t>10/21/2026 9:52 AM</a:t>
            </a:fld>
            <a:endParaRPr lang="en-US" dirty="0"/>
          </a:p>
        </p:txBody>
      </p:sp>
      <p:sp>
        <p:nvSpPr>
          <p:cNvPr id="8" name="Slide Number Placeholder 11">
            <a:extLst>
              <a:ext uri="{FF2B5EF4-FFF2-40B4-BE49-F238E27FC236}">
                <a16:creationId xmlns:a16="http://schemas.microsoft.com/office/drawing/2014/main" id="{E1D98D76-29B8-4104-9B56-41E0C2B6C0CA}"/>
              </a:ext>
            </a:extLst>
          </p:cNvPr>
          <p:cNvSpPr>
            <a:spLocks noGrp="1"/>
          </p:cNvSpPr>
          <p:nvPr>
            <p:ph type="sldNum" sz="quarter" idx="11"/>
          </p:nvPr>
        </p:nvSpPr>
        <p:spPr/>
        <p:txBody>
          <a:bodyPr rtlCol="0"/>
          <a:lstStyle>
            <a:lvl1pPr>
              <a:defRPr sz="1050">
                <a:solidFill>
                  <a:srgbClr val="FFFFFF"/>
                </a:solidFill>
              </a:defRPr>
            </a:lvl1pPr>
          </a:lstStyle>
          <a:p>
            <a:pPr>
              <a:defRPr/>
            </a:pPr>
            <a:fld id="{04194F72-16B3-45E5-89BA-A531D9C6F909}" type="slidenum">
              <a:rPr lang="en-US"/>
              <a:pPr>
                <a:defRPr/>
              </a:pPr>
              <a:t>‹#›</a:t>
            </a:fld>
            <a:endParaRPr lang="en-US" dirty="0"/>
          </a:p>
        </p:txBody>
      </p:sp>
      <p:sp>
        <p:nvSpPr>
          <p:cNvPr id="9" name="Footer Placeholder 13">
            <a:extLst>
              <a:ext uri="{FF2B5EF4-FFF2-40B4-BE49-F238E27FC236}">
                <a16:creationId xmlns:a16="http://schemas.microsoft.com/office/drawing/2014/main" id="{9ABC4DA1-E98C-46DB-8CFC-528377A9ECFC}"/>
              </a:ext>
            </a:extLst>
          </p:cNvPr>
          <p:cNvSpPr>
            <a:spLocks noGrp="1"/>
          </p:cNvSpPr>
          <p:nvPr>
            <p:ph type="ftr" sz="quarter" idx="12"/>
          </p:nvPr>
        </p:nvSpPr>
        <p:spPr/>
        <p:txBody>
          <a:bodyPr rtlCol="0"/>
          <a:lstStyle>
            <a:lvl1pPr>
              <a:defRPr/>
            </a:lvl1pPr>
          </a:lstStyle>
          <a:p>
            <a:pPr>
              <a:defRPr/>
            </a:pPr>
            <a:endParaRPr lang="en-US" dirty="0"/>
          </a:p>
        </p:txBody>
      </p:sp>
    </p:spTree>
    <p:extLst>
      <p:ext uri="{BB962C8B-B14F-4D97-AF65-F5344CB8AC3E}">
        <p14:creationId xmlns:p14="http://schemas.microsoft.com/office/powerpoint/2010/main" val="33687260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9D27DB-781C-4E9A-BD52-304D332D393A}"/>
              </a:ext>
            </a:extLst>
          </p:cNvPr>
          <p:cNvSpPr>
            <a:spLocks noGrp="1"/>
          </p:cNvSpPr>
          <p:nvPr>
            <p:ph type="dt" sz="half" idx="10"/>
          </p:nvPr>
        </p:nvSpPr>
        <p:spPr/>
        <p:txBody>
          <a:bodyPr/>
          <a:lstStyle>
            <a:lvl1pPr>
              <a:defRPr dirty="0"/>
            </a:lvl1pPr>
          </a:lstStyle>
          <a:p>
            <a:pPr>
              <a:defRPr/>
            </a:pPr>
            <a:fld id="{E7950DC9-D196-45CC-BA9F-D6D5EE325BD5}" type="datetime8">
              <a:rPr lang="en-US" smtClean="0"/>
              <a:pPr>
                <a:defRPr/>
              </a:pPr>
              <a:t>10/21/2026 9:52 AM</a:t>
            </a:fld>
            <a:endParaRPr lang="en-US" dirty="0"/>
          </a:p>
        </p:txBody>
      </p:sp>
      <p:sp>
        <p:nvSpPr>
          <p:cNvPr id="4" name="Footer Placeholder 3">
            <a:extLst>
              <a:ext uri="{FF2B5EF4-FFF2-40B4-BE49-F238E27FC236}">
                <a16:creationId xmlns:a16="http://schemas.microsoft.com/office/drawing/2014/main" id="{A8486506-D8E7-4646-B7C2-4FD747079745}"/>
              </a:ext>
            </a:extLst>
          </p:cNvPr>
          <p:cNvSpPr>
            <a:spLocks noGrp="1"/>
          </p:cNvSpPr>
          <p:nvPr>
            <p:ph type="ftr" sz="quarter" idx="11"/>
          </p:nvPr>
        </p:nvSpPr>
        <p:spPr/>
        <p:txBody>
          <a:bodyPr/>
          <a:lstStyle>
            <a:lvl1pPr>
              <a:defRPr/>
            </a:lvl1pPr>
          </a:lstStyle>
          <a:p>
            <a:pPr>
              <a:defRPr/>
            </a:pPr>
            <a:endParaRPr lang="en-US" dirty="0"/>
          </a:p>
        </p:txBody>
      </p:sp>
      <p:sp>
        <p:nvSpPr>
          <p:cNvPr id="5" name="Slide Number Placeholder 4">
            <a:extLst>
              <a:ext uri="{FF2B5EF4-FFF2-40B4-BE49-F238E27FC236}">
                <a16:creationId xmlns:a16="http://schemas.microsoft.com/office/drawing/2014/main" id="{76153B6E-7646-4B77-8451-44B7A82A0510}"/>
              </a:ext>
            </a:extLst>
          </p:cNvPr>
          <p:cNvSpPr>
            <a:spLocks noGrp="1"/>
          </p:cNvSpPr>
          <p:nvPr>
            <p:ph type="sldNum" sz="quarter" idx="12"/>
          </p:nvPr>
        </p:nvSpPr>
        <p:spPr/>
        <p:txBody>
          <a:bodyPr/>
          <a:lstStyle>
            <a:lvl1pPr>
              <a:defRPr sz="1050">
                <a:solidFill>
                  <a:srgbClr val="FFFFFF"/>
                </a:solidFill>
              </a:defRPr>
            </a:lvl1pPr>
          </a:lstStyle>
          <a:p>
            <a:pPr>
              <a:defRPr/>
            </a:pPr>
            <a:fld id="{0D1442FA-41D6-4256-AB11-698261B17F2A}" type="slidenum">
              <a:rPr lang="en-US"/>
              <a:pPr>
                <a:defRPr/>
              </a:pPr>
              <a:t>‹#›</a:t>
            </a:fld>
            <a:endParaRPr lang="en-US" dirty="0"/>
          </a:p>
        </p:txBody>
      </p:sp>
    </p:spTree>
    <p:extLst>
      <p:ext uri="{BB962C8B-B14F-4D97-AF65-F5344CB8AC3E}">
        <p14:creationId xmlns:p14="http://schemas.microsoft.com/office/powerpoint/2010/main" val="172329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D99147-29DF-4A7C-8453-281A248DF253}"/>
              </a:ext>
            </a:extLst>
          </p:cNvPr>
          <p:cNvSpPr>
            <a:spLocks noGrp="1"/>
          </p:cNvSpPr>
          <p:nvPr>
            <p:ph type="dt" sz="half" idx="10"/>
          </p:nvPr>
        </p:nvSpPr>
        <p:spPr/>
        <p:txBody>
          <a:bodyPr/>
          <a:lstStyle>
            <a:lvl1pPr>
              <a:defRPr/>
            </a:lvl1pPr>
          </a:lstStyle>
          <a:p>
            <a:pPr>
              <a:defRPr/>
            </a:pPr>
            <a:fld id="{9AE3B4A3-0DFD-4DB7-87BB-BDD024516FD0}" type="datetime8">
              <a:rPr lang="en-US" smtClean="0"/>
              <a:pPr>
                <a:defRPr/>
              </a:pPr>
              <a:t>10/21/2026 9:52 AM</a:t>
            </a:fld>
            <a:endParaRPr lang="en-US" dirty="0"/>
          </a:p>
        </p:txBody>
      </p:sp>
      <p:sp>
        <p:nvSpPr>
          <p:cNvPr id="3" name="Footer Placeholder 2">
            <a:extLst>
              <a:ext uri="{FF2B5EF4-FFF2-40B4-BE49-F238E27FC236}">
                <a16:creationId xmlns:a16="http://schemas.microsoft.com/office/drawing/2014/main" id="{EC537661-D16B-47AD-A3C6-F4279F63C180}"/>
              </a:ext>
            </a:extLst>
          </p:cNvPr>
          <p:cNvSpPr>
            <a:spLocks noGrp="1"/>
          </p:cNvSpPr>
          <p:nvPr>
            <p:ph type="ftr" sz="quarter" idx="11"/>
          </p:nvPr>
        </p:nvSpPr>
        <p:spPr/>
        <p:txBody>
          <a:bodyPr/>
          <a:lstStyle>
            <a:lvl1pPr>
              <a:defRPr/>
            </a:lvl1pPr>
          </a:lstStyle>
          <a:p>
            <a:pPr>
              <a:defRPr/>
            </a:pPr>
            <a:endParaRPr lang="en-US" dirty="0"/>
          </a:p>
        </p:txBody>
      </p:sp>
      <p:sp>
        <p:nvSpPr>
          <p:cNvPr id="4" name="Slide Number Placeholder 3">
            <a:extLst>
              <a:ext uri="{FF2B5EF4-FFF2-40B4-BE49-F238E27FC236}">
                <a16:creationId xmlns:a16="http://schemas.microsoft.com/office/drawing/2014/main" id="{3E1F0016-F045-4EFE-9DBB-8B83615EE105}"/>
              </a:ext>
            </a:extLst>
          </p:cNvPr>
          <p:cNvSpPr>
            <a:spLocks noGrp="1"/>
          </p:cNvSpPr>
          <p:nvPr>
            <p:ph type="sldNum" sz="quarter" idx="12"/>
          </p:nvPr>
        </p:nvSpPr>
        <p:spPr>
          <a:xfrm>
            <a:off x="0" y="6248400"/>
            <a:ext cx="533400" cy="381000"/>
          </a:xfrm>
        </p:spPr>
        <p:txBody>
          <a:bodyPr/>
          <a:lstStyle>
            <a:lvl1pPr>
              <a:defRPr sz="1050">
                <a:solidFill>
                  <a:schemeClr val="tx2"/>
                </a:solidFill>
              </a:defRPr>
            </a:lvl1pPr>
          </a:lstStyle>
          <a:p>
            <a:pPr>
              <a:defRPr/>
            </a:pPr>
            <a:fld id="{FA9458CC-7BDB-4AF7-84A8-156B462129CE}" type="slidenum">
              <a:rPr lang="en-US"/>
              <a:pPr>
                <a:defRPr/>
              </a:pPr>
              <a:t>‹#›</a:t>
            </a:fld>
            <a:endParaRPr lang="en-US" dirty="0"/>
          </a:p>
        </p:txBody>
      </p:sp>
    </p:spTree>
    <p:extLst>
      <p:ext uri="{BB962C8B-B14F-4D97-AF65-F5344CB8AC3E}">
        <p14:creationId xmlns:p14="http://schemas.microsoft.com/office/powerpoint/2010/main" val="1808878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pic>
        <p:nvPicPr>
          <p:cNvPr id="4" name="Picture 9" descr="sm_globe.png">
            <a:extLst>
              <a:ext uri="{FF2B5EF4-FFF2-40B4-BE49-F238E27FC236}">
                <a16:creationId xmlns:a16="http://schemas.microsoft.com/office/drawing/2014/main" id="{09D0E091-9432-4B8A-83A8-FAA0571AE4C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613172" y="1755775"/>
            <a:ext cx="1614488" cy="1689100"/>
          </a:xfrm>
          <a:prstGeom prst="rect">
            <a:avLst/>
          </a:prstGeom>
          <a:noFill/>
          <a:ln w="50800" cap="sq" cmpd="dbl">
            <a:solidFill>
              <a:schemeClr val="accent2"/>
            </a:solidFill>
            <a:miter lim="800000"/>
            <a:headEnd/>
            <a:tailEnd/>
          </a:ln>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609600" y="273050"/>
            <a:ext cx="8077200" cy="869950"/>
          </a:xfrm>
        </p:spPr>
        <p:txBody>
          <a:bodyPr/>
          <a:lstStyle>
            <a:lvl1pPr algn="l">
              <a:buNone/>
              <a:defRPr sz="3300" b="0"/>
            </a:lvl1pPr>
          </a:lstStyle>
          <a:p>
            <a:r>
              <a:rPr lang="en-US"/>
              <a:t>Click to edit Master title style</a:t>
            </a:r>
            <a:endParaRPr lang="en-US" dirty="0"/>
          </a:p>
        </p:txBody>
      </p:sp>
      <p:sp>
        <p:nvSpPr>
          <p:cNvPr id="9" name="Content Placeholder 8"/>
          <p:cNvSpPr>
            <a:spLocks noGrp="1"/>
          </p:cNvSpPr>
          <p:nvPr>
            <p:ph sz="quarter" idx="1"/>
          </p:nvPr>
        </p:nvSpPr>
        <p:spPr>
          <a:xfrm>
            <a:off x="2362200" y="1752600"/>
            <a:ext cx="6400800" cy="44196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1CA5AAB-E0EE-42C4-9DC4-6495C8701DF4}"/>
              </a:ext>
            </a:extLst>
          </p:cNvPr>
          <p:cNvSpPr>
            <a:spLocks noGrp="1"/>
          </p:cNvSpPr>
          <p:nvPr>
            <p:ph type="dt" sz="half" idx="10"/>
          </p:nvPr>
        </p:nvSpPr>
        <p:spPr/>
        <p:txBody>
          <a:bodyPr/>
          <a:lstStyle>
            <a:lvl1pPr>
              <a:defRPr/>
            </a:lvl1pPr>
          </a:lstStyle>
          <a:p>
            <a:pPr>
              <a:defRPr/>
            </a:pPr>
            <a:fld id="{453168CF-9361-4963-AFD4-61E898C8E6D4}" type="datetime8">
              <a:rPr lang="en-US" smtClean="0"/>
              <a:pPr>
                <a:defRPr/>
              </a:pPr>
              <a:t>10/21/2026 9:52 AM</a:t>
            </a:fld>
            <a:endParaRPr lang="en-US" dirty="0"/>
          </a:p>
        </p:txBody>
      </p:sp>
      <p:sp>
        <p:nvSpPr>
          <p:cNvPr id="6" name="Footer Placeholder 5">
            <a:extLst>
              <a:ext uri="{FF2B5EF4-FFF2-40B4-BE49-F238E27FC236}">
                <a16:creationId xmlns:a16="http://schemas.microsoft.com/office/drawing/2014/main" id="{A5874615-F617-433B-BCA5-EEDB193A1A0C}"/>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6">
            <a:extLst>
              <a:ext uri="{FF2B5EF4-FFF2-40B4-BE49-F238E27FC236}">
                <a16:creationId xmlns:a16="http://schemas.microsoft.com/office/drawing/2014/main" id="{27E2315F-E1FB-4BBC-9A69-9E76F921770B}"/>
              </a:ext>
            </a:extLst>
          </p:cNvPr>
          <p:cNvSpPr>
            <a:spLocks noGrp="1"/>
          </p:cNvSpPr>
          <p:nvPr>
            <p:ph type="sldNum" sz="quarter" idx="12"/>
          </p:nvPr>
        </p:nvSpPr>
        <p:spPr/>
        <p:txBody>
          <a:bodyPr/>
          <a:lstStyle>
            <a:lvl1pPr>
              <a:defRPr sz="1050">
                <a:solidFill>
                  <a:srgbClr val="FFFFFF"/>
                </a:solidFill>
              </a:defRPr>
            </a:lvl1pPr>
          </a:lstStyle>
          <a:p>
            <a:pPr>
              <a:defRPr/>
            </a:pPr>
            <a:fld id="{51AC466F-202A-449E-ABD9-88FA7D413812}" type="slidenum">
              <a:rPr lang="en-US"/>
              <a:pPr>
                <a:defRPr/>
              </a:pPr>
              <a:t>‹#›</a:t>
            </a:fld>
            <a:endParaRPr lang="en-US" dirty="0"/>
          </a:p>
        </p:txBody>
      </p:sp>
    </p:spTree>
    <p:extLst>
      <p:ext uri="{BB962C8B-B14F-4D97-AF65-F5344CB8AC3E}">
        <p14:creationId xmlns:p14="http://schemas.microsoft.com/office/powerpoint/2010/main" val="3984271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DC81B99-AD79-4350-B1B4-4A9A5B2E1411}"/>
              </a:ext>
            </a:extLst>
          </p:cNvPr>
          <p:cNvSpPr/>
          <p:nvPr/>
        </p:nvSpPr>
        <p:spPr bwMode="white">
          <a:xfrm>
            <a:off x="-9525" y="4572001"/>
            <a:ext cx="9144000" cy="887413"/>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E1B30C86-7539-4707-BB1E-130DEE07594C}"/>
              </a:ext>
            </a:extLst>
          </p:cNvPr>
          <p:cNvSpPr/>
          <p:nvPr/>
        </p:nvSpPr>
        <p:spPr>
          <a:xfrm>
            <a:off x="-9525" y="4664075"/>
            <a:ext cx="1463279" cy="712788"/>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Rectangle 6">
            <a:extLst>
              <a:ext uri="{FF2B5EF4-FFF2-40B4-BE49-F238E27FC236}">
                <a16:creationId xmlns:a16="http://schemas.microsoft.com/office/drawing/2014/main" id="{783F932B-EE3A-413F-8794-3061763118EA}"/>
              </a:ext>
            </a:extLst>
          </p:cNvPr>
          <p:cNvSpPr/>
          <p:nvPr/>
        </p:nvSpPr>
        <p:spPr>
          <a:xfrm>
            <a:off x="1544241" y="4654550"/>
            <a:ext cx="7599759" cy="712788"/>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Rectangle 7">
            <a:extLst>
              <a:ext uri="{FF2B5EF4-FFF2-40B4-BE49-F238E27FC236}">
                <a16:creationId xmlns:a16="http://schemas.microsoft.com/office/drawing/2014/main" id="{72ACDC2E-C064-4B1C-9FEF-B25D088F4C9E}"/>
              </a:ext>
            </a:extLst>
          </p:cNvPr>
          <p:cNvSpPr/>
          <p:nvPr/>
        </p:nvSpPr>
        <p:spPr bwMode="white">
          <a:xfrm>
            <a:off x="1447800" y="1"/>
            <a:ext cx="100013" cy="6867525"/>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Text Placeholder 3"/>
          <p:cNvSpPr>
            <a:spLocks noGrp="1"/>
          </p:cNvSpPr>
          <p:nvPr>
            <p:ph type="body" sz="half" idx="2"/>
          </p:nvPr>
        </p:nvSpPr>
        <p:spPr>
          <a:xfrm>
            <a:off x="1600200" y="5486400"/>
            <a:ext cx="7315200" cy="685800"/>
          </a:xfrm>
        </p:spPr>
        <p:txBody>
          <a:bodyPr/>
          <a:lstStyle>
            <a:lvl1pPr marL="0" indent="0">
              <a:buFontTx/>
              <a:buNone/>
              <a:defRPr sz="1275"/>
            </a:lvl1pPr>
            <a:lvl2pPr>
              <a:buFontTx/>
              <a:buNone/>
              <a:defRPr sz="900"/>
            </a:lvl2pPr>
            <a:lvl3pPr>
              <a:buFontTx/>
              <a:buNone/>
              <a:defRPr sz="750"/>
            </a:lvl3pPr>
            <a:lvl4pPr>
              <a:buFontTx/>
              <a:buNone/>
              <a:defRPr sz="675"/>
            </a:lvl4pPr>
            <a:lvl5pPr>
              <a:buFontTx/>
              <a:buNone/>
              <a:defRPr sz="675"/>
            </a:lvl5pPr>
          </a:lstStyle>
          <a:p>
            <a:pPr lvl="0"/>
            <a:r>
              <a:rPr lang="en-US"/>
              <a:t>Click to edit Master text styles</a:t>
            </a:r>
          </a:p>
        </p:txBody>
      </p:sp>
      <p:sp>
        <p:nvSpPr>
          <p:cNvPr id="2" name="Title 1"/>
          <p:cNvSpPr>
            <a:spLocks noGrp="1"/>
          </p:cNvSpPr>
          <p:nvPr>
            <p:ph type="title"/>
          </p:nvPr>
        </p:nvSpPr>
        <p:spPr>
          <a:xfrm>
            <a:off x="1600200" y="4648200"/>
            <a:ext cx="7315200" cy="685800"/>
          </a:xfrm>
        </p:spPr>
        <p:txBody>
          <a:bodyPr/>
          <a:lstStyle>
            <a:lvl1pPr algn="l">
              <a:buNone/>
              <a:defRPr sz="2100" b="0">
                <a:solidFill>
                  <a:srgbClr val="FFFFFF"/>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1560576" y="0"/>
            <a:ext cx="7583424" cy="4568952"/>
          </a:xfrm>
          <a:solidFill>
            <a:schemeClr val="accent1">
              <a:tint val="40000"/>
            </a:schemeClr>
          </a:solidFill>
          <a:ln>
            <a:noFill/>
          </a:ln>
        </p:spPr>
        <p:txBody>
          <a:bodyPr>
            <a:normAutofit/>
          </a:bodyPr>
          <a:lstStyle>
            <a:lvl1pPr marL="0" indent="0">
              <a:buNone/>
              <a:defRPr sz="2400"/>
            </a:lvl1pPr>
          </a:lstStyle>
          <a:p>
            <a:pPr lvl="0"/>
            <a:r>
              <a:rPr lang="en-US" noProof="0" dirty="0"/>
              <a:t>Click icon to add picture</a:t>
            </a:r>
          </a:p>
        </p:txBody>
      </p:sp>
      <p:sp>
        <p:nvSpPr>
          <p:cNvPr id="9" name="Date Placeholder 11">
            <a:extLst>
              <a:ext uri="{FF2B5EF4-FFF2-40B4-BE49-F238E27FC236}">
                <a16:creationId xmlns:a16="http://schemas.microsoft.com/office/drawing/2014/main" id="{6F6A6835-255E-4F53-B0A2-B0B3683D2384}"/>
              </a:ext>
            </a:extLst>
          </p:cNvPr>
          <p:cNvSpPr>
            <a:spLocks noGrp="1"/>
          </p:cNvSpPr>
          <p:nvPr>
            <p:ph type="dt" sz="half" idx="10"/>
          </p:nvPr>
        </p:nvSpPr>
        <p:spPr>
          <a:xfrm>
            <a:off x="6248400" y="6248401"/>
            <a:ext cx="2667000" cy="365125"/>
          </a:xfrm>
        </p:spPr>
        <p:txBody>
          <a:bodyPr rtlCol="0"/>
          <a:lstStyle>
            <a:lvl1pPr>
              <a:defRPr/>
            </a:lvl1pPr>
          </a:lstStyle>
          <a:p>
            <a:pPr>
              <a:defRPr/>
            </a:pPr>
            <a:fld id="{6A64BEE4-B63B-4B07-A227-E3BC01DE73A7}" type="datetime8">
              <a:rPr lang="en-US" smtClean="0"/>
              <a:pPr>
                <a:defRPr/>
              </a:pPr>
              <a:t>10/21/2026 9:52 AM</a:t>
            </a:fld>
            <a:endParaRPr lang="en-US" dirty="0"/>
          </a:p>
        </p:txBody>
      </p:sp>
      <p:sp>
        <p:nvSpPr>
          <p:cNvPr id="10" name="Slide Number Placeholder 12">
            <a:extLst>
              <a:ext uri="{FF2B5EF4-FFF2-40B4-BE49-F238E27FC236}">
                <a16:creationId xmlns:a16="http://schemas.microsoft.com/office/drawing/2014/main" id="{32BA4851-7472-4558-AF6A-2F94ED631D9C}"/>
              </a:ext>
            </a:extLst>
          </p:cNvPr>
          <p:cNvSpPr>
            <a:spLocks noGrp="1"/>
          </p:cNvSpPr>
          <p:nvPr>
            <p:ph type="sldNum" sz="quarter" idx="11"/>
          </p:nvPr>
        </p:nvSpPr>
        <p:spPr>
          <a:xfrm>
            <a:off x="0" y="4667251"/>
            <a:ext cx="1447800" cy="663575"/>
          </a:xfrm>
        </p:spPr>
        <p:txBody>
          <a:bodyPr rtlCol="0"/>
          <a:lstStyle>
            <a:lvl1pPr>
              <a:defRPr sz="2100">
                <a:solidFill>
                  <a:srgbClr val="FFFFFF"/>
                </a:solidFill>
              </a:defRPr>
            </a:lvl1pPr>
          </a:lstStyle>
          <a:p>
            <a:pPr>
              <a:defRPr/>
            </a:pPr>
            <a:fld id="{A8110B99-22AD-4655-8E97-9D99EF66D449}" type="slidenum">
              <a:rPr lang="en-US"/>
              <a:pPr>
                <a:defRPr/>
              </a:pPr>
              <a:t>‹#›</a:t>
            </a:fld>
            <a:endParaRPr lang="en-US" dirty="0"/>
          </a:p>
        </p:txBody>
      </p:sp>
      <p:sp>
        <p:nvSpPr>
          <p:cNvPr id="11" name="Footer Placeholder 13">
            <a:extLst>
              <a:ext uri="{FF2B5EF4-FFF2-40B4-BE49-F238E27FC236}">
                <a16:creationId xmlns:a16="http://schemas.microsoft.com/office/drawing/2014/main" id="{8C69500C-8063-44CD-BB8C-9F570B8D59C9}"/>
              </a:ext>
            </a:extLst>
          </p:cNvPr>
          <p:cNvSpPr>
            <a:spLocks noGrp="1"/>
          </p:cNvSpPr>
          <p:nvPr>
            <p:ph type="ftr" sz="quarter" idx="12"/>
          </p:nvPr>
        </p:nvSpPr>
        <p:spPr>
          <a:xfrm>
            <a:off x="1600200" y="6248401"/>
            <a:ext cx="4572000" cy="365125"/>
          </a:xfrm>
        </p:spPr>
        <p:txBody>
          <a:bodyPr rtlCol="0"/>
          <a:lstStyle>
            <a:lvl1pPr>
              <a:defRPr/>
            </a:lvl1pPr>
          </a:lstStyle>
          <a:p>
            <a:pPr>
              <a:defRPr/>
            </a:pPr>
            <a:endParaRPr lang="en-US" dirty="0"/>
          </a:p>
        </p:txBody>
      </p:sp>
    </p:spTree>
    <p:extLst>
      <p:ext uri="{BB962C8B-B14F-4D97-AF65-F5344CB8AC3E}">
        <p14:creationId xmlns:p14="http://schemas.microsoft.com/office/powerpoint/2010/main" val="15498220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13">
            <a:extLst>
              <a:ext uri="{FF2B5EF4-FFF2-40B4-BE49-F238E27FC236}">
                <a16:creationId xmlns:a16="http://schemas.microsoft.com/office/drawing/2014/main" id="{49E2AC5C-2BDA-4ED0-A8CA-408672F79305}"/>
              </a:ext>
            </a:extLst>
          </p:cNvPr>
          <p:cNvSpPr>
            <a:spLocks noGrp="1"/>
          </p:cNvSpPr>
          <p:nvPr>
            <p:ph type="dt" sz="half" idx="10"/>
          </p:nvPr>
        </p:nvSpPr>
        <p:spPr/>
        <p:txBody>
          <a:bodyPr/>
          <a:lstStyle>
            <a:lvl1pPr>
              <a:defRPr/>
            </a:lvl1pPr>
          </a:lstStyle>
          <a:p>
            <a:pPr>
              <a:defRPr/>
            </a:pPr>
            <a:fld id="{93759BA1-3B3D-49D7-B679-4527783122F8}" type="datetime8">
              <a:rPr lang="en-US" smtClean="0"/>
              <a:pPr>
                <a:defRPr/>
              </a:pPr>
              <a:t>10/21/2026 9:52 AM</a:t>
            </a:fld>
            <a:endParaRPr lang="en-US" dirty="0"/>
          </a:p>
        </p:txBody>
      </p:sp>
      <p:sp>
        <p:nvSpPr>
          <p:cNvPr id="5" name="Footer Placeholder 2">
            <a:extLst>
              <a:ext uri="{FF2B5EF4-FFF2-40B4-BE49-F238E27FC236}">
                <a16:creationId xmlns:a16="http://schemas.microsoft.com/office/drawing/2014/main" id="{09DD99E1-9A49-4EB3-9467-57A67F5FE9CE}"/>
              </a:ext>
            </a:extLst>
          </p:cNvPr>
          <p:cNvSpPr>
            <a:spLocks noGrp="1"/>
          </p:cNvSpPr>
          <p:nvPr>
            <p:ph type="ftr" sz="quarter" idx="11"/>
          </p:nvPr>
        </p:nvSpPr>
        <p:spPr/>
        <p:txBody>
          <a:bodyPr/>
          <a:lstStyle>
            <a:lvl1pPr>
              <a:defRPr/>
            </a:lvl1pPr>
          </a:lstStyle>
          <a:p>
            <a:pPr>
              <a:defRPr/>
            </a:pPr>
            <a:endParaRPr lang="en-US" dirty="0"/>
          </a:p>
        </p:txBody>
      </p:sp>
      <p:sp>
        <p:nvSpPr>
          <p:cNvPr id="6" name="Slide Number Placeholder 22">
            <a:extLst>
              <a:ext uri="{FF2B5EF4-FFF2-40B4-BE49-F238E27FC236}">
                <a16:creationId xmlns:a16="http://schemas.microsoft.com/office/drawing/2014/main" id="{02BB8BDF-113A-4D93-A64B-0BF6D345E473}"/>
              </a:ext>
            </a:extLst>
          </p:cNvPr>
          <p:cNvSpPr>
            <a:spLocks noGrp="1"/>
          </p:cNvSpPr>
          <p:nvPr>
            <p:ph type="sldNum" sz="quarter" idx="12"/>
          </p:nvPr>
        </p:nvSpPr>
        <p:spPr/>
        <p:txBody>
          <a:bodyPr/>
          <a:lstStyle>
            <a:lvl1pPr>
              <a:defRPr/>
            </a:lvl1pPr>
          </a:lstStyle>
          <a:p>
            <a:pPr>
              <a:defRPr/>
            </a:pPr>
            <a:fld id="{23720B14-E841-43C9-B349-AC4B576B0B80}" type="slidenum">
              <a:rPr lang="en-US"/>
              <a:pPr>
                <a:defRPr/>
              </a:pPr>
              <a:t>‹#›</a:t>
            </a:fld>
            <a:endParaRPr lang="en-US" sz="1050" dirty="0">
              <a:solidFill>
                <a:srgbClr val="FFFFFF"/>
              </a:solidFill>
            </a:endParaRPr>
          </a:p>
        </p:txBody>
      </p:sp>
    </p:spTree>
    <p:extLst>
      <p:ext uri="{BB962C8B-B14F-4D97-AF65-F5344CB8AC3E}">
        <p14:creationId xmlns:p14="http://schemas.microsoft.com/office/powerpoint/2010/main" val="24982898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C8BDF40-E20B-4BD8-84C1-E65583DF3F27}"/>
              </a:ext>
            </a:extLst>
          </p:cNvPr>
          <p:cNvSpPr/>
          <p:nvPr/>
        </p:nvSpPr>
        <p:spPr bwMode="white">
          <a:xfrm>
            <a:off x="6096000" y="0"/>
            <a:ext cx="320279" cy="6858000"/>
          </a:xfrm>
          <a:prstGeom prst="rect">
            <a:avLst/>
          </a:prstGeom>
          <a:solidFill>
            <a:srgbClr val="FFFFFF"/>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Rectangle 4">
            <a:extLst>
              <a:ext uri="{FF2B5EF4-FFF2-40B4-BE49-F238E27FC236}">
                <a16:creationId xmlns:a16="http://schemas.microsoft.com/office/drawing/2014/main" id="{A8629C48-D796-4AA1-B2C2-92BDFCA12EB1}"/>
              </a:ext>
            </a:extLst>
          </p:cNvPr>
          <p:cNvSpPr/>
          <p:nvPr/>
        </p:nvSpPr>
        <p:spPr>
          <a:xfrm>
            <a:off x="6142435" y="609600"/>
            <a:ext cx="228600" cy="6248400"/>
          </a:xfrm>
          <a:prstGeom prst="rect">
            <a:avLst/>
          </a:prstGeom>
          <a:solidFill>
            <a:schemeClr val="accent1"/>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Rectangle 5">
            <a:extLst>
              <a:ext uri="{FF2B5EF4-FFF2-40B4-BE49-F238E27FC236}">
                <a16:creationId xmlns:a16="http://schemas.microsoft.com/office/drawing/2014/main" id="{5829E37C-2198-4D37-B81B-E710DF5B30FF}"/>
              </a:ext>
            </a:extLst>
          </p:cNvPr>
          <p:cNvSpPr/>
          <p:nvPr/>
        </p:nvSpPr>
        <p:spPr>
          <a:xfrm>
            <a:off x="6142435" y="0"/>
            <a:ext cx="228600" cy="533400"/>
          </a:xfrm>
          <a:prstGeom prst="rect">
            <a:avLst/>
          </a:prstGeom>
          <a:solidFill>
            <a:schemeClr val="accent2"/>
          </a:solidFill>
          <a:ln w="19050" cap="flat" cmpd="sng" algn="ctr">
            <a:noFill/>
            <a:prstDash val="solid"/>
          </a:ln>
        </p:spPr>
        <p:style>
          <a:lnRef idx="2">
            <a:schemeClr val="accent1"/>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 name="Vertical Title 1"/>
          <p:cNvSpPr>
            <a:spLocks noGrp="1"/>
          </p:cNvSpPr>
          <p:nvPr>
            <p:ph type="title" orient="vert"/>
          </p:nvPr>
        </p:nvSpPr>
        <p:spPr>
          <a:xfrm>
            <a:off x="6553200" y="609602"/>
            <a:ext cx="2057400" cy="551656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57200" y="609600"/>
            <a:ext cx="5562600" cy="551656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a:extLst>
              <a:ext uri="{FF2B5EF4-FFF2-40B4-BE49-F238E27FC236}">
                <a16:creationId xmlns:a16="http://schemas.microsoft.com/office/drawing/2014/main" id="{B7357676-74DF-4791-B288-69977DC969F1}"/>
              </a:ext>
            </a:extLst>
          </p:cNvPr>
          <p:cNvSpPr>
            <a:spLocks noGrp="1"/>
          </p:cNvSpPr>
          <p:nvPr>
            <p:ph type="dt" sz="half" idx="10"/>
          </p:nvPr>
        </p:nvSpPr>
        <p:spPr>
          <a:xfrm>
            <a:off x="6553200" y="6248401"/>
            <a:ext cx="2209800" cy="365125"/>
          </a:xfrm>
        </p:spPr>
        <p:txBody>
          <a:bodyPr/>
          <a:lstStyle>
            <a:lvl1pPr>
              <a:defRPr dirty="0"/>
            </a:lvl1pPr>
          </a:lstStyle>
          <a:p>
            <a:pPr>
              <a:defRPr/>
            </a:pPr>
            <a:fld id="{9126EFFC-9F40-4763-B739-1C539166ACDE}" type="datetime8">
              <a:rPr lang="en-US" smtClean="0"/>
              <a:pPr>
                <a:defRPr/>
              </a:pPr>
              <a:t>10/21/2026 9:52 AM</a:t>
            </a:fld>
            <a:endParaRPr lang="en-US" dirty="0"/>
          </a:p>
        </p:txBody>
      </p:sp>
      <p:sp>
        <p:nvSpPr>
          <p:cNvPr id="8" name="Footer Placeholder 4">
            <a:extLst>
              <a:ext uri="{FF2B5EF4-FFF2-40B4-BE49-F238E27FC236}">
                <a16:creationId xmlns:a16="http://schemas.microsoft.com/office/drawing/2014/main" id="{15691A4D-8A37-4BF3-AA0E-515C11694FC4}"/>
              </a:ext>
            </a:extLst>
          </p:cNvPr>
          <p:cNvSpPr>
            <a:spLocks noGrp="1"/>
          </p:cNvSpPr>
          <p:nvPr>
            <p:ph type="ftr" sz="quarter" idx="11"/>
          </p:nvPr>
        </p:nvSpPr>
        <p:spPr>
          <a:xfrm>
            <a:off x="457200" y="6248401"/>
            <a:ext cx="5573316" cy="365125"/>
          </a:xfrm>
        </p:spPr>
        <p:txBody>
          <a:bodyPr/>
          <a:lstStyle>
            <a:lvl1pPr>
              <a:defRPr/>
            </a:lvl1pPr>
          </a:lstStyle>
          <a:p>
            <a:pPr>
              <a:defRPr/>
            </a:pPr>
            <a:endParaRPr lang="en-US" dirty="0"/>
          </a:p>
        </p:txBody>
      </p:sp>
      <p:sp>
        <p:nvSpPr>
          <p:cNvPr id="9" name="Slide Number Placeholder 5">
            <a:extLst>
              <a:ext uri="{FF2B5EF4-FFF2-40B4-BE49-F238E27FC236}">
                <a16:creationId xmlns:a16="http://schemas.microsoft.com/office/drawing/2014/main" id="{B276B00B-ADE0-415F-8138-D1827CD9FC0C}"/>
              </a:ext>
            </a:extLst>
          </p:cNvPr>
          <p:cNvSpPr>
            <a:spLocks noGrp="1"/>
          </p:cNvSpPr>
          <p:nvPr>
            <p:ph type="sldNum" sz="quarter" idx="12"/>
          </p:nvPr>
        </p:nvSpPr>
        <p:spPr>
          <a:xfrm rot="5400000">
            <a:off x="5989439" y="144661"/>
            <a:ext cx="533400" cy="244079"/>
          </a:xfrm>
        </p:spPr>
        <p:txBody>
          <a:bodyPr/>
          <a:lstStyle>
            <a:lvl1pPr>
              <a:defRPr/>
            </a:lvl1pPr>
          </a:lstStyle>
          <a:p>
            <a:pPr>
              <a:defRPr/>
            </a:pPr>
            <a:fld id="{61ABE1C5-EE8B-4BC6-9CA6-2359143DF2B8}" type="slidenum">
              <a:rPr lang="en-US"/>
              <a:pPr>
                <a:defRPr/>
              </a:pPr>
              <a:t>‹#›</a:t>
            </a:fld>
            <a:endParaRPr lang="en-US" sz="1050" dirty="0">
              <a:solidFill>
                <a:srgbClr val="FFFFFF"/>
              </a:solidFill>
            </a:endParaRPr>
          </a:p>
        </p:txBody>
      </p:sp>
    </p:spTree>
    <p:extLst>
      <p:ext uri="{BB962C8B-B14F-4D97-AF65-F5344CB8AC3E}">
        <p14:creationId xmlns:p14="http://schemas.microsoft.com/office/powerpoint/2010/main" val="12559990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5"/>
            <a:ext cx="8229600" cy="1139825"/>
          </a:xfrm>
        </p:spPr>
        <p:txBody>
          <a:bodyPr/>
          <a:lstStyle/>
          <a:p>
            <a:r>
              <a:rPr lang="en-US"/>
              <a:t>Click to edit Master title style</a:t>
            </a:r>
          </a:p>
        </p:txBody>
      </p:sp>
      <p:sp>
        <p:nvSpPr>
          <p:cNvPr id="3" name="Text Placeholder 2"/>
          <p:cNvSpPr>
            <a:spLocks noGrp="1"/>
          </p:cNvSpPr>
          <p:nvPr>
            <p:ph type="body" sz="half" idx="1"/>
          </p:nvPr>
        </p:nvSpPr>
        <p:spPr>
          <a:xfrm>
            <a:off x="457200" y="1600202"/>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2"/>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a:extLst>
              <a:ext uri="{FF2B5EF4-FFF2-40B4-BE49-F238E27FC236}">
                <a16:creationId xmlns:a16="http://schemas.microsoft.com/office/drawing/2014/main" id="{A4F6F228-293F-451A-B398-4A2C5AA16A75}"/>
              </a:ext>
            </a:extLst>
          </p:cNvPr>
          <p:cNvSpPr>
            <a:spLocks noGrp="1"/>
          </p:cNvSpPr>
          <p:nvPr>
            <p:ph type="dt" sz="half" idx="10"/>
          </p:nvPr>
        </p:nvSpPr>
        <p:spPr/>
        <p:txBody>
          <a:bodyPr/>
          <a:lstStyle>
            <a:lvl1pPr>
              <a:defRPr dirty="0"/>
            </a:lvl1pPr>
          </a:lstStyle>
          <a:p>
            <a:pPr>
              <a:defRPr/>
            </a:pPr>
            <a:fld id="{0054C995-A101-40E4-88AF-8CCA2230FDF4}" type="datetime8">
              <a:rPr lang="en-US" smtClean="0"/>
              <a:pPr>
                <a:defRPr/>
              </a:pPr>
              <a:t>10/21/2026 9:52 AM</a:t>
            </a:fld>
            <a:endParaRPr lang="en-US" dirty="0"/>
          </a:p>
        </p:txBody>
      </p:sp>
      <p:sp>
        <p:nvSpPr>
          <p:cNvPr id="6" name="Footer Placeholder 21">
            <a:extLst>
              <a:ext uri="{FF2B5EF4-FFF2-40B4-BE49-F238E27FC236}">
                <a16:creationId xmlns:a16="http://schemas.microsoft.com/office/drawing/2014/main" id="{CCA5FA8B-1308-4FEA-BD7F-309CB5786C04}"/>
              </a:ext>
            </a:extLst>
          </p:cNvPr>
          <p:cNvSpPr>
            <a:spLocks noGrp="1"/>
          </p:cNvSpPr>
          <p:nvPr>
            <p:ph type="ftr" sz="quarter" idx="11"/>
          </p:nvPr>
        </p:nvSpPr>
        <p:spPr/>
        <p:txBody>
          <a:bodyPr/>
          <a:lstStyle>
            <a:lvl1pPr>
              <a:defRPr/>
            </a:lvl1pPr>
          </a:lstStyle>
          <a:p>
            <a:pPr>
              <a:defRPr/>
            </a:pPr>
            <a:endParaRPr lang="en-US" dirty="0"/>
          </a:p>
        </p:txBody>
      </p:sp>
      <p:sp>
        <p:nvSpPr>
          <p:cNvPr id="7" name="Slide Number Placeholder 17">
            <a:extLst>
              <a:ext uri="{FF2B5EF4-FFF2-40B4-BE49-F238E27FC236}">
                <a16:creationId xmlns:a16="http://schemas.microsoft.com/office/drawing/2014/main" id="{4ABA97CD-1067-4741-8A30-677826546595}"/>
              </a:ext>
            </a:extLst>
          </p:cNvPr>
          <p:cNvSpPr>
            <a:spLocks noGrp="1"/>
          </p:cNvSpPr>
          <p:nvPr>
            <p:ph type="sldNum" sz="quarter" idx="12"/>
          </p:nvPr>
        </p:nvSpPr>
        <p:spPr/>
        <p:txBody>
          <a:bodyPr/>
          <a:lstStyle>
            <a:lvl1pPr>
              <a:defRPr/>
            </a:lvl1pPr>
          </a:lstStyle>
          <a:p>
            <a:pPr>
              <a:defRPr/>
            </a:pPr>
            <a:fld id="{FBA8C804-4DE3-41CC-98C1-05EC14125A5B}" type="slidenum">
              <a:rPr lang="en-US"/>
              <a:pPr>
                <a:defRPr/>
              </a:pPr>
              <a:t>‹#›</a:t>
            </a:fld>
            <a:endParaRPr lang="en-US" dirty="0"/>
          </a:p>
        </p:txBody>
      </p:sp>
    </p:spTree>
    <p:extLst>
      <p:ext uri="{BB962C8B-B14F-4D97-AF65-F5344CB8AC3E}">
        <p14:creationId xmlns:p14="http://schemas.microsoft.com/office/powerpoint/2010/main" val="1564479020"/>
      </p:ext>
    </p:extLst>
  </p:cSld>
  <p:clrMapOvr>
    <a:masterClrMapping/>
  </p:clrMapOvr>
  <p:transition>
    <p:dissolv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335752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5"/>
          <a:srcRect/>
          <a:stretch>
            <a:fillRect/>
          </a:stretch>
        </a:blipFill>
        <a:effectLst/>
      </p:bgPr>
    </p:bg>
    <p:spTree>
      <p:nvGrpSpPr>
        <p:cNvPr id="1" name=""/>
        <p:cNvGrpSpPr/>
        <p:nvPr/>
      </p:nvGrpSpPr>
      <p:grpSpPr>
        <a:xfrm>
          <a:off x="0" y="0"/>
          <a:ext cx="0" cy="0"/>
          <a:chOff x="0" y="0"/>
          <a:chExt cx="0" cy="0"/>
        </a:xfrm>
      </p:grpSpPr>
      <p:sp>
        <p:nvSpPr>
          <p:cNvPr id="2050" name="Title Placeholder 21">
            <a:extLst>
              <a:ext uri="{FF2B5EF4-FFF2-40B4-BE49-F238E27FC236}">
                <a16:creationId xmlns:a16="http://schemas.microsoft.com/office/drawing/2014/main" id="{08246714-135A-4141-B338-011310AA9C2F}"/>
              </a:ext>
            </a:extLst>
          </p:cNvPr>
          <p:cNvSpPr>
            <a:spLocks noGrp="1" noChangeArrowheads="1"/>
          </p:cNvSpPr>
          <p:nvPr>
            <p:ph type="title"/>
          </p:nvPr>
        </p:nvSpPr>
        <p:spPr bwMode="auto">
          <a:xfrm>
            <a:off x="609600" y="228600"/>
            <a:ext cx="81534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12">
            <a:extLst>
              <a:ext uri="{FF2B5EF4-FFF2-40B4-BE49-F238E27FC236}">
                <a16:creationId xmlns:a16="http://schemas.microsoft.com/office/drawing/2014/main" id="{8F4F6B3D-18ED-42C1-A268-20AE208D89B8}"/>
              </a:ext>
            </a:extLst>
          </p:cNvPr>
          <p:cNvSpPr>
            <a:spLocks noGrp="1" noChangeArrowheads="1"/>
          </p:cNvSpPr>
          <p:nvPr>
            <p:ph type="body" idx="1"/>
          </p:nvPr>
        </p:nvSpPr>
        <p:spPr bwMode="auto">
          <a:xfrm>
            <a:off x="613172" y="1600201"/>
            <a:ext cx="81534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4" name="Date Placeholder 13">
            <a:extLst>
              <a:ext uri="{FF2B5EF4-FFF2-40B4-BE49-F238E27FC236}">
                <a16:creationId xmlns:a16="http://schemas.microsoft.com/office/drawing/2014/main" id="{B0DC14AD-E591-4E58-B1A5-35E0EC9234C6}"/>
              </a:ext>
            </a:extLst>
          </p:cNvPr>
          <p:cNvSpPr>
            <a:spLocks noGrp="1"/>
          </p:cNvSpPr>
          <p:nvPr>
            <p:ph type="dt" sz="half" idx="2"/>
          </p:nvPr>
        </p:nvSpPr>
        <p:spPr>
          <a:xfrm>
            <a:off x="6096000" y="6248401"/>
            <a:ext cx="2667000" cy="365125"/>
          </a:xfrm>
          <a:prstGeom prst="rect">
            <a:avLst/>
          </a:prstGeom>
        </p:spPr>
        <p:txBody>
          <a:bodyPr vert="horz" anchor="ctr" anchorCtr="0"/>
          <a:lstStyle>
            <a:lvl1pPr algn="l" eaLnBrk="1" fontAlgn="auto" hangingPunct="1">
              <a:spcBef>
                <a:spcPts val="0"/>
              </a:spcBef>
              <a:spcAft>
                <a:spcPts val="0"/>
              </a:spcAft>
              <a:defRPr sz="1050" dirty="0">
                <a:solidFill>
                  <a:schemeClr val="tx2"/>
                </a:solidFill>
                <a:latin typeface="+mn-lt"/>
                <a:cs typeface="+mn-cs"/>
              </a:defRPr>
            </a:lvl1pPr>
          </a:lstStyle>
          <a:p>
            <a:pPr>
              <a:defRPr/>
            </a:pPr>
            <a:fld id="{46932F45-0E06-4599-AAE4-53FB7B523600}" type="datetime8">
              <a:rPr lang="en-US" smtClean="0"/>
              <a:pPr>
                <a:defRPr/>
              </a:pPr>
              <a:t>10/21/2026 9:52 AM</a:t>
            </a:fld>
            <a:endParaRPr lang="en-US" dirty="0"/>
          </a:p>
        </p:txBody>
      </p:sp>
      <p:sp>
        <p:nvSpPr>
          <p:cNvPr id="3" name="Footer Placeholder 2">
            <a:extLst>
              <a:ext uri="{FF2B5EF4-FFF2-40B4-BE49-F238E27FC236}">
                <a16:creationId xmlns:a16="http://schemas.microsoft.com/office/drawing/2014/main" id="{3626FEA4-D403-4009-AE9A-7A81A9DD7A7A}"/>
              </a:ext>
            </a:extLst>
          </p:cNvPr>
          <p:cNvSpPr>
            <a:spLocks noGrp="1"/>
          </p:cNvSpPr>
          <p:nvPr>
            <p:ph type="ftr" sz="quarter" idx="3"/>
          </p:nvPr>
        </p:nvSpPr>
        <p:spPr>
          <a:xfrm>
            <a:off x="609600" y="6248401"/>
            <a:ext cx="5420916" cy="365125"/>
          </a:xfrm>
          <a:prstGeom prst="rect">
            <a:avLst/>
          </a:prstGeom>
        </p:spPr>
        <p:txBody>
          <a:bodyPr vert="horz" anchor="ctr"/>
          <a:lstStyle>
            <a:lvl1pPr algn="r" eaLnBrk="1" fontAlgn="auto" hangingPunct="1">
              <a:spcBef>
                <a:spcPts val="0"/>
              </a:spcBef>
              <a:spcAft>
                <a:spcPts val="0"/>
              </a:spcAft>
              <a:defRPr sz="1050">
                <a:solidFill>
                  <a:schemeClr val="tx2"/>
                </a:solidFill>
                <a:latin typeface="+mn-lt"/>
                <a:cs typeface="+mn-cs"/>
              </a:defRPr>
            </a:lvl1pPr>
          </a:lstStyle>
          <a:p>
            <a:pPr>
              <a:defRPr/>
            </a:pPr>
            <a:endParaRPr lang="en-US" dirty="0"/>
          </a:p>
        </p:txBody>
      </p:sp>
      <p:sp>
        <p:nvSpPr>
          <p:cNvPr id="7" name="Rectangle 6">
            <a:extLst>
              <a:ext uri="{FF2B5EF4-FFF2-40B4-BE49-F238E27FC236}">
                <a16:creationId xmlns:a16="http://schemas.microsoft.com/office/drawing/2014/main" id="{EE4241F5-43F5-4215-A37F-BA0C8B434726}"/>
              </a:ext>
            </a:extLst>
          </p:cNvPr>
          <p:cNvSpPr/>
          <p:nvPr/>
        </p:nvSpPr>
        <p:spPr bwMode="white">
          <a:xfrm>
            <a:off x="0" y="1235075"/>
            <a:ext cx="9144000" cy="319088"/>
          </a:xfrm>
          <a:prstGeom prst="rect">
            <a:avLst/>
          </a:prstGeom>
          <a:solidFill>
            <a:srgbClr val="FFFFFF"/>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Rectangle 7">
            <a:extLst>
              <a:ext uri="{FF2B5EF4-FFF2-40B4-BE49-F238E27FC236}">
                <a16:creationId xmlns:a16="http://schemas.microsoft.com/office/drawing/2014/main" id="{559CE3FE-C047-4327-A035-6DFB11A6800F}"/>
              </a:ext>
            </a:extLst>
          </p:cNvPr>
          <p:cNvSpPr/>
          <p:nvPr/>
        </p:nvSpPr>
        <p:spPr>
          <a:xfrm>
            <a:off x="0" y="1279525"/>
            <a:ext cx="533400" cy="228600"/>
          </a:xfrm>
          <a:prstGeom prst="rect">
            <a:avLst/>
          </a:prstGeom>
          <a:solidFill>
            <a:schemeClr val="accent2">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9" name="Rectangle 8">
            <a:extLst>
              <a:ext uri="{FF2B5EF4-FFF2-40B4-BE49-F238E27FC236}">
                <a16:creationId xmlns:a16="http://schemas.microsoft.com/office/drawing/2014/main" id="{C3AC8A25-7CFF-4E69-B8EE-4718F8D4EF3C}"/>
              </a:ext>
            </a:extLst>
          </p:cNvPr>
          <p:cNvSpPr/>
          <p:nvPr/>
        </p:nvSpPr>
        <p:spPr>
          <a:xfrm>
            <a:off x="590550" y="1279525"/>
            <a:ext cx="8553450" cy="228600"/>
          </a:xfrm>
          <a:prstGeom prst="rect">
            <a:avLst/>
          </a:prstGeom>
          <a:solidFill>
            <a:schemeClr val="accent1">
              <a:alpha val="100000"/>
            </a:schemeClr>
          </a:solidFill>
          <a:ln w="50800" cap="rnd" cmpd="dbl"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3" name="Slide Number Placeholder 22">
            <a:extLst>
              <a:ext uri="{FF2B5EF4-FFF2-40B4-BE49-F238E27FC236}">
                <a16:creationId xmlns:a16="http://schemas.microsoft.com/office/drawing/2014/main" id="{96567ECF-60C7-489E-AFDA-40C4EB807302}"/>
              </a:ext>
            </a:extLst>
          </p:cNvPr>
          <p:cNvSpPr>
            <a:spLocks noGrp="1"/>
          </p:cNvSpPr>
          <p:nvPr>
            <p:ph type="sldNum" sz="quarter" idx="4"/>
          </p:nvPr>
        </p:nvSpPr>
        <p:spPr>
          <a:xfrm>
            <a:off x="0" y="1271589"/>
            <a:ext cx="533400" cy="244475"/>
          </a:xfrm>
          <a:prstGeom prst="rect">
            <a:avLst/>
          </a:prstGeom>
        </p:spPr>
        <p:txBody>
          <a:bodyPr vert="horz" anchor="ctr" anchorCtr="0">
            <a:normAutofit/>
          </a:bodyPr>
          <a:lstStyle>
            <a:lvl1pPr algn="ctr" eaLnBrk="1" fontAlgn="auto" hangingPunct="1">
              <a:spcBef>
                <a:spcPts val="0"/>
              </a:spcBef>
              <a:spcAft>
                <a:spcPts val="0"/>
              </a:spcAft>
              <a:defRPr sz="900" b="1">
                <a:solidFill>
                  <a:schemeClr val="tx2"/>
                </a:solidFill>
                <a:latin typeface="+mn-lt"/>
                <a:cs typeface="+mn-cs"/>
              </a:defRPr>
            </a:lvl1pPr>
          </a:lstStyle>
          <a:p>
            <a:pPr>
              <a:defRPr/>
            </a:pPr>
            <a:fld id="{1683ACCE-3850-4732-B3C7-553D9AFBE5E7}" type="slidenum">
              <a:rPr lang="en-US"/>
              <a:pPr>
                <a:defRPr/>
              </a:pPr>
              <a:t>‹#›</a:t>
            </a:fld>
            <a:endParaRPr lang="en-US" dirty="0"/>
          </a:p>
        </p:txBody>
      </p:sp>
    </p:spTree>
  </p:cSld>
  <p:clrMap bg1="lt1" tx1="dk1" bg2="lt2" tx2="dk2" accent1="accent1" accent2="accent2" accent3="accent3" accent4="accent4" accent5="accent5" accent6="accent6" hlink="hlink" folHlink="folHlink"/>
  <p:sldLayoutIdLst>
    <p:sldLayoutId id="2147483823" r:id="rId1"/>
    <p:sldLayoutId id="2147483824" r:id="rId2"/>
    <p:sldLayoutId id="2147483825" r:id="rId3"/>
    <p:sldLayoutId id="2147483826" r:id="rId4"/>
    <p:sldLayoutId id="2147483827" r:id="rId5"/>
    <p:sldLayoutId id="2147483828" r:id="rId6"/>
    <p:sldLayoutId id="2147483829" r:id="rId7"/>
    <p:sldLayoutId id="2147483830" r:id="rId8"/>
    <p:sldLayoutId id="2147483831" r:id="rId9"/>
    <p:sldLayoutId id="2147483832" r:id="rId10"/>
    <p:sldLayoutId id="2147483833" r:id="rId11"/>
    <p:sldLayoutId id="2147483834" r:id="rId12"/>
    <p:sldLayoutId id="2147483835" r:id="rId13"/>
  </p:sldLayoutIdLst>
  <p:hf sldNum="0" hdr="0" ftr="0" dt="0"/>
  <p:txStyles>
    <p:titleStyle>
      <a:lvl1pPr algn="l" rtl="0" eaLnBrk="0" fontAlgn="base" hangingPunct="0">
        <a:spcBef>
          <a:spcPct val="0"/>
        </a:spcBef>
        <a:spcAft>
          <a:spcPct val="0"/>
        </a:spcAft>
        <a:defRPr sz="3300" kern="1200">
          <a:solidFill>
            <a:schemeClr val="tx2"/>
          </a:solidFill>
          <a:latin typeface="+mj-lt"/>
          <a:ea typeface="+mj-ea"/>
          <a:cs typeface="+mj-cs"/>
        </a:defRPr>
      </a:lvl1pPr>
      <a:lvl2pPr algn="l" rtl="0" eaLnBrk="0" fontAlgn="base" hangingPunct="0">
        <a:spcBef>
          <a:spcPct val="0"/>
        </a:spcBef>
        <a:spcAft>
          <a:spcPct val="0"/>
        </a:spcAft>
        <a:defRPr sz="3300">
          <a:solidFill>
            <a:schemeClr val="tx2"/>
          </a:solidFill>
          <a:latin typeface="Tw Cen MT" pitchFamily="34" charset="0"/>
        </a:defRPr>
      </a:lvl2pPr>
      <a:lvl3pPr algn="l" rtl="0" eaLnBrk="0" fontAlgn="base" hangingPunct="0">
        <a:spcBef>
          <a:spcPct val="0"/>
        </a:spcBef>
        <a:spcAft>
          <a:spcPct val="0"/>
        </a:spcAft>
        <a:defRPr sz="3300">
          <a:solidFill>
            <a:schemeClr val="tx2"/>
          </a:solidFill>
          <a:latin typeface="Tw Cen MT" pitchFamily="34" charset="0"/>
        </a:defRPr>
      </a:lvl3pPr>
      <a:lvl4pPr algn="l" rtl="0" eaLnBrk="0" fontAlgn="base" hangingPunct="0">
        <a:spcBef>
          <a:spcPct val="0"/>
        </a:spcBef>
        <a:spcAft>
          <a:spcPct val="0"/>
        </a:spcAft>
        <a:defRPr sz="3300">
          <a:solidFill>
            <a:schemeClr val="tx2"/>
          </a:solidFill>
          <a:latin typeface="Tw Cen MT" pitchFamily="34" charset="0"/>
        </a:defRPr>
      </a:lvl4pPr>
      <a:lvl5pPr algn="l" rtl="0" eaLnBrk="0" fontAlgn="base" hangingPunct="0">
        <a:spcBef>
          <a:spcPct val="0"/>
        </a:spcBef>
        <a:spcAft>
          <a:spcPct val="0"/>
        </a:spcAft>
        <a:defRPr sz="3300">
          <a:solidFill>
            <a:schemeClr val="tx2"/>
          </a:solidFill>
          <a:latin typeface="Tw Cen MT" pitchFamily="34" charset="0"/>
        </a:defRPr>
      </a:lvl5pPr>
      <a:lvl6pPr marL="342900" algn="l" rtl="0" fontAlgn="base">
        <a:spcBef>
          <a:spcPct val="0"/>
        </a:spcBef>
        <a:spcAft>
          <a:spcPct val="0"/>
        </a:spcAft>
        <a:defRPr sz="3300">
          <a:solidFill>
            <a:schemeClr val="tx2"/>
          </a:solidFill>
          <a:latin typeface="Tw Cen MT" pitchFamily="34" charset="0"/>
        </a:defRPr>
      </a:lvl6pPr>
      <a:lvl7pPr marL="685800" algn="l" rtl="0" fontAlgn="base">
        <a:spcBef>
          <a:spcPct val="0"/>
        </a:spcBef>
        <a:spcAft>
          <a:spcPct val="0"/>
        </a:spcAft>
        <a:defRPr sz="3300">
          <a:solidFill>
            <a:schemeClr val="tx2"/>
          </a:solidFill>
          <a:latin typeface="Tw Cen MT" pitchFamily="34" charset="0"/>
        </a:defRPr>
      </a:lvl7pPr>
      <a:lvl8pPr marL="1028700" algn="l" rtl="0" fontAlgn="base">
        <a:spcBef>
          <a:spcPct val="0"/>
        </a:spcBef>
        <a:spcAft>
          <a:spcPct val="0"/>
        </a:spcAft>
        <a:defRPr sz="3300">
          <a:solidFill>
            <a:schemeClr val="tx2"/>
          </a:solidFill>
          <a:latin typeface="Tw Cen MT" pitchFamily="34" charset="0"/>
        </a:defRPr>
      </a:lvl8pPr>
      <a:lvl9pPr marL="1371600" algn="l" rtl="0" fontAlgn="base">
        <a:spcBef>
          <a:spcPct val="0"/>
        </a:spcBef>
        <a:spcAft>
          <a:spcPct val="0"/>
        </a:spcAft>
        <a:defRPr sz="3300">
          <a:solidFill>
            <a:schemeClr val="tx2"/>
          </a:solidFill>
          <a:latin typeface="Tw Cen MT" pitchFamily="34" charset="0"/>
        </a:defRPr>
      </a:lvl9pPr>
    </p:titleStyle>
    <p:bodyStyle>
      <a:lvl1pPr marL="239316" indent="-239316" algn="l" rtl="0" eaLnBrk="0" fontAlgn="base" hangingPunct="0">
        <a:spcBef>
          <a:spcPts val="525"/>
        </a:spcBef>
        <a:spcAft>
          <a:spcPct val="0"/>
        </a:spcAft>
        <a:buClr>
          <a:schemeClr val="accent2"/>
        </a:buClr>
        <a:buSzPct val="60000"/>
        <a:buFont typeface="Wingdings" panose="05000000000000000000" pitchFamily="2" charset="2"/>
        <a:buChar char=""/>
        <a:defRPr sz="2175" kern="1200">
          <a:solidFill>
            <a:schemeClr val="tx1"/>
          </a:solidFill>
          <a:latin typeface="+mn-lt"/>
          <a:ea typeface="+mn-ea"/>
          <a:cs typeface="+mn-cs"/>
        </a:defRPr>
      </a:lvl1pPr>
      <a:lvl2pPr marL="479822" indent="-204788" algn="l" rtl="0" eaLnBrk="0" fontAlgn="base" hangingPunct="0">
        <a:spcBef>
          <a:spcPts val="413"/>
        </a:spcBef>
        <a:spcAft>
          <a:spcPct val="0"/>
        </a:spcAft>
        <a:buClr>
          <a:schemeClr val="accent1"/>
        </a:buClr>
        <a:buSzPct val="70000"/>
        <a:buFont typeface="Wingdings 2" panose="05020102010507070707" pitchFamily="18" charset="2"/>
        <a:buChar char=""/>
        <a:defRPr sz="1950" kern="1200">
          <a:solidFill>
            <a:schemeClr val="tx1"/>
          </a:solidFill>
          <a:latin typeface="+mn-lt"/>
          <a:ea typeface="+mn-ea"/>
          <a:cs typeface="+mn-cs"/>
        </a:defRPr>
      </a:lvl2pPr>
      <a:lvl3pPr marL="685800" indent="-171450" algn="l" rtl="0" eaLnBrk="0" fontAlgn="base" hangingPunct="0">
        <a:spcBef>
          <a:spcPts val="375"/>
        </a:spcBef>
        <a:spcAft>
          <a:spcPct val="0"/>
        </a:spcAft>
        <a:buClr>
          <a:schemeClr val="accent2"/>
        </a:buClr>
        <a:buSzPct val="75000"/>
        <a:buFont typeface="Wingdings" panose="05000000000000000000" pitchFamily="2" charset="2"/>
        <a:buChar char=""/>
        <a:defRPr sz="1725" kern="1200">
          <a:solidFill>
            <a:schemeClr val="tx1"/>
          </a:solidFill>
          <a:latin typeface="+mn-lt"/>
          <a:ea typeface="+mn-ea"/>
          <a:cs typeface="+mn-cs"/>
        </a:defRPr>
      </a:lvl3pPr>
      <a:lvl4pPr marL="1028700" indent="-171450" algn="l" rtl="0" eaLnBrk="0" fontAlgn="base" hangingPunct="0">
        <a:spcBef>
          <a:spcPts val="300"/>
        </a:spcBef>
        <a:spcAft>
          <a:spcPct val="0"/>
        </a:spcAft>
        <a:buClr>
          <a:srgbClr val="A04DA3"/>
        </a:buClr>
        <a:buSzPct val="75000"/>
        <a:buFont typeface="Wingdings" panose="05000000000000000000" pitchFamily="2" charset="2"/>
        <a:buChar char=""/>
        <a:defRPr sz="1500" kern="1200">
          <a:solidFill>
            <a:schemeClr val="tx1"/>
          </a:solidFill>
          <a:latin typeface="+mn-lt"/>
          <a:ea typeface="+mn-ea"/>
          <a:cs typeface="+mn-cs"/>
        </a:defRPr>
      </a:lvl4pPr>
      <a:lvl5pPr marL="1371600" indent="-171450" algn="l" rtl="0" eaLnBrk="0" fontAlgn="base" hangingPunct="0">
        <a:spcBef>
          <a:spcPts val="300"/>
        </a:spcBef>
        <a:spcAft>
          <a:spcPct val="0"/>
        </a:spcAft>
        <a:buClr>
          <a:srgbClr val="C4652D"/>
        </a:buClr>
        <a:buSzPct val="65000"/>
        <a:buFont typeface="Wingdings" panose="05000000000000000000" pitchFamily="2" charset="2"/>
        <a:buChar char=""/>
        <a:defRPr sz="1500" kern="1200">
          <a:solidFill>
            <a:schemeClr val="tx1"/>
          </a:solidFill>
          <a:latin typeface="+mn-lt"/>
          <a:ea typeface="+mn-ea"/>
          <a:cs typeface="+mn-cs"/>
        </a:defRPr>
      </a:lvl5pPr>
      <a:lvl6pPr marL="1577340" indent="-171450" algn="l" rtl="0" eaLnBrk="1" latinLnBrk="0" hangingPunct="1">
        <a:spcBef>
          <a:spcPct val="20000"/>
        </a:spcBef>
        <a:buClr>
          <a:schemeClr val="accent1"/>
        </a:buClr>
        <a:buFont typeface="Wingdings"/>
        <a:buChar char="§"/>
        <a:defRPr sz="1350" kern="1200" baseline="0">
          <a:solidFill>
            <a:schemeClr val="tx1"/>
          </a:solidFill>
          <a:latin typeface="+mn-lt"/>
          <a:ea typeface="+mn-ea"/>
          <a:cs typeface="+mn-cs"/>
        </a:defRPr>
      </a:lvl6pPr>
      <a:lvl7pPr marL="1783080" indent="-171450" algn="l" rtl="0" eaLnBrk="1" latinLnBrk="0" hangingPunct="1">
        <a:spcBef>
          <a:spcPct val="20000"/>
        </a:spcBef>
        <a:buClr>
          <a:schemeClr val="accent2"/>
        </a:buClr>
        <a:buFont typeface="Wingdings"/>
        <a:buChar char="§"/>
        <a:defRPr sz="1350" kern="1200" baseline="0">
          <a:solidFill>
            <a:schemeClr val="tx1"/>
          </a:solidFill>
          <a:latin typeface="+mn-lt"/>
          <a:ea typeface="+mn-ea"/>
          <a:cs typeface="+mn-cs"/>
        </a:defRPr>
      </a:lvl7pPr>
      <a:lvl8pPr marL="1988820" indent="-171450" algn="l" rtl="0" eaLnBrk="1" latinLnBrk="0" hangingPunct="1">
        <a:spcBef>
          <a:spcPct val="20000"/>
        </a:spcBef>
        <a:buClr>
          <a:schemeClr val="accent3"/>
        </a:buClr>
        <a:buFont typeface="Wingdings"/>
        <a:buChar char="§"/>
        <a:defRPr sz="1350" kern="1200" baseline="0">
          <a:solidFill>
            <a:schemeClr val="tx1"/>
          </a:solidFill>
          <a:latin typeface="+mn-lt"/>
          <a:ea typeface="+mn-ea"/>
          <a:cs typeface="+mn-cs"/>
        </a:defRPr>
      </a:lvl8pPr>
      <a:lvl9pPr marL="2194560" indent="-171450" algn="l" rtl="0" eaLnBrk="1" latinLnBrk="0" hangingPunct="1">
        <a:spcBef>
          <a:spcPct val="20000"/>
        </a:spcBef>
        <a:buClr>
          <a:schemeClr val="accent4"/>
        </a:buClr>
        <a:buFont typeface="Wingdings"/>
        <a:buChar char="§"/>
        <a:defRPr sz="1350" kern="1200" baseline="0">
          <a:solidFill>
            <a:schemeClr val="tx1"/>
          </a:solidFill>
          <a:latin typeface="+mn-lt"/>
          <a:ea typeface="+mn-ea"/>
          <a:cs typeface="+mn-cs"/>
        </a:defRPr>
      </a:lvl9pPr>
    </p:bodyStyle>
    <p:otherStyle>
      <a:lvl1pPr marL="0" algn="l" rtl="0" eaLnBrk="1" hangingPunct="1">
        <a:defRPr kern="1200">
          <a:solidFill>
            <a:schemeClr val="tx1"/>
          </a:solidFill>
          <a:latin typeface="+mn-lt"/>
          <a:ea typeface="+mn-ea"/>
          <a:cs typeface="+mn-cs"/>
        </a:defRPr>
      </a:lvl1pPr>
      <a:lvl2pPr marL="342900" algn="l" rtl="0" eaLnBrk="1" hangingPunct="1">
        <a:defRPr kern="1200">
          <a:solidFill>
            <a:schemeClr val="tx1"/>
          </a:solidFill>
          <a:latin typeface="+mn-lt"/>
          <a:ea typeface="+mn-ea"/>
          <a:cs typeface="+mn-cs"/>
        </a:defRPr>
      </a:lvl2pPr>
      <a:lvl3pPr marL="685800" algn="l" rtl="0" eaLnBrk="1" hangingPunct="1">
        <a:defRPr kern="1200">
          <a:solidFill>
            <a:schemeClr val="tx1"/>
          </a:solidFill>
          <a:latin typeface="+mn-lt"/>
          <a:ea typeface="+mn-ea"/>
          <a:cs typeface="+mn-cs"/>
        </a:defRPr>
      </a:lvl3pPr>
      <a:lvl4pPr marL="1028700" algn="l" rtl="0" eaLnBrk="1" hangingPunct="1">
        <a:defRPr kern="1200">
          <a:solidFill>
            <a:schemeClr val="tx1"/>
          </a:solidFill>
          <a:latin typeface="+mn-lt"/>
          <a:ea typeface="+mn-ea"/>
          <a:cs typeface="+mn-cs"/>
        </a:defRPr>
      </a:lvl4pPr>
      <a:lvl5pPr marL="1371600" algn="l" rtl="0" eaLnBrk="1" hangingPunct="1">
        <a:defRPr kern="1200">
          <a:solidFill>
            <a:schemeClr val="tx1"/>
          </a:solidFill>
          <a:latin typeface="+mn-lt"/>
          <a:ea typeface="+mn-ea"/>
          <a:cs typeface="+mn-cs"/>
        </a:defRPr>
      </a:lvl5pPr>
      <a:lvl6pPr marL="1714500" algn="l" rtl="0" eaLnBrk="1" hangingPunct="1">
        <a:defRPr kern="1200">
          <a:solidFill>
            <a:schemeClr val="tx1"/>
          </a:solidFill>
          <a:latin typeface="+mn-lt"/>
          <a:ea typeface="+mn-ea"/>
          <a:cs typeface="+mn-cs"/>
        </a:defRPr>
      </a:lvl6pPr>
      <a:lvl7pPr marL="2057400" algn="l" rtl="0" eaLnBrk="1" hangingPunct="1">
        <a:defRPr kern="1200">
          <a:solidFill>
            <a:schemeClr val="tx1"/>
          </a:solidFill>
          <a:latin typeface="+mn-lt"/>
          <a:ea typeface="+mn-ea"/>
          <a:cs typeface="+mn-cs"/>
        </a:defRPr>
      </a:lvl7pPr>
      <a:lvl8pPr marL="2400300" algn="l" rtl="0" eaLnBrk="1" hangingPunct="1">
        <a:defRPr kern="1200">
          <a:solidFill>
            <a:schemeClr val="tx1"/>
          </a:solidFill>
          <a:latin typeface="+mn-lt"/>
          <a:ea typeface="+mn-ea"/>
          <a:cs typeface="+mn-cs"/>
        </a:defRPr>
      </a:lvl8pPr>
      <a:lvl9pPr marL="2743200" algn="l" rtl="0" eaLnBrk="1" hangingPunct="1">
        <a:defRPr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A85A211-1621-40B3-8498-92D63F04F94A}"/>
              </a:ext>
            </a:extLst>
          </p:cNvPr>
          <p:cNvSpPr>
            <a:spLocks noGrp="1"/>
          </p:cNvSpPr>
          <p:nvPr>
            <p:ph type="subTitle" idx="1"/>
          </p:nvPr>
        </p:nvSpPr>
        <p:spPr>
          <a:xfrm>
            <a:off x="2778369" y="6146363"/>
            <a:ext cx="6224953" cy="514350"/>
          </a:xfrm>
        </p:spPr>
        <p:txBody>
          <a:bodyPr>
            <a:noAutofit/>
          </a:bodyPr>
          <a:lstStyle/>
          <a:p>
            <a:pPr algn="just" eaLnBrk="1" fontAlgn="auto" hangingPunct="1">
              <a:spcAft>
                <a:spcPts val="0"/>
              </a:spcAft>
              <a:defRPr/>
            </a:pPr>
            <a:r>
              <a:rPr lang="en-US" sz="1900" dirty="0">
                <a:solidFill>
                  <a:schemeClr val="bg1"/>
                </a:solidFill>
                <a:latin typeface="Times New Roman" panose="02020603050405020304" pitchFamily="18" charset="0"/>
                <a:cs typeface="Times New Roman" panose="02020603050405020304" pitchFamily="18" charset="0"/>
              </a:rPr>
              <a:t>Model Institute of Engineering &amp; Technology (Autonomous)</a:t>
            </a:r>
          </a:p>
        </p:txBody>
      </p:sp>
      <p:pic>
        <p:nvPicPr>
          <p:cNvPr id="17411" name="Picture 3" descr="MIET_icon.png">
            <a:extLst>
              <a:ext uri="{FF2B5EF4-FFF2-40B4-BE49-F238E27FC236}">
                <a16:creationId xmlns:a16="http://schemas.microsoft.com/office/drawing/2014/main" id="{6A8C676B-388B-4B11-B609-B6726FCA0E52}"/>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223521" y="2976419"/>
            <a:ext cx="1920479" cy="29598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2" name="Picture 6" descr="shrast.png">
            <a:extLst>
              <a:ext uri="{FF2B5EF4-FFF2-40B4-BE49-F238E27FC236}">
                <a16:creationId xmlns:a16="http://schemas.microsoft.com/office/drawing/2014/main" id="{863684A2-ACEE-402C-8327-54A487081534}"/>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10268" y="6203513"/>
            <a:ext cx="65365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itle 1">
            <a:extLst>
              <a:ext uri="{FF2B5EF4-FFF2-40B4-BE49-F238E27FC236}">
                <a16:creationId xmlns:a16="http://schemas.microsoft.com/office/drawing/2014/main" id="{E7747A4E-E27F-440E-AC5C-08CA6872DEFA}"/>
              </a:ext>
            </a:extLst>
          </p:cNvPr>
          <p:cNvSpPr txBox="1">
            <a:spLocks/>
          </p:cNvSpPr>
          <p:nvPr/>
        </p:nvSpPr>
        <p:spPr bwMode="auto">
          <a:xfrm>
            <a:off x="1688306" y="1828800"/>
            <a:ext cx="3771900" cy="1371600"/>
          </a:xfrm>
          <a:prstGeom prst="rect">
            <a:avLst/>
          </a:prstGeom>
          <a:noFill/>
          <a:ln w="9525">
            <a:noFill/>
            <a:miter lim="800000"/>
            <a:headEnd/>
            <a:tailEnd/>
          </a:ln>
        </p:spPr>
        <p:txBody>
          <a:bodyPr anchor="b">
            <a:normAutofit fontScale="97500"/>
          </a:bodyPr>
          <a:lstStyle>
            <a:lvl1pPr algn="l" rtl="0" fontAlgn="base">
              <a:spcBef>
                <a:spcPct val="0"/>
              </a:spcBef>
              <a:spcAft>
                <a:spcPct val="0"/>
              </a:spcAft>
              <a:defRPr sz="4400" kern="1200" cap="all" baseline="0">
                <a:solidFill>
                  <a:schemeClr val="tx2"/>
                </a:solidFill>
                <a:latin typeface="+mj-lt"/>
                <a:ea typeface="+mj-ea"/>
                <a:cs typeface="+mj-cs"/>
              </a:defRPr>
            </a:lvl1pPr>
            <a:lvl2pPr algn="l" rtl="0" fontAlgn="base">
              <a:spcBef>
                <a:spcPct val="0"/>
              </a:spcBef>
              <a:spcAft>
                <a:spcPct val="0"/>
              </a:spcAft>
              <a:defRPr sz="4400">
                <a:solidFill>
                  <a:schemeClr val="tx2"/>
                </a:solidFill>
                <a:latin typeface="Tw Cen MT" pitchFamily="34" charset="0"/>
              </a:defRPr>
            </a:lvl2pPr>
            <a:lvl3pPr algn="l" rtl="0" fontAlgn="base">
              <a:spcBef>
                <a:spcPct val="0"/>
              </a:spcBef>
              <a:spcAft>
                <a:spcPct val="0"/>
              </a:spcAft>
              <a:defRPr sz="4400">
                <a:solidFill>
                  <a:schemeClr val="tx2"/>
                </a:solidFill>
                <a:latin typeface="Tw Cen MT" pitchFamily="34" charset="0"/>
              </a:defRPr>
            </a:lvl3pPr>
            <a:lvl4pPr algn="l" rtl="0" fontAlgn="base">
              <a:spcBef>
                <a:spcPct val="0"/>
              </a:spcBef>
              <a:spcAft>
                <a:spcPct val="0"/>
              </a:spcAft>
              <a:defRPr sz="4400">
                <a:solidFill>
                  <a:schemeClr val="tx2"/>
                </a:solidFill>
                <a:latin typeface="Tw Cen MT" pitchFamily="34" charset="0"/>
              </a:defRPr>
            </a:lvl4pPr>
            <a:lvl5pPr algn="l" rtl="0" fontAlgn="base">
              <a:spcBef>
                <a:spcPct val="0"/>
              </a:spcBef>
              <a:spcAft>
                <a:spcPct val="0"/>
              </a:spcAft>
              <a:defRPr sz="4400">
                <a:solidFill>
                  <a:schemeClr val="tx2"/>
                </a:solidFill>
                <a:latin typeface="Tw Cen MT" pitchFamily="34" charset="0"/>
              </a:defRPr>
            </a:lvl5pPr>
            <a:lvl6pPr marL="457200" algn="l" rtl="0" fontAlgn="base">
              <a:spcBef>
                <a:spcPct val="0"/>
              </a:spcBef>
              <a:spcAft>
                <a:spcPct val="0"/>
              </a:spcAft>
              <a:defRPr sz="4400">
                <a:solidFill>
                  <a:schemeClr val="tx2"/>
                </a:solidFill>
                <a:latin typeface="Tw Cen MT" pitchFamily="34" charset="0"/>
              </a:defRPr>
            </a:lvl6pPr>
            <a:lvl7pPr marL="914400" algn="l" rtl="0" fontAlgn="base">
              <a:spcBef>
                <a:spcPct val="0"/>
              </a:spcBef>
              <a:spcAft>
                <a:spcPct val="0"/>
              </a:spcAft>
              <a:defRPr sz="4400">
                <a:solidFill>
                  <a:schemeClr val="tx2"/>
                </a:solidFill>
                <a:latin typeface="Tw Cen MT" pitchFamily="34" charset="0"/>
              </a:defRPr>
            </a:lvl7pPr>
            <a:lvl8pPr marL="1371600" algn="l" rtl="0" fontAlgn="base">
              <a:spcBef>
                <a:spcPct val="0"/>
              </a:spcBef>
              <a:spcAft>
                <a:spcPct val="0"/>
              </a:spcAft>
              <a:defRPr sz="4400">
                <a:solidFill>
                  <a:schemeClr val="tx2"/>
                </a:solidFill>
                <a:latin typeface="Tw Cen MT" pitchFamily="34" charset="0"/>
              </a:defRPr>
            </a:lvl8pPr>
            <a:lvl9pPr marL="1828800" algn="l" rtl="0" fontAlgn="base">
              <a:spcBef>
                <a:spcPct val="0"/>
              </a:spcBef>
              <a:spcAft>
                <a:spcPct val="0"/>
              </a:spcAft>
              <a:defRPr sz="4400">
                <a:solidFill>
                  <a:schemeClr val="tx2"/>
                </a:solidFill>
                <a:latin typeface="Tw Cen MT" pitchFamily="34" charset="0"/>
              </a:defRPr>
            </a:lvl9pPr>
          </a:lstStyle>
          <a:p>
            <a:pPr eaLnBrk="1" hangingPunct="1">
              <a:defRPr/>
            </a:pPr>
            <a:endParaRPr lang="en-US" sz="2250" dirty="0">
              <a:solidFill>
                <a:srgbClr val="424456"/>
              </a:solidFill>
              <a:latin typeface="Times New Roman" pitchFamily="18" charset="0"/>
              <a:cs typeface="Times New Roman" pitchFamily="18" charset="0"/>
            </a:endParaRPr>
          </a:p>
        </p:txBody>
      </p:sp>
      <p:sp>
        <p:nvSpPr>
          <p:cNvPr id="17415" name="TextBox 3">
            <a:extLst>
              <a:ext uri="{FF2B5EF4-FFF2-40B4-BE49-F238E27FC236}">
                <a16:creationId xmlns:a16="http://schemas.microsoft.com/office/drawing/2014/main" id="{829753C7-FA66-496E-A2F6-D15FD2486C5E}"/>
              </a:ext>
            </a:extLst>
          </p:cNvPr>
          <p:cNvSpPr txBox="1">
            <a:spLocks noChangeArrowheads="1"/>
          </p:cNvSpPr>
          <p:nvPr/>
        </p:nvSpPr>
        <p:spPr bwMode="auto">
          <a:xfrm>
            <a:off x="0" y="437108"/>
            <a:ext cx="9228083" cy="49090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r>
              <a:rPr lang="en-US" altLang="en-US" sz="2400" b="1" u="sng" dirty="0">
                <a:solidFill>
                  <a:srgbClr val="000000"/>
                </a:solidFill>
                <a:latin typeface="Times New Roman" panose="02020603050405020304" pitchFamily="18" charset="0"/>
                <a:cs typeface="Times New Roman" panose="02020603050405020304" pitchFamily="18" charset="0"/>
              </a:rPr>
              <a:t>DEPARTMENT OF COMPUTER SCIENCE AND ENGINEERING</a:t>
            </a:r>
          </a:p>
          <a:p>
            <a:pPr algn="ctr" eaLnBrk="1" hangingPunct="1"/>
            <a:endParaRPr lang="en-US" altLang="en-US" sz="2200" b="1" dirty="0">
              <a:solidFill>
                <a:srgbClr val="000000"/>
              </a:solidFill>
              <a:latin typeface="Times New Roman" panose="02020603050405020304" pitchFamily="18" charset="0"/>
              <a:cs typeface="Times New Roman" panose="02020603050405020304" pitchFamily="18" charset="0"/>
            </a:endParaRPr>
          </a:p>
          <a:p>
            <a:pPr algn="ctr" eaLnBrk="1" hangingPunct="1"/>
            <a:r>
              <a:rPr lang="en-US" altLang="en-US" sz="2200" b="1" dirty="0">
                <a:solidFill>
                  <a:srgbClr val="000000"/>
                </a:solidFill>
                <a:latin typeface="Times New Roman" panose="02020603050405020304" pitchFamily="18" charset="0"/>
                <a:cs typeface="Times New Roman" panose="02020603050405020304" pitchFamily="18" charset="0"/>
              </a:rPr>
              <a:t>MDC-CS-501 Project Evaluation</a:t>
            </a:r>
          </a:p>
          <a:p>
            <a:pPr algn="ctr" eaLnBrk="1" hangingPunct="1"/>
            <a:r>
              <a:rPr lang="en-US" altLang="en-US" sz="2200" b="1" dirty="0">
                <a:solidFill>
                  <a:srgbClr val="000000"/>
                </a:solidFill>
                <a:latin typeface="Times New Roman" panose="02020603050405020304" pitchFamily="18" charset="0"/>
                <a:cs typeface="Times New Roman" panose="02020603050405020304" pitchFamily="18" charset="0"/>
              </a:rPr>
              <a:t>For</a:t>
            </a:r>
          </a:p>
          <a:p>
            <a:pPr algn="ctr" eaLnBrk="1" hangingPunct="1"/>
            <a:r>
              <a:rPr lang="en-US" altLang="en-US" sz="2000" b="1" dirty="0">
                <a:solidFill>
                  <a:srgbClr val="000000"/>
                </a:solidFill>
                <a:latin typeface="Times New Roman" panose="02020603050405020304" pitchFamily="18" charset="0"/>
                <a:cs typeface="Times New Roman" panose="02020603050405020304" pitchFamily="18" charset="0"/>
              </a:rPr>
              <a:t>B.Tech CSE (Cyber Security), 5th Sem – Batch 2024</a:t>
            </a:r>
          </a:p>
          <a:p>
            <a:pPr algn="ctr" eaLnBrk="1" hangingPunct="1">
              <a:lnSpc>
                <a:spcPct val="150000"/>
              </a:lnSpc>
            </a:pPr>
            <a:r>
              <a:rPr lang="en-US" altLang="en-US" sz="2600" b="1" dirty="0">
                <a:solidFill>
                  <a:srgbClr val="53548A"/>
                </a:solidFill>
                <a:latin typeface="Times New Roman" panose="02020603050405020304" pitchFamily="18" charset="0"/>
                <a:cs typeface="Times New Roman" panose="02020603050405020304" pitchFamily="18" charset="0"/>
              </a:rPr>
              <a:t>Linux Persistence Change Sentinel</a:t>
            </a:r>
          </a:p>
          <a:p>
            <a:pPr algn="ctr" eaLnBrk="1" hangingPunct="1"/>
            <a:endParaRPr lang="en-US" altLang="en-US" sz="2200" b="1" dirty="0">
              <a:solidFill>
                <a:srgbClr val="000000"/>
              </a:solidFill>
              <a:latin typeface="Times New Roman" panose="02020603050405020304" pitchFamily="18" charset="0"/>
              <a:cs typeface="Times New Roman" panose="02020603050405020304" pitchFamily="18" charset="0"/>
            </a:endParaRPr>
          </a:p>
          <a:p>
            <a:pPr algn="ctr" eaLnBrk="1" hangingPunct="1"/>
            <a:endParaRPr lang="en-US" altLang="en-US" sz="2200" b="1" dirty="0">
              <a:solidFill>
                <a:srgbClr val="000000"/>
              </a:solidFill>
              <a:latin typeface="Times New Roman" panose="02020603050405020304" pitchFamily="18" charset="0"/>
              <a:cs typeface="Times New Roman" panose="02020603050405020304" pitchFamily="18" charset="0"/>
            </a:endParaRPr>
          </a:p>
          <a:p>
            <a:pPr algn="ctr" eaLnBrk="1" hangingPunct="1"/>
            <a:endParaRPr lang="en-US" altLang="en-US" sz="2200" b="1" dirty="0">
              <a:solidFill>
                <a:srgbClr val="000000"/>
              </a:solidFill>
              <a:latin typeface="Times New Roman" panose="02020603050405020304" pitchFamily="18" charset="0"/>
              <a:cs typeface="Times New Roman" panose="02020603050405020304" pitchFamily="18" charset="0"/>
            </a:endParaRPr>
          </a:p>
          <a:p>
            <a:pPr eaLnBrk="1" hangingPunct="1"/>
            <a:r>
              <a:rPr lang="en-US" altLang="en-US" sz="1900" b="1" dirty="0">
                <a:solidFill>
                  <a:srgbClr val="000000"/>
                </a:solidFill>
                <a:latin typeface="Times New Roman" panose="02020603050405020304" pitchFamily="18" charset="0"/>
                <a:cs typeface="Times New Roman" panose="02020603050405020304" pitchFamily="18" charset="0"/>
              </a:rPr>
              <a:t>Presented by</a:t>
            </a:r>
          </a:p>
          <a:p>
            <a:pPr eaLnBrk="1" hangingPunct="1"/>
            <a:r>
              <a:rPr lang="en-US" altLang="en-US" sz="1900" b="1" dirty="0">
                <a:solidFill>
                  <a:srgbClr val="000000"/>
                </a:solidFill>
                <a:latin typeface="Times New Roman" panose="02020603050405020304" pitchFamily="18" charset="0"/>
                <a:cs typeface="Times New Roman" panose="02020603050405020304" pitchFamily="18" charset="0"/>
              </a:rPr>
              <a:t>Arun Kumar  (2024A7R025)</a:t>
            </a:r>
          </a:p>
          <a:p>
            <a:pPr eaLnBrk="1" hangingPunct="1"/>
            <a:r>
              <a:rPr lang="en-US" altLang="en-US" sz="1900" b="1" dirty="0">
                <a:solidFill>
                  <a:srgbClr val="000000"/>
                </a:solidFill>
                <a:latin typeface="Times New Roman" panose="02020603050405020304" pitchFamily="18" charset="0"/>
                <a:cs typeface="Times New Roman" panose="02020603050405020304" pitchFamily="18" charset="0"/>
              </a:rPr>
              <a:t>Abhishek Sharma  (2024A7R058)</a:t>
            </a:r>
          </a:p>
          <a:p>
            <a:pPr eaLnBrk="1" hangingPunct="1"/>
            <a:r>
              <a:rPr sz="1900" b="1" dirty="0">
                <a:solidFill>
                  <a:srgbClr val="000000"/>
                </a:solidFill>
                <a:latin typeface="Times New Roman"/>
              </a:rPr>
              <a:t>MIET, Jammu  |  Academic Year 2026</a:t>
            </a:r>
            <a:endParaRPr lang="en-IN" altLang="en-US" sz="2200" b="1" dirty="0">
              <a:solidFill>
                <a:srgbClr val="000000"/>
              </a:solidFill>
              <a:latin typeface="Times New Roman" panose="02020603050405020304" pitchFamily="18" charset="0"/>
              <a:cs typeface="Times New Roman" panose="02020603050405020304" pitchFamily="18" charset="0"/>
            </a:endParaRPr>
          </a:p>
          <a:p>
            <a:pPr eaLnBrk="1" hangingPunct="1"/>
            <a:endParaRPr lang="en-IN" altLang="en-US" sz="2200" b="1"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16404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Table of Contents</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2</a:t>
            </a:fld>
            <a:endParaRPr lang="en-US" altLang="en-US"/>
          </a:p>
        </p:txBody>
      </p:sp>
      <p:sp>
        <p:nvSpPr>
          <p:cNvPr id="10" name="TextBox 9"/>
          <p:cNvSpPr txBox="1"/>
          <p:nvPr/>
        </p:nvSpPr>
        <p:spPr>
          <a:xfrm>
            <a:off x="640080" y="1691640"/>
            <a:ext cx="457200" cy="329184"/>
          </a:xfrm>
          <a:prstGeom prst="rect">
            <a:avLst/>
          </a:prstGeom>
          <a:noFill/>
        </p:spPr>
        <p:txBody>
          <a:bodyPr wrap="square" lIns="45720" tIns="27432" rIns="45720" bIns="27432" anchor="ctr">
            <a:spAutoFit/>
          </a:bodyPr>
          <a:lstStyle/>
          <a:p>
            <a:pPr algn="r">
              <a:spcAft>
                <a:spcPts val="400"/>
              </a:spcAft>
            </a:pPr>
            <a:r>
              <a:rPr sz="1600" b="1" i="0">
                <a:solidFill>
                  <a:srgbClr val="53548A"/>
                </a:solidFill>
                <a:latin typeface="Times New Roman"/>
                <a:cs typeface="Times New Roman"/>
              </a:rPr>
              <a:t>1</a:t>
            </a:r>
          </a:p>
        </p:txBody>
      </p:sp>
      <p:sp>
        <p:nvSpPr>
          <p:cNvPr id="11" name="TextBox 10"/>
          <p:cNvSpPr txBox="1"/>
          <p:nvPr/>
        </p:nvSpPr>
        <p:spPr>
          <a:xfrm>
            <a:off x="1188720" y="1691640"/>
            <a:ext cx="4663440" cy="329184"/>
          </a:xfrm>
          <a:prstGeom prst="rect">
            <a:avLst/>
          </a:prstGeom>
          <a:noFill/>
        </p:spPr>
        <p:txBody>
          <a:bodyPr wrap="square" lIns="45720" tIns="27432" rIns="45720" bIns="27432" anchor="ctr">
            <a:spAutoFit/>
          </a:bodyPr>
          <a:lstStyle/>
          <a:p>
            <a:pPr algn="l">
              <a:spcAft>
                <a:spcPts val="400"/>
              </a:spcAft>
            </a:pPr>
            <a:r>
              <a:rPr sz="1600" b="0" i="0">
                <a:solidFill>
                  <a:srgbClr val="424456"/>
                </a:solidFill>
                <a:latin typeface="Times New Roman"/>
                <a:cs typeface="Times New Roman"/>
              </a:rPr>
              <a:t>Introduction &amp; Background</a:t>
            </a:r>
          </a:p>
        </p:txBody>
      </p:sp>
      <p:sp>
        <p:nvSpPr>
          <p:cNvPr id="12" name="TextBox 11"/>
          <p:cNvSpPr txBox="1"/>
          <p:nvPr/>
        </p:nvSpPr>
        <p:spPr>
          <a:xfrm>
            <a:off x="640080" y="2057400"/>
            <a:ext cx="457200" cy="329184"/>
          </a:xfrm>
          <a:prstGeom prst="rect">
            <a:avLst/>
          </a:prstGeom>
          <a:noFill/>
        </p:spPr>
        <p:txBody>
          <a:bodyPr wrap="square" lIns="45720" tIns="27432" rIns="45720" bIns="27432" anchor="ctr">
            <a:spAutoFit/>
          </a:bodyPr>
          <a:lstStyle/>
          <a:p>
            <a:pPr algn="r">
              <a:spcAft>
                <a:spcPts val="400"/>
              </a:spcAft>
            </a:pPr>
            <a:r>
              <a:rPr sz="1600" b="1" i="0">
                <a:solidFill>
                  <a:srgbClr val="53548A"/>
                </a:solidFill>
                <a:latin typeface="Times New Roman"/>
                <a:cs typeface="Times New Roman"/>
              </a:rPr>
              <a:t>2</a:t>
            </a:r>
          </a:p>
        </p:txBody>
      </p:sp>
      <p:sp>
        <p:nvSpPr>
          <p:cNvPr id="13" name="TextBox 12"/>
          <p:cNvSpPr txBox="1"/>
          <p:nvPr/>
        </p:nvSpPr>
        <p:spPr>
          <a:xfrm>
            <a:off x="1188720" y="2057400"/>
            <a:ext cx="4663440" cy="329184"/>
          </a:xfrm>
          <a:prstGeom prst="rect">
            <a:avLst/>
          </a:prstGeom>
          <a:noFill/>
        </p:spPr>
        <p:txBody>
          <a:bodyPr wrap="square" lIns="45720" tIns="27432" rIns="45720" bIns="27432" anchor="ctr">
            <a:spAutoFit/>
          </a:bodyPr>
          <a:lstStyle/>
          <a:p>
            <a:pPr algn="l">
              <a:spcAft>
                <a:spcPts val="400"/>
              </a:spcAft>
            </a:pPr>
            <a:r>
              <a:rPr sz="1600" b="0" i="0">
                <a:solidFill>
                  <a:srgbClr val="424456"/>
                </a:solidFill>
                <a:latin typeface="Times New Roman"/>
                <a:cs typeface="Times New Roman"/>
              </a:rPr>
              <a:t>Problem Statement</a:t>
            </a:r>
          </a:p>
        </p:txBody>
      </p:sp>
      <p:sp>
        <p:nvSpPr>
          <p:cNvPr id="14" name="TextBox 13"/>
          <p:cNvSpPr txBox="1"/>
          <p:nvPr/>
        </p:nvSpPr>
        <p:spPr>
          <a:xfrm>
            <a:off x="640080" y="2423160"/>
            <a:ext cx="457200" cy="329184"/>
          </a:xfrm>
          <a:prstGeom prst="rect">
            <a:avLst/>
          </a:prstGeom>
          <a:noFill/>
        </p:spPr>
        <p:txBody>
          <a:bodyPr wrap="square" lIns="45720" tIns="27432" rIns="45720" bIns="27432" anchor="ctr">
            <a:spAutoFit/>
          </a:bodyPr>
          <a:lstStyle/>
          <a:p>
            <a:pPr algn="r">
              <a:spcAft>
                <a:spcPts val="400"/>
              </a:spcAft>
            </a:pPr>
            <a:r>
              <a:rPr sz="1600" b="1" i="0">
                <a:solidFill>
                  <a:srgbClr val="53548A"/>
                </a:solidFill>
                <a:latin typeface="Times New Roman"/>
                <a:cs typeface="Times New Roman"/>
              </a:rPr>
              <a:t>3</a:t>
            </a:r>
          </a:p>
        </p:txBody>
      </p:sp>
      <p:sp>
        <p:nvSpPr>
          <p:cNvPr id="15" name="TextBox 14"/>
          <p:cNvSpPr txBox="1"/>
          <p:nvPr/>
        </p:nvSpPr>
        <p:spPr>
          <a:xfrm>
            <a:off x="1188720" y="2423160"/>
            <a:ext cx="4663440" cy="329184"/>
          </a:xfrm>
          <a:prstGeom prst="rect">
            <a:avLst/>
          </a:prstGeom>
          <a:noFill/>
        </p:spPr>
        <p:txBody>
          <a:bodyPr wrap="square" lIns="45720" tIns="27432" rIns="45720" bIns="27432" anchor="ctr">
            <a:spAutoFit/>
          </a:bodyPr>
          <a:lstStyle/>
          <a:p>
            <a:pPr algn="l">
              <a:spcAft>
                <a:spcPts val="400"/>
              </a:spcAft>
            </a:pPr>
            <a:r>
              <a:rPr sz="1600" b="0" i="0">
                <a:solidFill>
                  <a:srgbClr val="424456"/>
                </a:solidFill>
                <a:latin typeface="Times New Roman"/>
                <a:cs typeface="Times New Roman"/>
              </a:rPr>
              <a:t>Project Objectives</a:t>
            </a:r>
          </a:p>
        </p:txBody>
      </p:sp>
      <p:sp>
        <p:nvSpPr>
          <p:cNvPr id="16" name="TextBox 15"/>
          <p:cNvSpPr txBox="1"/>
          <p:nvPr/>
        </p:nvSpPr>
        <p:spPr>
          <a:xfrm>
            <a:off x="640080" y="2788920"/>
            <a:ext cx="457200" cy="329184"/>
          </a:xfrm>
          <a:prstGeom prst="rect">
            <a:avLst/>
          </a:prstGeom>
          <a:noFill/>
        </p:spPr>
        <p:txBody>
          <a:bodyPr wrap="square" lIns="45720" tIns="27432" rIns="45720" bIns="27432" anchor="ctr">
            <a:spAutoFit/>
          </a:bodyPr>
          <a:lstStyle/>
          <a:p>
            <a:pPr algn="r">
              <a:spcAft>
                <a:spcPts val="400"/>
              </a:spcAft>
            </a:pPr>
            <a:r>
              <a:rPr sz="1600" b="1" i="0">
                <a:solidFill>
                  <a:srgbClr val="53548A"/>
                </a:solidFill>
                <a:latin typeface="Times New Roman"/>
                <a:cs typeface="Times New Roman"/>
              </a:rPr>
              <a:t>4</a:t>
            </a:r>
          </a:p>
        </p:txBody>
      </p:sp>
      <p:sp>
        <p:nvSpPr>
          <p:cNvPr id="17" name="TextBox 16"/>
          <p:cNvSpPr txBox="1"/>
          <p:nvPr/>
        </p:nvSpPr>
        <p:spPr>
          <a:xfrm>
            <a:off x="1188720" y="2788920"/>
            <a:ext cx="4663440" cy="329184"/>
          </a:xfrm>
          <a:prstGeom prst="rect">
            <a:avLst/>
          </a:prstGeom>
          <a:noFill/>
        </p:spPr>
        <p:txBody>
          <a:bodyPr wrap="square" lIns="45720" tIns="27432" rIns="45720" bIns="27432" anchor="ctr">
            <a:spAutoFit/>
          </a:bodyPr>
          <a:lstStyle/>
          <a:p>
            <a:pPr algn="l">
              <a:spcAft>
                <a:spcPts val="400"/>
              </a:spcAft>
            </a:pPr>
            <a:r>
              <a:rPr sz="1600" b="0" i="0">
                <a:solidFill>
                  <a:srgbClr val="424456"/>
                </a:solidFill>
                <a:latin typeface="Times New Roman"/>
                <a:cs typeface="Times New Roman"/>
              </a:rPr>
              <a:t>Linux Persistence: Core Concepts</a:t>
            </a:r>
          </a:p>
        </p:txBody>
      </p:sp>
      <p:sp>
        <p:nvSpPr>
          <p:cNvPr id="18" name="TextBox 17"/>
          <p:cNvSpPr txBox="1"/>
          <p:nvPr/>
        </p:nvSpPr>
        <p:spPr>
          <a:xfrm>
            <a:off x="640080" y="3154679"/>
            <a:ext cx="457200" cy="329184"/>
          </a:xfrm>
          <a:prstGeom prst="rect">
            <a:avLst/>
          </a:prstGeom>
          <a:noFill/>
        </p:spPr>
        <p:txBody>
          <a:bodyPr wrap="square" lIns="45720" tIns="27432" rIns="45720" bIns="27432" anchor="ctr">
            <a:spAutoFit/>
          </a:bodyPr>
          <a:lstStyle/>
          <a:p>
            <a:pPr algn="r">
              <a:spcAft>
                <a:spcPts val="400"/>
              </a:spcAft>
            </a:pPr>
            <a:r>
              <a:rPr sz="1600" b="1" i="0">
                <a:solidFill>
                  <a:srgbClr val="53548A"/>
                </a:solidFill>
                <a:latin typeface="Times New Roman"/>
                <a:cs typeface="Times New Roman"/>
              </a:rPr>
              <a:t>5</a:t>
            </a:r>
          </a:p>
        </p:txBody>
      </p:sp>
      <p:sp>
        <p:nvSpPr>
          <p:cNvPr id="19" name="TextBox 18"/>
          <p:cNvSpPr txBox="1"/>
          <p:nvPr/>
        </p:nvSpPr>
        <p:spPr>
          <a:xfrm>
            <a:off x="1188720" y="3154679"/>
            <a:ext cx="4663440" cy="329184"/>
          </a:xfrm>
          <a:prstGeom prst="rect">
            <a:avLst/>
          </a:prstGeom>
          <a:noFill/>
        </p:spPr>
        <p:txBody>
          <a:bodyPr wrap="square" lIns="45720" tIns="27432" rIns="45720" bIns="27432" anchor="ctr">
            <a:spAutoFit/>
          </a:bodyPr>
          <a:lstStyle/>
          <a:p>
            <a:pPr algn="l">
              <a:spcAft>
                <a:spcPts val="400"/>
              </a:spcAft>
            </a:pPr>
            <a:r>
              <a:rPr sz="1600" b="0" i="0">
                <a:solidFill>
                  <a:srgbClr val="424456"/>
                </a:solidFill>
                <a:latin typeface="Times New Roman"/>
                <a:cs typeface="Times New Roman"/>
              </a:rPr>
              <a:t>Proposed Solution: Scope &amp; Boundaries</a:t>
            </a:r>
          </a:p>
        </p:txBody>
      </p:sp>
      <p:sp>
        <p:nvSpPr>
          <p:cNvPr id="20" name="TextBox 19"/>
          <p:cNvSpPr txBox="1"/>
          <p:nvPr/>
        </p:nvSpPr>
        <p:spPr>
          <a:xfrm>
            <a:off x="640080" y="3520439"/>
            <a:ext cx="457200" cy="329184"/>
          </a:xfrm>
          <a:prstGeom prst="rect">
            <a:avLst/>
          </a:prstGeom>
          <a:noFill/>
        </p:spPr>
        <p:txBody>
          <a:bodyPr wrap="square" lIns="45720" tIns="27432" rIns="45720" bIns="27432" anchor="ctr">
            <a:spAutoFit/>
          </a:bodyPr>
          <a:lstStyle/>
          <a:p>
            <a:pPr algn="r">
              <a:spcAft>
                <a:spcPts val="400"/>
              </a:spcAft>
            </a:pPr>
            <a:r>
              <a:rPr sz="1600" b="1" i="0">
                <a:solidFill>
                  <a:srgbClr val="53548A"/>
                </a:solidFill>
                <a:latin typeface="Times New Roman"/>
                <a:cs typeface="Times New Roman"/>
              </a:rPr>
              <a:t>6</a:t>
            </a:r>
          </a:p>
        </p:txBody>
      </p:sp>
      <p:sp>
        <p:nvSpPr>
          <p:cNvPr id="21" name="TextBox 20"/>
          <p:cNvSpPr txBox="1"/>
          <p:nvPr/>
        </p:nvSpPr>
        <p:spPr>
          <a:xfrm>
            <a:off x="1188720" y="3520439"/>
            <a:ext cx="4663440" cy="329184"/>
          </a:xfrm>
          <a:prstGeom prst="rect">
            <a:avLst/>
          </a:prstGeom>
          <a:noFill/>
        </p:spPr>
        <p:txBody>
          <a:bodyPr wrap="square" lIns="45720" tIns="27432" rIns="45720" bIns="27432" anchor="ctr">
            <a:spAutoFit/>
          </a:bodyPr>
          <a:lstStyle/>
          <a:p>
            <a:pPr algn="l">
              <a:spcAft>
                <a:spcPts val="400"/>
              </a:spcAft>
            </a:pPr>
            <a:r>
              <a:rPr sz="1600" b="0" i="0">
                <a:solidFill>
                  <a:srgbClr val="424456"/>
                </a:solidFill>
                <a:latin typeface="Times New Roman"/>
                <a:cs typeface="Times New Roman"/>
              </a:rPr>
              <a:t>System Architecture</a:t>
            </a:r>
          </a:p>
        </p:txBody>
      </p:sp>
      <p:sp>
        <p:nvSpPr>
          <p:cNvPr id="22" name="TextBox 21"/>
          <p:cNvSpPr txBox="1"/>
          <p:nvPr/>
        </p:nvSpPr>
        <p:spPr>
          <a:xfrm>
            <a:off x="640080" y="3886200"/>
            <a:ext cx="457200" cy="329184"/>
          </a:xfrm>
          <a:prstGeom prst="rect">
            <a:avLst/>
          </a:prstGeom>
          <a:noFill/>
        </p:spPr>
        <p:txBody>
          <a:bodyPr wrap="square" lIns="45720" tIns="27432" rIns="45720" bIns="27432" anchor="ctr">
            <a:spAutoFit/>
          </a:bodyPr>
          <a:lstStyle/>
          <a:p>
            <a:pPr algn="r">
              <a:spcAft>
                <a:spcPts val="400"/>
              </a:spcAft>
            </a:pPr>
            <a:r>
              <a:rPr sz="1600" b="1" i="0">
                <a:solidFill>
                  <a:srgbClr val="53548A"/>
                </a:solidFill>
                <a:latin typeface="Times New Roman"/>
                <a:cs typeface="Times New Roman"/>
              </a:rPr>
              <a:t>7</a:t>
            </a:r>
          </a:p>
        </p:txBody>
      </p:sp>
      <p:sp>
        <p:nvSpPr>
          <p:cNvPr id="23" name="TextBox 22"/>
          <p:cNvSpPr txBox="1"/>
          <p:nvPr/>
        </p:nvSpPr>
        <p:spPr>
          <a:xfrm>
            <a:off x="1188720" y="3886200"/>
            <a:ext cx="4663440" cy="329184"/>
          </a:xfrm>
          <a:prstGeom prst="rect">
            <a:avLst/>
          </a:prstGeom>
          <a:noFill/>
        </p:spPr>
        <p:txBody>
          <a:bodyPr wrap="square" lIns="45720" tIns="27432" rIns="45720" bIns="27432" anchor="ctr">
            <a:spAutoFit/>
          </a:bodyPr>
          <a:lstStyle/>
          <a:p>
            <a:pPr algn="l">
              <a:spcAft>
                <a:spcPts val="400"/>
              </a:spcAft>
            </a:pPr>
            <a:r>
              <a:rPr sz="1600" b="0" i="0">
                <a:solidFill>
                  <a:srgbClr val="424456"/>
                </a:solidFill>
                <a:latin typeface="Times New Roman"/>
                <a:cs typeface="Times New Roman"/>
              </a:rPr>
              <a:t>Technologies &amp; Tools</a:t>
            </a:r>
          </a:p>
        </p:txBody>
      </p:sp>
      <p:sp>
        <p:nvSpPr>
          <p:cNvPr id="24" name="TextBox 23"/>
          <p:cNvSpPr txBox="1"/>
          <p:nvPr/>
        </p:nvSpPr>
        <p:spPr>
          <a:xfrm>
            <a:off x="640080" y="4251960"/>
            <a:ext cx="457200" cy="329184"/>
          </a:xfrm>
          <a:prstGeom prst="rect">
            <a:avLst/>
          </a:prstGeom>
          <a:noFill/>
        </p:spPr>
        <p:txBody>
          <a:bodyPr wrap="square" lIns="45720" tIns="27432" rIns="45720" bIns="27432" anchor="ctr">
            <a:spAutoFit/>
          </a:bodyPr>
          <a:lstStyle/>
          <a:p>
            <a:pPr algn="r">
              <a:spcAft>
                <a:spcPts val="400"/>
              </a:spcAft>
            </a:pPr>
            <a:r>
              <a:rPr sz="1600" b="1" i="0">
                <a:solidFill>
                  <a:srgbClr val="53548A"/>
                </a:solidFill>
                <a:latin typeface="Times New Roman"/>
                <a:cs typeface="Times New Roman"/>
              </a:rPr>
              <a:t>8</a:t>
            </a:r>
          </a:p>
        </p:txBody>
      </p:sp>
      <p:sp>
        <p:nvSpPr>
          <p:cNvPr id="25" name="TextBox 24"/>
          <p:cNvSpPr txBox="1"/>
          <p:nvPr/>
        </p:nvSpPr>
        <p:spPr>
          <a:xfrm>
            <a:off x="1188720" y="4251960"/>
            <a:ext cx="4663440" cy="329184"/>
          </a:xfrm>
          <a:prstGeom prst="rect">
            <a:avLst/>
          </a:prstGeom>
          <a:noFill/>
        </p:spPr>
        <p:txBody>
          <a:bodyPr wrap="square" lIns="45720" tIns="27432" rIns="45720" bIns="27432" anchor="ctr">
            <a:spAutoFit/>
          </a:bodyPr>
          <a:lstStyle/>
          <a:p>
            <a:pPr algn="l">
              <a:spcAft>
                <a:spcPts val="400"/>
              </a:spcAft>
            </a:pPr>
            <a:r>
              <a:rPr sz="1600" b="0" i="0">
                <a:solidFill>
                  <a:srgbClr val="424456"/>
                </a:solidFill>
                <a:latin typeface="Times New Roman"/>
                <a:cs typeface="Times New Roman"/>
              </a:rPr>
              <a:t>Working Methodology</a:t>
            </a:r>
          </a:p>
        </p:txBody>
      </p:sp>
      <p:sp>
        <p:nvSpPr>
          <p:cNvPr id="26" name="TextBox 25"/>
          <p:cNvSpPr txBox="1"/>
          <p:nvPr/>
        </p:nvSpPr>
        <p:spPr>
          <a:xfrm>
            <a:off x="640080" y="4617720"/>
            <a:ext cx="457200" cy="329184"/>
          </a:xfrm>
          <a:prstGeom prst="rect">
            <a:avLst/>
          </a:prstGeom>
          <a:noFill/>
        </p:spPr>
        <p:txBody>
          <a:bodyPr wrap="square" lIns="45720" tIns="27432" rIns="45720" bIns="27432" anchor="ctr">
            <a:spAutoFit/>
          </a:bodyPr>
          <a:lstStyle/>
          <a:p>
            <a:pPr algn="r">
              <a:spcAft>
                <a:spcPts val="400"/>
              </a:spcAft>
            </a:pPr>
            <a:r>
              <a:rPr sz="1600" b="1" i="0">
                <a:solidFill>
                  <a:srgbClr val="53548A"/>
                </a:solidFill>
                <a:latin typeface="Times New Roman"/>
                <a:cs typeface="Times New Roman"/>
              </a:rPr>
              <a:t>9</a:t>
            </a:r>
          </a:p>
        </p:txBody>
      </p:sp>
      <p:sp>
        <p:nvSpPr>
          <p:cNvPr id="27" name="TextBox 26"/>
          <p:cNvSpPr txBox="1"/>
          <p:nvPr/>
        </p:nvSpPr>
        <p:spPr>
          <a:xfrm>
            <a:off x="1188720" y="4617720"/>
            <a:ext cx="4663440" cy="329184"/>
          </a:xfrm>
          <a:prstGeom prst="rect">
            <a:avLst/>
          </a:prstGeom>
          <a:noFill/>
        </p:spPr>
        <p:txBody>
          <a:bodyPr wrap="square" lIns="45720" tIns="27432" rIns="45720" bIns="27432" anchor="ctr">
            <a:spAutoFit/>
          </a:bodyPr>
          <a:lstStyle/>
          <a:p>
            <a:pPr algn="l">
              <a:spcAft>
                <a:spcPts val="400"/>
              </a:spcAft>
            </a:pPr>
            <a:r>
              <a:rPr sz="1600" b="0" i="0">
                <a:solidFill>
                  <a:srgbClr val="424456"/>
                </a:solidFill>
                <a:latin typeface="Times New Roman"/>
                <a:cs typeface="Times New Roman"/>
              </a:rPr>
              <a:t>Change Detection Demonstration</a:t>
            </a:r>
          </a:p>
        </p:txBody>
      </p:sp>
      <p:sp>
        <p:nvSpPr>
          <p:cNvPr id="28" name="TextBox 27"/>
          <p:cNvSpPr txBox="1"/>
          <p:nvPr/>
        </p:nvSpPr>
        <p:spPr>
          <a:xfrm>
            <a:off x="640080" y="4983480"/>
            <a:ext cx="457200" cy="329184"/>
          </a:xfrm>
          <a:prstGeom prst="rect">
            <a:avLst/>
          </a:prstGeom>
          <a:noFill/>
        </p:spPr>
        <p:txBody>
          <a:bodyPr wrap="square" lIns="45720" tIns="27432" rIns="45720" bIns="27432" anchor="ctr">
            <a:spAutoFit/>
          </a:bodyPr>
          <a:lstStyle/>
          <a:p>
            <a:pPr algn="r">
              <a:spcAft>
                <a:spcPts val="400"/>
              </a:spcAft>
            </a:pPr>
            <a:r>
              <a:rPr sz="1600" b="1" i="0">
                <a:solidFill>
                  <a:srgbClr val="53548A"/>
                </a:solidFill>
                <a:latin typeface="Times New Roman"/>
                <a:cs typeface="Times New Roman"/>
              </a:rPr>
              <a:t>10</a:t>
            </a:r>
          </a:p>
        </p:txBody>
      </p:sp>
      <p:sp>
        <p:nvSpPr>
          <p:cNvPr id="29" name="TextBox 28"/>
          <p:cNvSpPr txBox="1"/>
          <p:nvPr/>
        </p:nvSpPr>
        <p:spPr>
          <a:xfrm>
            <a:off x="1188720" y="4983480"/>
            <a:ext cx="4663440" cy="329184"/>
          </a:xfrm>
          <a:prstGeom prst="rect">
            <a:avLst/>
          </a:prstGeom>
          <a:noFill/>
        </p:spPr>
        <p:txBody>
          <a:bodyPr wrap="square" lIns="45720" tIns="27432" rIns="45720" bIns="27432" anchor="ctr">
            <a:spAutoFit/>
          </a:bodyPr>
          <a:lstStyle/>
          <a:p>
            <a:pPr algn="l">
              <a:spcAft>
                <a:spcPts val="400"/>
              </a:spcAft>
            </a:pPr>
            <a:r>
              <a:rPr sz="1600" b="0" i="0">
                <a:solidFill>
                  <a:srgbClr val="424456"/>
                </a:solidFill>
                <a:latin typeface="Times New Roman"/>
                <a:cs typeface="Times New Roman"/>
              </a:rPr>
              <a:t>SOC Dashboard &amp; Results</a:t>
            </a:r>
          </a:p>
        </p:txBody>
      </p:sp>
      <p:sp>
        <p:nvSpPr>
          <p:cNvPr id="30" name="TextBox 29"/>
          <p:cNvSpPr txBox="1"/>
          <p:nvPr/>
        </p:nvSpPr>
        <p:spPr>
          <a:xfrm>
            <a:off x="640080" y="5349240"/>
            <a:ext cx="457200" cy="329184"/>
          </a:xfrm>
          <a:prstGeom prst="rect">
            <a:avLst/>
          </a:prstGeom>
          <a:noFill/>
        </p:spPr>
        <p:txBody>
          <a:bodyPr wrap="square" lIns="45720" tIns="27432" rIns="45720" bIns="27432" anchor="ctr">
            <a:spAutoFit/>
          </a:bodyPr>
          <a:lstStyle/>
          <a:p>
            <a:pPr algn="r">
              <a:spcAft>
                <a:spcPts val="400"/>
              </a:spcAft>
            </a:pPr>
            <a:r>
              <a:rPr sz="1600" b="1" i="0">
                <a:solidFill>
                  <a:srgbClr val="53548A"/>
                </a:solidFill>
                <a:latin typeface="Times New Roman"/>
                <a:cs typeface="Times New Roman"/>
              </a:rPr>
              <a:t>11</a:t>
            </a:r>
          </a:p>
        </p:txBody>
      </p:sp>
      <p:sp>
        <p:nvSpPr>
          <p:cNvPr id="31" name="TextBox 30"/>
          <p:cNvSpPr txBox="1"/>
          <p:nvPr/>
        </p:nvSpPr>
        <p:spPr>
          <a:xfrm>
            <a:off x="1188720" y="5349240"/>
            <a:ext cx="4663440" cy="329184"/>
          </a:xfrm>
          <a:prstGeom prst="rect">
            <a:avLst/>
          </a:prstGeom>
          <a:noFill/>
        </p:spPr>
        <p:txBody>
          <a:bodyPr wrap="square" lIns="45720" tIns="27432" rIns="45720" bIns="27432" anchor="ctr">
            <a:spAutoFit/>
          </a:bodyPr>
          <a:lstStyle/>
          <a:p>
            <a:pPr algn="l">
              <a:spcAft>
                <a:spcPts val="400"/>
              </a:spcAft>
            </a:pPr>
            <a:r>
              <a:rPr sz="1600" b="0" i="0">
                <a:solidFill>
                  <a:srgbClr val="424456"/>
                </a:solidFill>
                <a:latin typeface="Times New Roman"/>
                <a:cs typeface="Times New Roman"/>
              </a:rPr>
              <a:t>Testing &amp; Validation</a:t>
            </a:r>
          </a:p>
        </p:txBody>
      </p:sp>
      <p:sp>
        <p:nvSpPr>
          <p:cNvPr id="32" name="TextBox 31"/>
          <p:cNvSpPr txBox="1"/>
          <p:nvPr/>
        </p:nvSpPr>
        <p:spPr>
          <a:xfrm>
            <a:off x="640080" y="5715000"/>
            <a:ext cx="457200" cy="329184"/>
          </a:xfrm>
          <a:prstGeom prst="rect">
            <a:avLst/>
          </a:prstGeom>
          <a:noFill/>
        </p:spPr>
        <p:txBody>
          <a:bodyPr wrap="square" lIns="45720" tIns="27432" rIns="45720" bIns="27432" anchor="ctr">
            <a:spAutoFit/>
          </a:bodyPr>
          <a:lstStyle/>
          <a:p>
            <a:pPr algn="r">
              <a:spcAft>
                <a:spcPts val="400"/>
              </a:spcAft>
            </a:pPr>
            <a:r>
              <a:rPr sz="1600" b="1" i="0">
                <a:solidFill>
                  <a:srgbClr val="53548A"/>
                </a:solidFill>
                <a:latin typeface="Times New Roman"/>
                <a:cs typeface="Times New Roman"/>
              </a:rPr>
              <a:t>12</a:t>
            </a:r>
          </a:p>
        </p:txBody>
      </p:sp>
      <p:sp>
        <p:nvSpPr>
          <p:cNvPr id="33" name="TextBox 32"/>
          <p:cNvSpPr txBox="1"/>
          <p:nvPr/>
        </p:nvSpPr>
        <p:spPr>
          <a:xfrm>
            <a:off x="1188720" y="5715000"/>
            <a:ext cx="4663440" cy="329184"/>
          </a:xfrm>
          <a:prstGeom prst="rect">
            <a:avLst/>
          </a:prstGeom>
          <a:noFill/>
        </p:spPr>
        <p:txBody>
          <a:bodyPr wrap="square" lIns="45720" tIns="27432" rIns="45720" bIns="27432" anchor="ctr">
            <a:spAutoFit/>
          </a:bodyPr>
          <a:lstStyle/>
          <a:p>
            <a:pPr algn="l">
              <a:spcAft>
                <a:spcPts val="400"/>
              </a:spcAft>
            </a:pPr>
            <a:r>
              <a:rPr sz="1600" b="0" i="0">
                <a:solidFill>
                  <a:srgbClr val="424456"/>
                </a:solidFill>
                <a:latin typeface="Times New Roman"/>
                <a:cs typeface="Times New Roman"/>
              </a:rPr>
              <a:t>Limitations &amp; Future Scope</a:t>
            </a:r>
          </a:p>
        </p:txBody>
      </p:sp>
      <p:sp>
        <p:nvSpPr>
          <p:cNvPr id="34" name="TextBox 33"/>
          <p:cNvSpPr txBox="1"/>
          <p:nvPr/>
        </p:nvSpPr>
        <p:spPr>
          <a:xfrm>
            <a:off x="640080" y="6080760"/>
            <a:ext cx="457200" cy="329184"/>
          </a:xfrm>
          <a:prstGeom prst="rect">
            <a:avLst/>
          </a:prstGeom>
          <a:noFill/>
        </p:spPr>
        <p:txBody>
          <a:bodyPr wrap="square" lIns="45720" tIns="27432" rIns="45720" bIns="27432" anchor="ctr">
            <a:spAutoFit/>
          </a:bodyPr>
          <a:lstStyle/>
          <a:p>
            <a:pPr algn="r">
              <a:spcAft>
                <a:spcPts val="400"/>
              </a:spcAft>
            </a:pPr>
            <a:r>
              <a:rPr sz="1600" b="1" i="0">
                <a:solidFill>
                  <a:srgbClr val="53548A"/>
                </a:solidFill>
                <a:latin typeface="Times New Roman"/>
                <a:cs typeface="Times New Roman"/>
              </a:rPr>
              <a:t>13</a:t>
            </a:r>
          </a:p>
        </p:txBody>
      </p:sp>
      <p:sp>
        <p:nvSpPr>
          <p:cNvPr id="35" name="TextBox 34"/>
          <p:cNvSpPr txBox="1"/>
          <p:nvPr/>
        </p:nvSpPr>
        <p:spPr>
          <a:xfrm>
            <a:off x="1188720" y="6080760"/>
            <a:ext cx="4663440" cy="329184"/>
          </a:xfrm>
          <a:prstGeom prst="rect">
            <a:avLst/>
          </a:prstGeom>
          <a:noFill/>
        </p:spPr>
        <p:txBody>
          <a:bodyPr wrap="square" lIns="45720" tIns="27432" rIns="45720" bIns="27432" anchor="ctr">
            <a:spAutoFit/>
          </a:bodyPr>
          <a:lstStyle/>
          <a:p>
            <a:pPr algn="l">
              <a:spcAft>
                <a:spcPts val="400"/>
              </a:spcAft>
            </a:pPr>
            <a:r>
              <a:rPr sz="1600" b="0" i="0">
                <a:solidFill>
                  <a:srgbClr val="424456"/>
                </a:solidFill>
                <a:latin typeface="Times New Roman"/>
                <a:cs typeface="Times New Roman"/>
              </a:rPr>
              <a:t>Conclusion &amp; Thank You</a:t>
            </a:r>
          </a:p>
        </p:txBody>
      </p:sp>
      <p:pic>
        <p:nvPicPr>
          <p:cNvPr id="36" name="Picture 35" descr="image.png"/>
          <p:cNvPicPr>
            <a:picLocks noChangeAspect="1"/>
          </p:cNvPicPr>
          <p:nvPr/>
        </p:nvPicPr>
        <p:blipFill>
          <a:blip r:embed="rId3"/>
          <a:stretch>
            <a:fillRect/>
          </a:stretch>
        </p:blipFill>
        <p:spPr>
          <a:xfrm>
            <a:off x="5989320" y="2834640"/>
            <a:ext cx="2743200" cy="27432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Introduction &amp; Background</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3</a:t>
            </a:fld>
            <a:endParaRPr lang="en-US" altLang="en-US"/>
          </a:p>
        </p:txBody>
      </p:sp>
      <p:sp>
        <p:nvSpPr>
          <p:cNvPr id="10" name="Rounded Rectangle 9"/>
          <p:cNvSpPr/>
          <p:nvPr/>
        </p:nvSpPr>
        <p:spPr>
          <a:xfrm>
            <a:off x="502920" y="1737360"/>
            <a:ext cx="8138160" cy="1371600"/>
          </a:xfrm>
          <a:prstGeom prst="roundRect">
            <a:avLst>
              <a:gd name="adj" fmla="val 6000"/>
            </a:avLst>
          </a:prstGeom>
          <a:solidFill>
            <a:srgbClr val="EEEEF6"/>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731520" y="2075688"/>
            <a:ext cx="694944" cy="694944"/>
          </a:xfrm>
          <a:prstGeom prst="ellipse">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2400" b="1" i="0">
                <a:solidFill>
                  <a:srgbClr val="FFFFFF"/>
                </a:solidFill>
                <a:latin typeface="Times New Roman"/>
                <a:cs typeface="Times New Roman"/>
              </a:rPr>
              <a:t>1</a:t>
            </a:r>
          </a:p>
        </p:txBody>
      </p:sp>
      <p:sp>
        <p:nvSpPr>
          <p:cNvPr id="12" name="TextBox 11"/>
          <p:cNvSpPr txBox="1"/>
          <p:nvPr/>
        </p:nvSpPr>
        <p:spPr>
          <a:xfrm>
            <a:off x="1691640" y="1847088"/>
            <a:ext cx="6766560" cy="411480"/>
          </a:xfrm>
          <a:prstGeom prst="rect">
            <a:avLst/>
          </a:prstGeom>
          <a:noFill/>
        </p:spPr>
        <p:txBody>
          <a:bodyPr wrap="square" lIns="45720" tIns="27432" rIns="45720" bIns="27432" anchor="t">
            <a:spAutoFit/>
          </a:bodyPr>
          <a:lstStyle/>
          <a:p>
            <a:pPr algn="l">
              <a:spcAft>
                <a:spcPts val="400"/>
              </a:spcAft>
            </a:pPr>
            <a:r>
              <a:rPr sz="1900" b="1" i="0">
                <a:solidFill>
                  <a:srgbClr val="53548A"/>
                </a:solidFill>
                <a:latin typeface="Times New Roman"/>
                <a:cs typeface="Times New Roman"/>
              </a:rPr>
              <a:t>What is Linux persistence?</a:t>
            </a:r>
          </a:p>
        </p:txBody>
      </p:sp>
      <p:sp>
        <p:nvSpPr>
          <p:cNvPr id="13" name="TextBox 12"/>
          <p:cNvSpPr txBox="1"/>
          <p:nvPr/>
        </p:nvSpPr>
        <p:spPr>
          <a:xfrm>
            <a:off x="1691640" y="2267712"/>
            <a:ext cx="6766560" cy="777240"/>
          </a:xfrm>
          <a:prstGeom prst="rect">
            <a:avLst/>
          </a:prstGeom>
          <a:noFill/>
        </p:spPr>
        <p:txBody>
          <a:bodyPr wrap="square" lIns="45720" tIns="27432" rIns="45720" bIns="27432" anchor="t">
            <a:spAutoFit/>
          </a:bodyPr>
          <a:lstStyle/>
          <a:p>
            <a:pPr algn="l">
              <a:spcAft>
                <a:spcPts val="400"/>
              </a:spcAft>
            </a:pPr>
            <a:r>
              <a:rPr sz="1650" b="0" i="0">
                <a:solidFill>
                  <a:srgbClr val="424456"/>
                </a:solidFill>
                <a:latin typeface="Times New Roman"/>
                <a:cs typeface="Times New Roman"/>
              </a:rPr>
              <a:t>Ways an attacker keeps access after a reboot or logout. MITRE ATT&amp;CK groups them under tactic TA0003.</a:t>
            </a:r>
          </a:p>
        </p:txBody>
      </p:sp>
      <p:sp>
        <p:nvSpPr>
          <p:cNvPr id="14" name="Rounded Rectangle 13"/>
          <p:cNvSpPr/>
          <p:nvPr/>
        </p:nvSpPr>
        <p:spPr>
          <a:xfrm>
            <a:off x="502920" y="3291839"/>
            <a:ext cx="8138160" cy="1371600"/>
          </a:xfrm>
          <a:prstGeom prst="roundRect">
            <a:avLst>
              <a:gd name="adj" fmla="val 6000"/>
            </a:avLst>
          </a:prstGeom>
          <a:solidFill>
            <a:srgbClr val="EEEEF6"/>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731520" y="3630168"/>
            <a:ext cx="694944" cy="694944"/>
          </a:xfrm>
          <a:prstGeom prst="ellipse">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2400" b="1" i="0">
                <a:solidFill>
                  <a:srgbClr val="FFFFFF"/>
                </a:solidFill>
                <a:latin typeface="Times New Roman"/>
                <a:cs typeface="Times New Roman"/>
              </a:rPr>
              <a:t>2</a:t>
            </a:r>
          </a:p>
        </p:txBody>
      </p:sp>
      <p:sp>
        <p:nvSpPr>
          <p:cNvPr id="16" name="TextBox 15"/>
          <p:cNvSpPr txBox="1"/>
          <p:nvPr/>
        </p:nvSpPr>
        <p:spPr>
          <a:xfrm>
            <a:off x="1691640" y="3401568"/>
            <a:ext cx="6766560" cy="411480"/>
          </a:xfrm>
          <a:prstGeom prst="rect">
            <a:avLst/>
          </a:prstGeom>
          <a:noFill/>
        </p:spPr>
        <p:txBody>
          <a:bodyPr wrap="square" lIns="45720" tIns="27432" rIns="45720" bIns="27432" anchor="t">
            <a:spAutoFit/>
          </a:bodyPr>
          <a:lstStyle/>
          <a:p>
            <a:pPr algn="l">
              <a:spcAft>
                <a:spcPts val="400"/>
              </a:spcAft>
            </a:pPr>
            <a:r>
              <a:rPr sz="1900" b="1" i="0">
                <a:solidFill>
                  <a:srgbClr val="53548A"/>
                </a:solidFill>
                <a:latin typeface="Times New Roman"/>
                <a:cs typeface="Times New Roman"/>
              </a:rPr>
              <a:t>Why configuration files?</a:t>
            </a:r>
          </a:p>
        </p:txBody>
      </p:sp>
      <p:sp>
        <p:nvSpPr>
          <p:cNvPr id="17" name="TextBox 16"/>
          <p:cNvSpPr txBox="1"/>
          <p:nvPr/>
        </p:nvSpPr>
        <p:spPr>
          <a:xfrm>
            <a:off x="1691640" y="3822191"/>
            <a:ext cx="6766560" cy="777240"/>
          </a:xfrm>
          <a:prstGeom prst="rect">
            <a:avLst/>
          </a:prstGeom>
          <a:noFill/>
        </p:spPr>
        <p:txBody>
          <a:bodyPr wrap="square" lIns="45720" tIns="27432" rIns="45720" bIns="27432" anchor="t">
            <a:spAutoFit/>
          </a:bodyPr>
          <a:lstStyle/>
          <a:p>
            <a:pPr algn="l">
              <a:spcAft>
                <a:spcPts val="400"/>
              </a:spcAft>
            </a:pPr>
            <a:r>
              <a:rPr sz="1650" b="0" i="0">
                <a:solidFill>
                  <a:srgbClr val="424456"/>
                </a:solidFill>
                <a:latin typeface="Times New Roman"/>
                <a:cs typeface="Times New Roman"/>
              </a:rPr>
              <a:t>Linux settings are plain text (e.g. /etc/crontab, sudoers). One small edit can make a program run automatically.</a:t>
            </a:r>
          </a:p>
        </p:txBody>
      </p:sp>
      <p:sp>
        <p:nvSpPr>
          <p:cNvPr id="18" name="Rounded Rectangle 17"/>
          <p:cNvSpPr/>
          <p:nvPr/>
        </p:nvSpPr>
        <p:spPr>
          <a:xfrm>
            <a:off x="502920" y="4846320"/>
            <a:ext cx="8138160" cy="1371600"/>
          </a:xfrm>
          <a:prstGeom prst="roundRect">
            <a:avLst>
              <a:gd name="adj" fmla="val 6000"/>
            </a:avLst>
          </a:prstGeom>
          <a:solidFill>
            <a:srgbClr val="EEEEF6"/>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731520" y="5184648"/>
            <a:ext cx="694944" cy="694944"/>
          </a:xfrm>
          <a:prstGeom prst="ellipse">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2400" b="1" i="0">
                <a:solidFill>
                  <a:srgbClr val="FFFFFF"/>
                </a:solidFill>
                <a:latin typeface="Times New Roman"/>
                <a:cs typeface="Times New Roman"/>
              </a:rPr>
              <a:t>3</a:t>
            </a:r>
          </a:p>
        </p:txBody>
      </p:sp>
      <p:sp>
        <p:nvSpPr>
          <p:cNvPr id="20" name="TextBox 19"/>
          <p:cNvSpPr txBox="1"/>
          <p:nvPr/>
        </p:nvSpPr>
        <p:spPr>
          <a:xfrm>
            <a:off x="1691640" y="4956048"/>
            <a:ext cx="6766560" cy="411480"/>
          </a:xfrm>
          <a:prstGeom prst="rect">
            <a:avLst/>
          </a:prstGeom>
          <a:noFill/>
        </p:spPr>
        <p:txBody>
          <a:bodyPr wrap="square" lIns="45720" tIns="27432" rIns="45720" bIns="27432" anchor="t">
            <a:spAutoFit/>
          </a:bodyPr>
          <a:lstStyle/>
          <a:p>
            <a:pPr algn="l">
              <a:spcAft>
                <a:spcPts val="400"/>
              </a:spcAft>
            </a:pPr>
            <a:r>
              <a:rPr sz="1900" b="1" i="0">
                <a:solidFill>
                  <a:srgbClr val="53548A"/>
                </a:solidFill>
                <a:latin typeface="Times New Roman"/>
                <a:cs typeface="Times New Roman"/>
              </a:rPr>
              <a:t>Why a baseline?</a:t>
            </a:r>
          </a:p>
        </p:txBody>
      </p:sp>
      <p:sp>
        <p:nvSpPr>
          <p:cNvPr id="21" name="TextBox 20"/>
          <p:cNvSpPr txBox="1"/>
          <p:nvPr/>
        </p:nvSpPr>
        <p:spPr>
          <a:xfrm>
            <a:off x="1691640" y="5376672"/>
            <a:ext cx="6766560" cy="777240"/>
          </a:xfrm>
          <a:prstGeom prst="rect">
            <a:avLst/>
          </a:prstGeom>
          <a:noFill/>
        </p:spPr>
        <p:txBody>
          <a:bodyPr wrap="square" lIns="45720" tIns="27432" rIns="45720" bIns="27432" anchor="t">
            <a:spAutoFit/>
          </a:bodyPr>
          <a:lstStyle/>
          <a:p>
            <a:pPr algn="l">
              <a:spcAft>
                <a:spcPts val="400"/>
              </a:spcAft>
            </a:pPr>
            <a:r>
              <a:rPr sz="1650" b="0" i="0">
                <a:solidFill>
                  <a:srgbClr val="424456"/>
                </a:solidFill>
                <a:latin typeface="Times New Roman"/>
                <a:cs typeface="Times New Roman"/>
              </a:rPr>
              <a:t>A saved known-good snapshot lets us see exactly what changed, instead of checking every file by hand.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Problem Statement</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4</a:t>
            </a:fld>
            <a:endParaRPr lang="en-US" altLang="en-US"/>
          </a:p>
        </p:txBody>
      </p:sp>
      <p:sp>
        <p:nvSpPr>
          <p:cNvPr id="10" name="Rounded Rectangle 9"/>
          <p:cNvSpPr/>
          <p:nvPr/>
        </p:nvSpPr>
        <p:spPr>
          <a:xfrm>
            <a:off x="502920" y="1737360"/>
            <a:ext cx="3977639" cy="1920240"/>
          </a:xfrm>
          <a:prstGeom prst="roundRect">
            <a:avLst>
              <a:gd name="adj" fmla="val 6000"/>
            </a:avLst>
          </a:prstGeom>
          <a:solidFill>
            <a:srgbClr val="FFFFFF"/>
          </a:solidFill>
          <a:ln w="1587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828800"/>
            <a:ext cx="1097280" cy="640080"/>
          </a:xfrm>
          <a:prstGeom prst="rect">
            <a:avLst/>
          </a:prstGeom>
          <a:noFill/>
        </p:spPr>
        <p:txBody>
          <a:bodyPr wrap="square" lIns="45720" tIns="27432" rIns="45720" bIns="27432" anchor="t">
            <a:spAutoFit/>
          </a:bodyPr>
          <a:lstStyle/>
          <a:p>
            <a:pPr algn="l">
              <a:spcAft>
                <a:spcPts val="400"/>
              </a:spcAft>
            </a:pPr>
            <a:r>
              <a:rPr sz="3400" b="1" i="0">
                <a:solidFill>
                  <a:srgbClr val="438086"/>
                </a:solidFill>
                <a:latin typeface="Times New Roman"/>
                <a:cs typeface="Times New Roman"/>
              </a:rPr>
              <a:t>01</a:t>
            </a:r>
          </a:p>
        </p:txBody>
      </p:sp>
      <p:sp>
        <p:nvSpPr>
          <p:cNvPr id="12" name="TextBox 11"/>
          <p:cNvSpPr txBox="1"/>
          <p:nvPr/>
        </p:nvSpPr>
        <p:spPr>
          <a:xfrm>
            <a:off x="1691640" y="1901952"/>
            <a:ext cx="2697480" cy="548640"/>
          </a:xfrm>
          <a:prstGeom prst="rect">
            <a:avLst/>
          </a:prstGeom>
          <a:noFill/>
        </p:spPr>
        <p:txBody>
          <a:bodyPr wrap="square" lIns="45720" tIns="27432" rIns="45720" bIns="27432" anchor="ctr">
            <a:spAutoFit/>
          </a:bodyPr>
          <a:lstStyle/>
          <a:p>
            <a:pPr algn="l">
              <a:spcAft>
                <a:spcPts val="400"/>
              </a:spcAft>
            </a:pPr>
            <a:r>
              <a:rPr sz="1700" b="1" i="0">
                <a:solidFill>
                  <a:srgbClr val="53548A"/>
                </a:solidFill>
                <a:latin typeface="Times New Roman"/>
                <a:cs typeface="Times New Roman"/>
              </a:rPr>
              <a:t>Stealthy persistence</a:t>
            </a:r>
          </a:p>
        </p:txBody>
      </p:sp>
      <p:sp>
        <p:nvSpPr>
          <p:cNvPr id="13" name="TextBox 12"/>
          <p:cNvSpPr txBox="1"/>
          <p:nvPr/>
        </p:nvSpPr>
        <p:spPr>
          <a:xfrm>
            <a:off x="685800" y="2560320"/>
            <a:ext cx="3611880" cy="1005840"/>
          </a:xfrm>
          <a:prstGeom prst="rect">
            <a:avLst/>
          </a:prstGeom>
          <a:noFill/>
        </p:spPr>
        <p:txBody>
          <a:bodyPr wrap="square" lIns="45720" tIns="27432" rIns="45720" bIns="27432" anchor="t">
            <a:spAutoFit/>
          </a:bodyPr>
          <a:lstStyle/>
          <a:p>
            <a:pPr algn="l">
              <a:spcAft>
                <a:spcPts val="400"/>
              </a:spcAft>
            </a:pPr>
            <a:r>
              <a:rPr sz="1600" b="0" i="0">
                <a:solidFill>
                  <a:srgbClr val="424456"/>
                </a:solidFill>
                <a:latin typeface="Times New Roman"/>
                <a:cs typeface="Times New Roman"/>
              </a:rPr>
              <a:t>Attackers hide inside normal-looking files such as cron, sudoers and SSH keys.</a:t>
            </a:r>
          </a:p>
        </p:txBody>
      </p:sp>
      <p:sp>
        <p:nvSpPr>
          <p:cNvPr id="14" name="Rounded Rectangle 13"/>
          <p:cNvSpPr/>
          <p:nvPr/>
        </p:nvSpPr>
        <p:spPr>
          <a:xfrm>
            <a:off x="4663440" y="1737360"/>
            <a:ext cx="3977639" cy="1920240"/>
          </a:xfrm>
          <a:prstGeom prst="roundRect">
            <a:avLst>
              <a:gd name="adj" fmla="val 6000"/>
            </a:avLst>
          </a:prstGeom>
          <a:solidFill>
            <a:srgbClr val="FFFFFF"/>
          </a:solidFill>
          <a:ln w="1587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846320" y="1828800"/>
            <a:ext cx="1097280" cy="640080"/>
          </a:xfrm>
          <a:prstGeom prst="rect">
            <a:avLst/>
          </a:prstGeom>
          <a:noFill/>
        </p:spPr>
        <p:txBody>
          <a:bodyPr wrap="square" lIns="45720" tIns="27432" rIns="45720" bIns="27432" anchor="t">
            <a:spAutoFit/>
          </a:bodyPr>
          <a:lstStyle/>
          <a:p>
            <a:pPr algn="l">
              <a:spcAft>
                <a:spcPts val="400"/>
              </a:spcAft>
            </a:pPr>
            <a:r>
              <a:rPr sz="3400" b="1" i="0">
                <a:solidFill>
                  <a:srgbClr val="438086"/>
                </a:solidFill>
                <a:latin typeface="Times New Roman"/>
                <a:cs typeface="Times New Roman"/>
              </a:rPr>
              <a:t>02</a:t>
            </a:r>
          </a:p>
        </p:txBody>
      </p:sp>
      <p:sp>
        <p:nvSpPr>
          <p:cNvPr id="16" name="TextBox 15"/>
          <p:cNvSpPr txBox="1"/>
          <p:nvPr/>
        </p:nvSpPr>
        <p:spPr>
          <a:xfrm>
            <a:off x="5852159" y="1901952"/>
            <a:ext cx="2697480" cy="548640"/>
          </a:xfrm>
          <a:prstGeom prst="rect">
            <a:avLst/>
          </a:prstGeom>
          <a:noFill/>
        </p:spPr>
        <p:txBody>
          <a:bodyPr wrap="square" lIns="45720" tIns="27432" rIns="45720" bIns="27432" anchor="ctr">
            <a:spAutoFit/>
          </a:bodyPr>
          <a:lstStyle/>
          <a:p>
            <a:pPr algn="l">
              <a:spcAft>
                <a:spcPts val="400"/>
              </a:spcAft>
            </a:pPr>
            <a:r>
              <a:rPr sz="1700" b="1" i="0">
                <a:solidFill>
                  <a:srgbClr val="53548A"/>
                </a:solidFill>
                <a:latin typeface="Times New Roman"/>
                <a:cs typeface="Times New Roman"/>
              </a:rPr>
              <a:t>Slow manual auditing</a:t>
            </a:r>
          </a:p>
        </p:txBody>
      </p:sp>
      <p:sp>
        <p:nvSpPr>
          <p:cNvPr id="17" name="TextBox 16"/>
          <p:cNvSpPr txBox="1"/>
          <p:nvPr/>
        </p:nvSpPr>
        <p:spPr>
          <a:xfrm>
            <a:off x="4846320" y="2560320"/>
            <a:ext cx="3611880" cy="1005840"/>
          </a:xfrm>
          <a:prstGeom prst="rect">
            <a:avLst/>
          </a:prstGeom>
          <a:noFill/>
        </p:spPr>
        <p:txBody>
          <a:bodyPr wrap="square" lIns="45720" tIns="27432" rIns="45720" bIns="27432" anchor="t">
            <a:spAutoFit/>
          </a:bodyPr>
          <a:lstStyle/>
          <a:p>
            <a:pPr algn="l">
              <a:spcAft>
                <a:spcPts val="400"/>
              </a:spcAft>
            </a:pPr>
            <a:r>
              <a:rPr sz="1600" b="0" i="0">
                <a:solidFill>
                  <a:srgbClr val="424456"/>
                </a:solidFill>
                <a:latin typeface="Times New Roman"/>
                <a:cs typeface="Times New Roman"/>
              </a:rPr>
              <a:t>Checking many system files by hand is tedious and easy to get wrong.</a:t>
            </a:r>
          </a:p>
        </p:txBody>
      </p:sp>
      <p:sp>
        <p:nvSpPr>
          <p:cNvPr id="18" name="Rounded Rectangle 17"/>
          <p:cNvSpPr/>
          <p:nvPr/>
        </p:nvSpPr>
        <p:spPr>
          <a:xfrm>
            <a:off x="502920" y="3840480"/>
            <a:ext cx="3977639" cy="1920240"/>
          </a:xfrm>
          <a:prstGeom prst="roundRect">
            <a:avLst>
              <a:gd name="adj" fmla="val 6000"/>
            </a:avLst>
          </a:prstGeom>
          <a:solidFill>
            <a:srgbClr val="FFFFFF"/>
          </a:solidFill>
          <a:ln w="1587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85800" y="3931920"/>
            <a:ext cx="1097280" cy="640080"/>
          </a:xfrm>
          <a:prstGeom prst="rect">
            <a:avLst/>
          </a:prstGeom>
          <a:noFill/>
        </p:spPr>
        <p:txBody>
          <a:bodyPr wrap="square" lIns="45720" tIns="27432" rIns="45720" bIns="27432" anchor="t">
            <a:spAutoFit/>
          </a:bodyPr>
          <a:lstStyle/>
          <a:p>
            <a:pPr algn="l">
              <a:spcAft>
                <a:spcPts val="400"/>
              </a:spcAft>
            </a:pPr>
            <a:r>
              <a:rPr sz="3400" b="1" i="0">
                <a:solidFill>
                  <a:srgbClr val="438086"/>
                </a:solidFill>
                <a:latin typeface="Times New Roman"/>
                <a:cs typeface="Times New Roman"/>
              </a:rPr>
              <a:t>03</a:t>
            </a:r>
          </a:p>
        </p:txBody>
      </p:sp>
      <p:sp>
        <p:nvSpPr>
          <p:cNvPr id="20" name="TextBox 19"/>
          <p:cNvSpPr txBox="1"/>
          <p:nvPr/>
        </p:nvSpPr>
        <p:spPr>
          <a:xfrm>
            <a:off x="1691640" y="4005072"/>
            <a:ext cx="2697480" cy="548640"/>
          </a:xfrm>
          <a:prstGeom prst="rect">
            <a:avLst/>
          </a:prstGeom>
          <a:noFill/>
        </p:spPr>
        <p:txBody>
          <a:bodyPr wrap="square" lIns="45720" tIns="27432" rIns="45720" bIns="27432" anchor="ctr">
            <a:spAutoFit/>
          </a:bodyPr>
          <a:lstStyle/>
          <a:p>
            <a:pPr algn="l">
              <a:spcAft>
                <a:spcPts val="400"/>
              </a:spcAft>
            </a:pPr>
            <a:r>
              <a:rPr sz="1700" b="1" i="0">
                <a:solidFill>
                  <a:srgbClr val="53548A"/>
                </a:solidFill>
                <a:latin typeface="Times New Roman"/>
                <a:cs typeface="Times New Roman"/>
              </a:rPr>
              <a:t>Exact differences needed</a:t>
            </a:r>
          </a:p>
        </p:txBody>
      </p:sp>
      <p:sp>
        <p:nvSpPr>
          <p:cNvPr id="21" name="TextBox 20"/>
          <p:cNvSpPr txBox="1"/>
          <p:nvPr/>
        </p:nvSpPr>
        <p:spPr>
          <a:xfrm>
            <a:off x="685800" y="4663440"/>
            <a:ext cx="3611880" cy="1005840"/>
          </a:xfrm>
          <a:prstGeom prst="rect">
            <a:avLst/>
          </a:prstGeom>
          <a:noFill/>
        </p:spPr>
        <p:txBody>
          <a:bodyPr wrap="square" lIns="45720" tIns="27432" rIns="45720" bIns="27432" anchor="t">
            <a:spAutoFit/>
          </a:bodyPr>
          <a:lstStyle/>
          <a:p>
            <a:pPr algn="l">
              <a:spcAft>
                <a:spcPts val="400"/>
              </a:spcAft>
            </a:pPr>
            <a:r>
              <a:rPr sz="1600" b="0" i="0">
                <a:solidFill>
                  <a:srgbClr val="424456"/>
                </a:solidFill>
                <a:latin typeface="Times New Roman"/>
                <a:cs typeface="Times New Roman"/>
              </a:rPr>
              <a:t>A vague “file changed” alert is not enough; analysts need the exact lines.</a:t>
            </a:r>
          </a:p>
        </p:txBody>
      </p:sp>
      <p:sp>
        <p:nvSpPr>
          <p:cNvPr id="22" name="Rounded Rectangle 21"/>
          <p:cNvSpPr/>
          <p:nvPr/>
        </p:nvSpPr>
        <p:spPr>
          <a:xfrm>
            <a:off x="4663440" y="3840480"/>
            <a:ext cx="3977639" cy="1920240"/>
          </a:xfrm>
          <a:prstGeom prst="roundRect">
            <a:avLst>
              <a:gd name="adj" fmla="val 6000"/>
            </a:avLst>
          </a:prstGeom>
          <a:solidFill>
            <a:srgbClr val="FFFFFF"/>
          </a:solidFill>
          <a:ln w="1587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46320" y="3931920"/>
            <a:ext cx="1097280" cy="640080"/>
          </a:xfrm>
          <a:prstGeom prst="rect">
            <a:avLst/>
          </a:prstGeom>
          <a:noFill/>
        </p:spPr>
        <p:txBody>
          <a:bodyPr wrap="square" lIns="45720" tIns="27432" rIns="45720" bIns="27432" anchor="t">
            <a:spAutoFit/>
          </a:bodyPr>
          <a:lstStyle/>
          <a:p>
            <a:pPr algn="l">
              <a:spcAft>
                <a:spcPts val="400"/>
              </a:spcAft>
            </a:pPr>
            <a:r>
              <a:rPr sz="3400" b="1" i="0">
                <a:solidFill>
                  <a:srgbClr val="438086"/>
                </a:solidFill>
                <a:latin typeface="Times New Roman"/>
                <a:cs typeface="Times New Roman"/>
              </a:rPr>
              <a:t>04</a:t>
            </a:r>
          </a:p>
        </p:txBody>
      </p:sp>
      <p:sp>
        <p:nvSpPr>
          <p:cNvPr id="24" name="TextBox 23"/>
          <p:cNvSpPr txBox="1"/>
          <p:nvPr/>
        </p:nvSpPr>
        <p:spPr>
          <a:xfrm>
            <a:off x="5852159" y="4005072"/>
            <a:ext cx="2697480" cy="548640"/>
          </a:xfrm>
          <a:prstGeom prst="rect">
            <a:avLst/>
          </a:prstGeom>
          <a:noFill/>
        </p:spPr>
        <p:txBody>
          <a:bodyPr wrap="square" lIns="45720" tIns="27432" rIns="45720" bIns="27432" anchor="ctr">
            <a:spAutoFit/>
          </a:bodyPr>
          <a:lstStyle/>
          <a:p>
            <a:pPr algn="l">
              <a:spcAft>
                <a:spcPts val="400"/>
              </a:spcAft>
            </a:pPr>
            <a:r>
              <a:rPr sz="1700" b="1" i="0">
                <a:solidFill>
                  <a:srgbClr val="53548A"/>
                </a:solidFill>
                <a:latin typeface="Times New Roman"/>
                <a:cs typeface="Times New Roman"/>
              </a:rPr>
              <a:t>Heavy existing tools</a:t>
            </a:r>
          </a:p>
        </p:txBody>
      </p:sp>
      <p:sp>
        <p:nvSpPr>
          <p:cNvPr id="25" name="TextBox 24"/>
          <p:cNvSpPr txBox="1"/>
          <p:nvPr/>
        </p:nvSpPr>
        <p:spPr>
          <a:xfrm>
            <a:off x="4846320" y="4663440"/>
            <a:ext cx="3611880" cy="1005840"/>
          </a:xfrm>
          <a:prstGeom prst="rect">
            <a:avLst/>
          </a:prstGeom>
          <a:noFill/>
        </p:spPr>
        <p:txBody>
          <a:bodyPr wrap="square" lIns="45720" tIns="27432" rIns="45720" bIns="27432" anchor="t">
            <a:spAutoFit/>
          </a:bodyPr>
          <a:lstStyle/>
          <a:p>
            <a:pPr algn="l">
              <a:spcAft>
                <a:spcPts val="400"/>
              </a:spcAft>
            </a:pPr>
            <a:r>
              <a:rPr sz="1600" b="0" i="0">
                <a:solidFill>
                  <a:srgbClr val="424456"/>
                </a:solidFill>
                <a:latin typeface="Times New Roman"/>
                <a:cs typeface="Times New Roman"/>
              </a:rPr>
              <a:t>Full file-integrity products are complex; a light, readable prototype is easier to learn from.</a:t>
            </a:r>
          </a:p>
        </p:txBody>
      </p:sp>
      <p:sp>
        <p:nvSpPr>
          <p:cNvPr id="26" name="Rounded Rectangle 25"/>
          <p:cNvSpPr/>
          <p:nvPr/>
        </p:nvSpPr>
        <p:spPr>
          <a:xfrm>
            <a:off x="502920" y="5943600"/>
            <a:ext cx="8138160" cy="548640"/>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502920" y="5943600"/>
            <a:ext cx="8138160" cy="548640"/>
          </a:xfrm>
          <a:prstGeom prst="rect">
            <a:avLst/>
          </a:prstGeom>
          <a:noFill/>
        </p:spPr>
        <p:txBody>
          <a:bodyPr wrap="square" lIns="45720" tIns="27432" rIns="45720" bIns="27432" anchor="ctr">
            <a:spAutoFit/>
          </a:bodyPr>
          <a:lstStyle/>
          <a:p>
            <a:pPr algn="ctr">
              <a:spcAft>
                <a:spcPts val="400"/>
              </a:spcAft>
            </a:pPr>
            <a:r>
              <a:rPr sz="1500" b="1" i="0">
                <a:solidFill>
                  <a:srgbClr val="FFFFFF"/>
                </a:solidFill>
                <a:latin typeface="Times New Roman"/>
                <a:cs typeface="Times New Roman"/>
              </a:rPr>
              <a:t>Need: a simple, explainable tool that shows what changed, where, and how important it 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Project Objectives</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5</a:t>
            </a:fld>
            <a:endParaRPr lang="en-US" altLang="en-US"/>
          </a:p>
        </p:txBody>
      </p:sp>
      <p:sp>
        <p:nvSpPr>
          <p:cNvPr id="10" name="Rounded Rectangle 9"/>
          <p:cNvSpPr/>
          <p:nvPr/>
        </p:nvSpPr>
        <p:spPr>
          <a:xfrm>
            <a:off x="502920" y="1719072"/>
            <a:ext cx="8138160" cy="841248"/>
          </a:xfrm>
          <a:prstGeom prst="roundRect">
            <a:avLst>
              <a:gd name="adj" fmla="val 6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85800" y="1847088"/>
            <a:ext cx="585216" cy="585216"/>
          </a:xfrm>
          <a:prstGeom prst="ellipse">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2000" b="1" i="0">
                <a:solidFill>
                  <a:srgbClr val="FFFFFF"/>
                </a:solidFill>
                <a:latin typeface="Times New Roman"/>
                <a:cs typeface="Times New Roman"/>
              </a:rPr>
              <a:t>1</a:t>
            </a:r>
          </a:p>
        </p:txBody>
      </p:sp>
      <p:sp>
        <p:nvSpPr>
          <p:cNvPr id="12" name="TextBox 11"/>
          <p:cNvSpPr txBox="1"/>
          <p:nvPr/>
        </p:nvSpPr>
        <p:spPr>
          <a:xfrm>
            <a:off x="1463040" y="1755648"/>
            <a:ext cx="7040880" cy="365760"/>
          </a:xfrm>
          <a:prstGeom prst="rect">
            <a:avLst/>
          </a:prstGeom>
          <a:noFill/>
        </p:spPr>
        <p:txBody>
          <a:bodyPr wrap="square" lIns="45720" tIns="27432" rIns="45720" bIns="27432" anchor="t">
            <a:spAutoFit/>
          </a:bodyPr>
          <a:lstStyle/>
          <a:p>
            <a:pPr algn="l">
              <a:spcAft>
                <a:spcPts val="400"/>
              </a:spcAft>
            </a:pPr>
            <a:r>
              <a:rPr sz="1700" b="1" i="0">
                <a:solidFill>
                  <a:srgbClr val="53548A"/>
                </a:solidFill>
                <a:latin typeface="Times New Roman"/>
                <a:cs typeface="Times New Roman"/>
              </a:rPr>
              <a:t>Baseline creation</a:t>
            </a:r>
          </a:p>
        </p:txBody>
      </p:sp>
      <p:sp>
        <p:nvSpPr>
          <p:cNvPr id="13" name="TextBox 12"/>
          <p:cNvSpPr txBox="1"/>
          <p:nvPr/>
        </p:nvSpPr>
        <p:spPr>
          <a:xfrm>
            <a:off x="1463040" y="2121408"/>
            <a:ext cx="7040880" cy="402336"/>
          </a:xfrm>
          <a:prstGeom prst="rect">
            <a:avLst/>
          </a:prstGeom>
          <a:noFill/>
        </p:spPr>
        <p:txBody>
          <a:bodyPr wrap="square" lIns="45720" tIns="27432" rIns="45720" bIns="27432" anchor="t">
            <a:spAutoFit/>
          </a:bodyPr>
          <a:lstStyle/>
          <a:p>
            <a:pPr algn="l">
              <a:spcAft>
                <a:spcPts val="400"/>
              </a:spcAft>
            </a:pPr>
            <a:r>
              <a:rPr sz="1450" b="0" i="0">
                <a:solidFill>
                  <a:srgbClr val="424456"/>
                </a:solidFill>
                <a:latin typeface="Times New Roman"/>
                <a:cs typeface="Times New Roman"/>
              </a:rPr>
              <a:t>Record the SHA-256 hash and details of 23 persistence locations.</a:t>
            </a:r>
          </a:p>
        </p:txBody>
      </p:sp>
      <p:sp>
        <p:nvSpPr>
          <p:cNvPr id="14" name="Rounded Rectangle 13"/>
          <p:cNvSpPr/>
          <p:nvPr/>
        </p:nvSpPr>
        <p:spPr>
          <a:xfrm>
            <a:off x="502920" y="2660904"/>
            <a:ext cx="8138160" cy="841248"/>
          </a:xfrm>
          <a:prstGeom prst="roundRect">
            <a:avLst>
              <a:gd name="adj" fmla="val 6000"/>
            </a:avLst>
          </a:prstGeom>
          <a:solidFill>
            <a:srgbClr val="E4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685800" y="2788920"/>
            <a:ext cx="585216" cy="585216"/>
          </a:xfrm>
          <a:prstGeom prst="ellipse">
            <a:avLst/>
          </a:prstGeom>
          <a:solidFill>
            <a:srgbClr val="438086"/>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2000" b="1" i="0">
                <a:solidFill>
                  <a:srgbClr val="FFFFFF"/>
                </a:solidFill>
                <a:latin typeface="Times New Roman"/>
                <a:cs typeface="Times New Roman"/>
              </a:rPr>
              <a:t>2</a:t>
            </a:r>
          </a:p>
        </p:txBody>
      </p:sp>
      <p:sp>
        <p:nvSpPr>
          <p:cNvPr id="16" name="TextBox 15"/>
          <p:cNvSpPr txBox="1"/>
          <p:nvPr/>
        </p:nvSpPr>
        <p:spPr>
          <a:xfrm>
            <a:off x="1463040" y="2697480"/>
            <a:ext cx="7040880" cy="365760"/>
          </a:xfrm>
          <a:prstGeom prst="rect">
            <a:avLst/>
          </a:prstGeom>
          <a:noFill/>
        </p:spPr>
        <p:txBody>
          <a:bodyPr wrap="square" lIns="45720" tIns="27432" rIns="45720" bIns="27432" anchor="t">
            <a:spAutoFit/>
          </a:bodyPr>
          <a:lstStyle/>
          <a:p>
            <a:pPr algn="l">
              <a:spcAft>
                <a:spcPts val="400"/>
              </a:spcAft>
            </a:pPr>
            <a:r>
              <a:rPr sz="1700" b="1" i="0">
                <a:solidFill>
                  <a:srgbClr val="438086"/>
                </a:solidFill>
                <a:latin typeface="Times New Roman"/>
                <a:cs typeface="Times New Roman"/>
              </a:rPr>
              <a:t>Change detection</a:t>
            </a:r>
          </a:p>
        </p:txBody>
      </p:sp>
      <p:sp>
        <p:nvSpPr>
          <p:cNvPr id="17" name="TextBox 16"/>
          <p:cNvSpPr txBox="1"/>
          <p:nvPr/>
        </p:nvSpPr>
        <p:spPr>
          <a:xfrm>
            <a:off x="1463040" y="3063240"/>
            <a:ext cx="7040880" cy="402336"/>
          </a:xfrm>
          <a:prstGeom prst="rect">
            <a:avLst/>
          </a:prstGeom>
          <a:noFill/>
        </p:spPr>
        <p:txBody>
          <a:bodyPr wrap="square" lIns="45720" tIns="27432" rIns="45720" bIns="27432" anchor="t">
            <a:spAutoFit/>
          </a:bodyPr>
          <a:lstStyle/>
          <a:p>
            <a:pPr algn="l">
              <a:spcAft>
                <a:spcPts val="400"/>
              </a:spcAft>
            </a:pPr>
            <a:r>
              <a:rPr sz="1450" b="0" i="0">
                <a:solidFill>
                  <a:srgbClr val="424456"/>
                </a:solidFill>
                <a:latin typeface="Times New Roman"/>
                <a:cs typeface="Times New Roman"/>
              </a:rPr>
              <a:t>Compare a fresh scan with the baseline; classify ADDED, MODIFIED, DELETED.</a:t>
            </a:r>
          </a:p>
        </p:txBody>
      </p:sp>
      <p:sp>
        <p:nvSpPr>
          <p:cNvPr id="18" name="Rounded Rectangle 17"/>
          <p:cNvSpPr/>
          <p:nvPr/>
        </p:nvSpPr>
        <p:spPr>
          <a:xfrm>
            <a:off x="502920" y="3602736"/>
            <a:ext cx="8138160" cy="841248"/>
          </a:xfrm>
          <a:prstGeom prst="roundRect">
            <a:avLst>
              <a:gd name="adj" fmla="val 6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Oval 18"/>
          <p:cNvSpPr/>
          <p:nvPr/>
        </p:nvSpPr>
        <p:spPr>
          <a:xfrm>
            <a:off x="685800" y="3730752"/>
            <a:ext cx="585216" cy="585216"/>
          </a:xfrm>
          <a:prstGeom prst="ellipse">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2000" b="1" i="0">
                <a:solidFill>
                  <a:srgbClr val="FFFFFF"/>
                </a:solidFill>
                <a:latin typeface="Times New Roman"/>
                <a:cs typeface="Times New Roman"/>
              </a:rPr>
              <a:t>3</a:t>
            </a:r>
          </a:p>
        </p:txBody>
      </p:sp>
      <p:sp>
        <p:nvSpPr>
          <p:cNvPr id="20" name="TextBox 19"/>
          <p:cNvSpPr txBox="1"/>
          <p:nvPr/>
        </p:nvSpPr>
        <p:spPr>
          <a:xfrm>
            <a:off x="1463040" y="3639312"/>
            <a:ext cx="7040880" cy="365760"/>
          </a:xfrm>
          <a:prstGeom prst="rect">
            <a:avLst/>
          </a:prstGeom>
          <a:noFill/>
        </p:spPr>
        <p:txBody>
          <a:bodyPr wrap="square" lIns="45720" tIns="27432" rIns="45720" bIns="27432" anchor="t">
            <a:spAutoFit/>
          </a:bodyPr>
          <a:lstStyle/>
          <a:p>
            <a:pPr algn="l">
              <a:spcAft>
                <a:spcPts val="400"/>
              </a:spcAft>
            </a:pPr>
            <a:r>
              <a:rPr sz="1700" b="1" i="0">
                <a:solidFill>
                  <a:srgbClr val="53548A"/>
                </a:solidFill>
                <a:latin typeface="Times New Roman"/>
                <a:cs typeface="Times New Roman"/>
              </a:rPr>
              <a:t>Unified line diff</a:t>
            </a:r>
          </a:p>
        </p:txBody>
      </p:sp>
      <p:sp>
        <p:nvSpPr>
          <p:cNvPr id="21" name="TextBox 20"/>
          <p:cNvSpPr txBox="1"/>
          <p:nvPr/>
        </p:nvSpPr>
        <p:spPr>
          <a:xfrm>
            <a:off x="1463040" y="4005072"/>
            <a:ext cx="7040880" cy="402336"/>
          </a:xfrm>
          <a:prstGeom prst="rect">
            <a:avLst/>
          </a:prstGeom>
          <a:noFill/>
        </p:spPr>
        <p:txBody>
          <a:bodyPr wrap="square" lIns="45720" tIns="27432" rIns="45720" bIns="27432" anchor="t">
            <a:spAutoFit/>
          </a:bodyPr>
          <a:lstStyle/>
          <a:p>
            <a:pPr algn="l">
              <a:spcAft>
                <a:spcPts val="400"/>
              </a:spcAft>
            </a:pPr>
            <a:r>
              <a:rPr sz="1450" b="0" i="0">
                <a:solidFill>
                  <a:srgbClr val="424456"/>
                </a:solidFill>
                <a:latin typeface="Times New Roman"/>
                <a:cs typeface="Times New Roman"/>
              </a:rPr>
              <a:t>Show the exact lines added or removed in a modified file.</a:t>
            </a:r>
          </a:p>
        </p:txBody>
      </p:sp>
      <p:sp>
        <p:nvSpPr>
          <p:cNvPr id="22" name="Rounded Rectangle 21"/>
          <p:cNvSpPr/>
          <p:nvPr/>
        </p:nvSpPr>
        <p:spPr>
          <a:xfrm>
            <a:off x="502920" y="4544568"/>
            <a:ext cx="8138160" cy="841248"/>
          </a:xfrm>
          <a:prstGeom prst="roundRect">
            <a:avLst>
              <a:gd name="adj" fmla="val 6000"/>
            </a:avLst>
          </a:prstGeom>
          <a:solidFill>
            <a:srgbClr val="E4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685800" y="4672584"/>
            <a:ext cx="585216" cy="585216"/>
          </a:xfrm>
          <a:prstGeom prst="ellipse">
            <a:avLst/>
          </a:prstGeom>
          <a:solidFill>
            <a:srgbClr val="438086"/>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2000" b="1" i="0">
                <a:solidFill>
                  <a:srgbClr val="FFFFFF"/>
                </a:solidFill>
                <a:latin typeface="Times New Roman"/>
                <a:cs typeface="Times New Roman"/>
              </a:rPr>
              <a:t>4</a:t>
            </a:r>
          </a:p>
        </p:txBody>
      </p:sp>
      <p:sp>
        <p:nvSpPr>
          <p:cNvPr id="24" name="TextBox 23"/>
          <p:cNvSpPr txBox="1"/>
          <p:nvPr/>
        </p:nvSpPr>
        <p:spPr>
          <a:xfrm>
            <a:off x="1463040" y="4581144"/>
            <a:ext cx="7040880" cy="365760"/>
          </a:xfrm>
          <a:prstGeom prst="rect">
            <a:avLst/>
          </a:prstGeom>
          <a:noFill/>
        </p:spPr>
        <p:txBody>
          <a:bodyPr wrap="square" lIns="45720" tIns="27432" rIns="45720" bIns="27432" anchor="t">
            <a:spAutoFit/>
          </a:bodyPr>
          <a:lstStyle/>
          <a:p>
            <a:pPr algn="l">
              <a:spcAft>
                <a:spcPts val="400"/>
              </a:spcAft>
            </a:pPr>
            <a:r>
              <a:rPr sz="1700" b="1" i="0">
                <a:solidFill>
                  <a:srgbClr val="438086"/>
                </a:solidFill>
                <a:latin typeface="Times New Roman"/>
                <a:cs typeface="Times New Roman"/>
              </a:rPr>
              <a:t>Severity &amp; ATT&amp;CK tag</a:t>
            </a:r>
          </a:p>
        </p:txBody>
      </p:sp>
      <p:sp>
        <p:nvSpPr>
          <p:cNvPr id="25" name="TextBox 24"/>
          <p:cNvSpPr txBox="1"/>
          <p:nvPr/>
        </p:nvSpPr>
        <p:spPr>
          <a:xfrm>
            <a:off x="1463040" y="4946904"/>
            <a:ext cx="7040880" cy="402336"/>
          </a:xfrm>
          <a:prstGeom prst="rect">
            <a:avLst/>
          </a:prstGeom>
          <a:noFill/>
        </p:spPr>
        <p:txBody>
          <a:bodyPr wrap="square" lIns="45720" tIns="27432" rIns="45720" bIns="27432" anchor="t">
            <a:spAutoFit/>
          </a:bodyPr>
          <a:lstStyle/>
          <a:p>
            <a:pPr algn="l">
              <a:spcAft>
                <a:spcPts val="400"/>
              </a:spcAft>
            </a:pPr>
            <a:r>
              <a:rPr sz="1450" b="0" i="0">
                <a:solidFill>
                  <a:srgbClr val="424456"/>
                </a:solidFill>
                <a:latin typeface="Times New Roman"/>
                <a:cs typeface="Times New Roman"/>
              </a:rPr>
              <a:t>Assign rule-based severity and a MITRE technique ID (e.g. T1053.003).</a:t>
            </a:r>
          </a:p>
        </p:txBody>
      </p:sp>
      <p:sp>
        <p:nvSpPr>
          <p:cNvPr id="26" name="Rounded Rectangle 25"/>
          <p:cNvSpPr/>
          <p:nvPr/>
        </p:nvSpPr>
        <p:spPr>
          <a:xfrm>
            <a:off x="502920" y="5486400"/>
            <a:ext cx="8138160" cy="841248"/>
          </a:xfrm>
          <a:prstGeom prst="roundRect">
            <a:avLst>
              <a:gd name="adj" fmla="val 6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685800" y="5614416"/>
            <a:ext cx="585216" cy="585216"/>
          </a:xfrm>
          <a:prstGeom prst="ellipse">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2000" b="1" i="0">
                <a:solidFill>
                  <a:srgbClr val="FFFFFF"/>
                </a:solidFill>
                <a:latin typeface="Times New Roman"/>
                <a:cs typeface="Times New Roman"/>
              </a:rPr>
              <a:t>5</a:t>
            </a:r>
          </a:p>
        </p:txBody>
      </p:sp>
      <p:sp>
        <p:nvSpPr>
          <p:cNvPr id="28" name="TextBox 27"/>
          <p:cNvSpPr txBox="1"/>
          <p:nvPr/>
        </p:nvSpPr>
        <p:spPr>
          <a:xfrm>
            <a:off x="1463040" y="5522976"/>
            <a:ext cx="7040880" cy="365760"/>
          </a:xfrm>
          <a:prstGeom prst="rect">
            <a:avLst/>
          </a:prstGeom>
          <a:noFill/>
        </p:spPr>
        <p:txBody>
          <a:bodyPr wrap="square" lIns="45720" tIns="27432" rIns="45720" bIns="27432" anchor="t">
            <a:spAutoFit/>
          </a:bodyPr>
          <a:lstStyle/>
          <a:p>
            <a:pPr algn="l">
              <a:spcAft>
                <a:spcPts val="400"/>
              </a:spcAft>
            </a:pPr>
            <a:r>
              <a:rPr sz="1700" b="1" i="0">
                <a:solidFill>
                  <a:srgbClr val="53548A"/>
                </a:solidFill>
                <a:latin typeface="Times New Roman"/>
                <a:cs typeface="Times New Roman"/>
              </a:rPr>
              <a:t>Local SOC dashboard</a:t>
            </a:r>
          </a:p>
        </p:txBody>
      </p:sp>
      <p:sp>
        <p:nvSpPr>
          <p:cNvPr id="29" name="TextBox 28"/>
          <p:cNvSpPr txBox="1"/>
          <p:nvPr/>
        </p:nvSpPr>
        <p:spPr>
          <a:xfrm>
            <a:off x="1463040" y="5888736"/>
            <a:ext cx="7040880" cy="402336"/>
          </a:xfrm>
          <a:prstGeom prst="rect">
            <a:avLst/>
          </a:prstGeom>
          <a:noFill/>
        </p:spPr>
        <p:txBody>
          <a:bodyPr wrap="square" lIns="45720" tIns="27432" rIns="45720" bIns="27432" anchor="t">
            <a:spAutoFit/>
          </a:bodyPr>
          <a:lstStyle/>
          <a:p>
            <a:pPr algn="l">
              <a:spcAft>
                <a:spcPts val="400"/>
              </a:spcAft>
            </a:pPr>
            <a:r>
              <a:rPr sz="1450" b="0" i="0">
                <a:solidFill>
                  <a:srgbClr val="424456"/>
                </a:solidFill>
                <a:latin typeface="Times New Roman"/>
                <a:cs typeface="Times New Roman"/>
              </a:rPr>
              <a:t>Let an analyst filter events and inspect diffs in a web page.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Linux Persistence: Core Concepts</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6</a:t>
            </a:fld>
            <a:endParaRPr lang="en-US" altLang="en-US"/>
          </a:p>
        </p:txBody>
      </p:sp>
      <p:graphicFrame>
        <p:nvGraphicFramePr>
          <p:cNvPr id="10" name="Table 9"/>
          <p:cNvGraphicFramePr>
            <a:graphicFrameLocks noGrp="1"/>
          </p:cNvGraphicFramePr>
          <p:nvPr/>
        </p:nvGraphicFramePr>
        <p:xfrm>
          <a:off x="502920" y="1691640"/>
          <a:ext cx="8138160" cy="2649927"/>
        </p:xfrm>
        <a:graphic>
          <a:graphicData uri="http://schemas.openxmlformats.org/drawingml/2006/table">
            <a:tbl>
              <a:tblPr firstRow="1" bandRow="1">
                <a:tableStyleId>{2D5ABB26-0587-4C30-8999-92F81FD0307C}</a:tableStyleId>
              </a:tblPr>
              <a:tblGrid>
                <a:gridCol w="237744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tblGrid>
              <a:tr h="378561">
                <a:tc>
                  <a:txBody>
                    <a:bodyPr/>
                    <a:lstStyle/>
                    <a:p>
                      <a:r>
                        <a:rPr sz="1400" b="1" i="0">
                          <a:solidFill>
                            <a:srgbClr val="FFFFFF"/>
                          </a:solidFill>
                          <a:latin typeface="Times New Roman"/>
                          <a:cs typeface="Times New Roman"/>
                        </a:rPr>
                        <a:t>Location</a:t>
                      </a:r>
                    </a:p>
                  </a:txBody>
                  <a:tcPr marT="27432" marB="27432" anchor="ctr">
                    <a:solidFill>
                      <a:srgbClr val="53548A"/>
                    </a:solidFill>
                  </a:tcPr>
                </a:tc>
                <a:tc>
                  <a:txBody>
                    <a:bodyPr/>
                    <a:lstStyle/>
                    <a:p>
                      <a:r>
                        <a:rPr sz="1400" b="1" i="0">
                          <a:solidFill>
                            <a:srgbClr val="FFFFFF"/>
                          </a:solidFill>
                          <a:latin typeface="Times New Roman"/>
                          <a:cs typeface="Times New Roman"/>
                        </a:rPr>
                        <a:t>Why attackers use it</a:t>
                      </a:r>
                    </a:p>
                  </a:txBody>
                  <a:tcPr marT="27432" marB="27432" anchor="ctr">
                    <a:solidFill>
                      <a:srgbClr val="53548A"/>
                    </a:solidFill>
                  </a:tcPr>
                </a:tc>
                <a:tc>
                  <a:txBody>
                    <a:bodyPr/>
                    <a:lstStyle/>
                    <a:p>
                      <a:r>
                        <a:rPr sz="1400" b="1" i="0">
                          <a:solidFill>
                            <a:srgbClr val="FFFFFF"/>
                          </a:solidFill>
                          <a:latin typeface="Times New Roman"/>
                          <a:cs typeface="Times New Roman"/>
                        </a:rPr>
                        <a:t>ATT&amp;CK</a:t>
                      </a:r>
                    </a:p>
                  </a:txBody>
                  <a:tcPr marT="27432" marB="27432" anchor="ctr">
                    <a:solidFill>
                      <a:srgbClr val="53548A"/>
                    </a:solidFill>
                  </a:tcPr>
                </a:tc>
                <a:tc>
                  <a:txBody>
                    <a:bodyPr/>
                    <a:lstStyle/>
                    <a:p>
                      <a:r>
                        <a:rPr sz="1400" b="1" i="0">
                          <a:solidFill>
                            <a:srgbClr val="FFFFFF"/>
                          </a:solidFill>
                          <a:latin typeface="Times New Roman"/>
                          <a:cs typeface="Times New Roman"/>
                        </a:rPr>
                        <a:t>Severity</a:t>
                      </a:r>
                    </a:p>
                  </a:txBody>
                  <a:tcPr marT="27432" marB="27432" anchor="ctr">
                    <a:solidFill>
                      <a:srgbClr val="53548A"/>
                    </a:solidFill>
                  </a:tcPr>
                </a:tc>
                <a:extLst>
                  <a:ext uri="{0D108BD9-81ED-4DB2-BD59-A6C34878D82A}">
                    <a16:rowId xmlns:a16="http://schemas.microsoft.com/office/drawing/2014/main" val="10000"/>
                  </a:ext>
                </a:extLst>
              </a:tr>
              <a:tr h="378561">
                <a:tc>
                  <a:txBody>
                    <a:bodyPr/>
                    <a:lstStyle/>
                    <a:p>
                      <a:r>
                        <a:rPr sz="1300" b="1" i="0">
                          <a:solidFill>
                            <a:srgbClr val="424456"/>
                          </a:solidFill>
                          <a:latin typeface="Times New Roman"/>
                          <a:cs typeface="Times New Roman"/>
                        </a:rPr>
                        <a:t>/etc/crontab, cron.d/</a:t>
                      </a:r>
                    </a:p>
                  </a:txBody>
                  <a:tcPr marT="27432" marB="27432" anchor="ctr">
                    <a:solidFill>
                      <a:srgbClr val="EEEEF6"/>
                    </a:solidFill>
                  </a:tcPr>
                </a:tc>
                <a:tc>
                  <a:txBody>
                    <a:bodyPr/>
                    <a:lstStyle/>
                    <a:p>
                      <a:r>
                        <a:rPr sz="1300" b="0" i="0">
                          <a:solidFill>
                            <a:srgbClr val="424456"/>
                          </a:solidFill>
                          <a:latin typeface="Times New Roman"/>
                          <a:cs typeface="Times New Roman"/>
                        </a:rPr>
                        <a:t>Run commands on a schedule</a:t>
                      </a:r>
                    </a:p>
                  </a:txBody>
                  <a:tcPr marT="27432" marB="27432" anchor="ctr">
                    <a:solidFill>
                      <a:srgbClr val="EEEEF6"/>
                    </a:solidFill>
                  </a:tcPr>
                </a:tc>
                <a:tc>
                  <a:txBody>
                    <a:bodyPr/>
                    <a:lstStyle/>
                    <a:p>
                      <a:r>
                        <a:rPr sz="1300" b="0" i="0">
                          <a:solidFill>
                            <a:srgbClr val="424456"/>
                          </a:solidFill>
                          <a:latin typeface="Courier New"/>
                          <a:cs typeface="Courier New"/>
                        </a:rPr>
                        <a:t>T1053.003</a:t>
                      </a:r>
                    </a:p>
                  </a:txBody>
                  <a:tcPr marT="27432" marB="27432" anchor="ctr">
                    <a:solidFill>
                      <a:srgbClr val="EEEEF6"/>
                    </a:solidFill>
                  </a:tcPr>
                </a:tc>
                <a:tc>
                  <a:txBody>
                    <a:bodyPr/>
                    <a:lstStyle/>
                    <a:p>
                      <a:r>
                        <a:rPr sz="1300" b="1" i="0">
                          <a:solidFill>
                            <a:srgbClr val="53548A"/>
                          </a:solidFill>
                          <a:latin typeface="Times New Roman"/>
                          <a:cs typeface="Times New Roman"/>
                        </a:rPr>
                        <a:t>HIGH</a:t>
                      </a:r>
                    </a:p>
                  </a:txBody>
                  <a:tcPr marT="27432" marB="27432" anchor="ctr">
                    <a:solidFill>
                      <a:srgbClr val="EEEEF6"/>
                    </a:solidFill>
                  </a:tcPr>
                </a:tc>
                <a:extLst>
                  <a:ext uri="{0D108BD9-81ED-4DB2-BD59-A6C34878D82A}">
                    <a16:rowId xmlns:a16="http://schemas.microsoft.com/office/drawing/2014/main" val="10001"/>
                  </a:ext>
                </a:extLst>
              </a:tr>
              <a:tr h="378561">
                <a:tc>
                  <a:txBody>
                    <a:bodyPr/>
                    <a:lstStyle/>
                    <a:p>
                      <a:r>
                        <a:rPr sz="1300" b="1" i="0">
                          <a:solidFill>
                            <a:srgbClr val="424456"/>
                          </a:solidFill>
                          <a:latin typeface="Times New Roman"/>
                          <a:cs typeface="Times New Roman"/>
                        </a:rPr>
                        <a:t>/etc/sudoers, sudoers.d/</a:t>
                      </a:r>
                    </a:p>
                  </a:txBody>
                  <a:tcPr marT="27432" marB="27432" anchor="ctr">
                    <a:solidFill>
                      <a:srgbClr val="FFFFFF"/>
                    </a:solidFill>
                  </a:tcPr>
                </a:tc>
                <a:tc>
                  <a:txBody>
                    <a:bodyPr/>
                    <a:lstStyle/>
                    <a:p>
                      <a:r>
                        <a:rPr sz="1300" b="0" i="0">
                          <a:solidFill>
                            <a:srgbClr val="424456"/>
                          </a:solidFill>
                          <a:latin typeface="Times New Roman"/>
                          <a:cs typeface="Times New Roman"/>
                        </a:rPr>
                        <a:t>Grant admin rights</a:t>
                      </a:r>
                    </a:p>
                  </a:txBody>
                  <a:tcPr marT="27432" marB="27432" anchor="ctr">
                    <a:solidFill>
                      <a:srgbClr val="FFFFFF"/>
                    </a:solidFill>
                  </a:tcPr>
                </a:tc>
                <a:tc>
                  <a:txBody>
                    <a:bodyPr/>
                    <a:lstStyle/>
                    <a:p>
                      <a:r>
                        <a:rPr sz="1300" b="0" i="0">
                          <a:solidFill>
                            <a:srgbClr val="424456"/>
                          </a:solidFill>
                          <a:latin typeface="Courier New"/>
                          <a:cs typeface="Courier New"/>
                        </a:rPr>
                        <a:t>T1548.001</a:t>
                      </a:r>
                    </a:p>
                  </a:txBody>
                  <a:tcPr marT="27432" marB="27432" anchor="ctr">
                    <a:solidFill>
                      <a:srgbClr val="FFFFFF"/>
                    </a:solidFill>
                  </a:tcPr>
                </a:tc>
                <a:tc>
                  <a:txBody>
                    <a:bodyPr/>
                    <a:lstStyle/>
                    <a:p>
                      <a:r>
                        <a:rPr sz="1300" b="1" i="0">
                          <a:solidFill>
                            <a:srgbClr val="C4652D"/>
                          </a:solidFill>
                          <a:latin typeface="Times New Roman"/>
                          <a:cs typeface="Times New Roman"/>
                        </a:rPr>
                        <a:t>CRITICAL</a:t>
                      </a:r>
                    </a:p>
                  </a:txBody>
                  <a:tcPr marT="27432" marB="27432" anchor="ctr">
                    <a:solidFill>
                      <a:srgbClr val="FFFFFF"/>
                    </a:solidFill>
                  </a:tcPr>
                </a:tc>
                <a:extLst>
                  <a:ext uri="{0D108BD9-81ED-4DB2-BD59-A6C34878D82A}">
                    <a16:rowId xmlns:a16="http://schemas.microsoft.com/office/drawing/2014/main" val="10002"/>
                  </a:ext>
                </a:extLst>
              </a:tr>
              <a:tr h="378561">
                <a:tc>
                  <a:txBody>
                    <a:bodyPr/>
                    <a:lstStyle/>
                    <a:p>
                      <a:r>
                        <a:rPr sz="1300" b="1" i="0">
                          <a:solidFill>
                            <a:srgbClr val="424456"/>
                          </a:solidFill>
                          <a:latin typeface="Times New Roman"/>
                          <a:cs typeface="Times New Roman"/>
                        </a:rPr>
                        <a:t>/etc/ld.so.preload</a:t>
                      </a:r>
                    </a:p>
                  </a:txBody>
                  <a:tcPr marT="27432" marB="27432" anchor="ctr">
                    <a:solidFill>
                      <a:srgbClr val="EEEEF6"/>
                    </a:solidFill>
                  </a:tcPr>
                </a:tc>
                <a:tc>
                  <a:txBody>
                    <a:bodyPr/>
                    <a:lstStyle/>
                    <a:p>
                      <a:r>
                        <a:rPr sz="1300" b="0" i="0">
                          <a:solidFill>
                            <a:srgbClr val="424456"/>
                          </a:solidFill>
                          <a:latin typeface="Times New Roman"/>
                          <a:cs typeface="Times New Roman"/>
                        </a:rPr>
                        <a:t>Load a library into every program</a:t>
                      </a:r>
                    </a:p>
                  </a:txBody>
                  <a:tcPr marT="27432" marB="27432" anchor="ctr">
                    <a:solidFill>
                      <a:srgbClr val="EEEEF6"/>
                    </a:solidFill>
                  </a:tcPr>
                </a:tc>
                <a:tc>
                  <a:txBody>
                    <a:bodyPr/>
                    <a:lstStyle/>
                    <a:p>
                      <a:r>
                        <a:rPr sz="1300" b="0" i="0">
                          <a:solidFill>
                            <a:srgbClr val="424456"/>
                          </a:solidFill>
                          <a:latin typeface="Courier New"/>
                          <a:cs typeface="Courier New"/>
                        </a:rPr>
                        <a:t>T1574.006</a:t>
                      </a:r>
                    </a:p>
                  </a:txBody>
                  <a:tcPr marT="27432" marB="27432" anchor="ctr">
                    <a:solidFill>
                      <a:srgbClr val="EEEEF6"/>
                    </a:solidFill>
                  </a:tcPr>
                </a:tc>
                <a:tc>
                  <a:txBody>
                    <a:bodyPr/>
                    <a:lstStyle/>
                    <a:p>
                      <a:r>
                        <a:rPr sz="1300" b="1" i="0">
                          <a:solidFill>
                            <a:srgbClr val="C4652D"/>
                          </a:solidFill>
                          <a:latin typeface="Times New Roman"/>
                          <a:cs typeface="Times New Roman"/>
                        </a:rPr>
                        <a:t>CRITICAL</a:t>
                      </a:r>
                    </a:p>
                  </a:txBody>
                  <a:tcPr marT="27432" marB="27432" anchor="ctr">
                    <a:solidFill>
                      <a:srgbClr val="EEEEF6"/>
                    </a:solidFill>
                  </a:tcPr>
                </a:tc>
                <a:extLst>
                  <a:ext uri="{0D108BD9-81ED-4DB2-BD59-A6C34878D82A}">
                    <a16:rowId xmlns:a16="http://schemas.microsoft.com/office/drawing/2014/main" val="10003"/>
                  </a:ext>
                </a:extLst>
              </a:tr>
              <a:tr h="378561">
                <a:tc>
                  <a:txBody>
                    <a:bodyPr/>
                    <a:lstStyle/>
                    <a:p>
                      <a:r>
                        <a:rPr sz="1300" b="1" i="0">
                          <a:solidFill>
                            <a:srgbClr val="424456"/>
                          </a:solidFill>
                          <a:latin typeface="Times New Roman"/>
                          <a:cs typeface="Times New Roman"/>
                        </a:rPr>
                        <a:t>/etc/systemd/system/</a:t>
                      </a:r>
                    </a:p>
                  </a:txBody>
                  <a:tcPr marT="27432" marB="27432" anchor="ctr">
                    <a:solidFill>
                      <a:srgbClr val="FFFFFF"/>
                    </a:solidFill>
                  </a:tcPr>
                </a:tc>
                <a:tc>
                  <a:txBody>
                    <a:bodyPr/>
                    <a:lstStyle/>
                    <a:p>
                      <a:r>
                        <a:rPr sz="1300" b="0" i="0">
                          <a:solidFill>
                            <a:srgbClr val="424456"/>
                          </a:solidFill>
                          <a:latin typeface="Times New Roman"/>
                          <a:cs typeface="Times New Roman"/>
                        </a:rPr>
                        <a:t>Start a service at boot</a:t>
                      </a:r>
                    </a:p>
                  </a:txBody>
                  <a:tcPr marT="27432" marB="27432" anchor="ctr">
                    <a:solidFill>
                      <a:srgbClr val="FFFFFF"/>
                    </a:solidFill>
                  </a:tcPr>
                </a:tc>
                <a:tc>
                  <a:txBody>
                    <a:bodyPr/>
                    <a:lstStyle/>
                    <a:p>
                      <a:r>
                        <a:rPr sz="1300" b="0" i="0">
                          <a:solidFill>
                            <a:srgbClr val="424456"/>
                          </a:solidFill>
                          <a:latin typeface="Courier New"/>
                          <a:cs typeface="Courier New"/>
                        </a:rPr>
                        <a:t>T1543.002</a:t>
                      </a:r>
                    </a:p>
                  </a:txBody>
                  <a:tcPr marT="27432" marB="27432" anchor="ctr">
                    <a:solidFill>
                      <a:srgbClr val="FFFFFF"/>
                    </a:solidFill>
                  </a:tcPr>
                </a:tc>
                <a:tc>
                  <a:txBody>
                    <a:bodyPr/>
                    <a:lstStyle/>
                    <a:p>
                      <a:r>
                        <a:rPr sz="1300" b="1" i="0">
                          <a:solidFill>
                            <a:srgbClr val="53548A"/>
                          </a:solidFill>
                          <a:latin typeface="Times New Roman"/>
                          <a:cs typeface="Times New Roman"/>
                        </a:rPr>
                        <a:t>HIGH</a:t>
                      </a:r>
                    </a:p>
                  </a:txBody>
                  <a:tcPr marT="27432" marB="27432" anchor="ctr">
                    <a:solidFill>
                      <a:srgbClr val="FFFFFF"/>
                    </a:solidFill>
                  </a:tcPr>
                </a:tc>
                <a:extLst>
                  <a:ext uri="{0D108BD9-81ED-4DB2-BD59-A6C34878D82A}">
                    <a16:rowId xmlns:a16="http://schemas.microsoft.com/office/drawing/2014/main" val="10004"/>
                  </a:ext>
                </a:extLst>
              </a:tr>
              <a:tr h="378561">
                <a:tc>
                  <a:txBody>
                    <a:bodyPr/>
                    <a:lstStyle/>
                    <a:p>
                      <a:r>
                        <a:rPr sz="1300" b="1" i="0">
                          <a:solidFill>
                            <a:srgbClr val="424456"/>
                          </a:solidFill>
                          <a:latin typeface="Times New Roman"/>
                          <a:cs typeface="Times New Roman"/>
                        </a:rPr>
                        <a:t>~/.ssh/authorized_keys</a:t>
                      </a:r>
                    </a:p>
                  </a:txBody>
                  <a:tcPr marT="27432" marB="27432" anchor="ctr">
                    <a:solidFill>
                      <a:srgbClr val="EEEEF6"/>
                    </a:solidFill>
                  </a:tcPr>
                </a:tc>
                <a:tc>
                  <a:txBody>
                    <a:bodyPr/>
                    <a:lstStyle/>
                    <a:p>
                      <a:r>
                        <a:rPr sz="1300" b="0" i="0">
                          <a:solidFill>
                            <a:srgbClr val="424456"/>
                          </a:solidFill>
                          <a:latin typeface="Times New Roman"/>
                          <a:cs typeface="Times New Roman"/>
                        </a:rPr>
                        <a:t>Keep key-based remote login</a:t>
                      </a:r>
                    </a:p>
                  </a:txBody>
                  <a:tcPr marT="27432" marB="27432" anchor="ctr">
                    <a:solidFill>
                      <a:srgbClr val="EEEEF6"/>
                    </a:solidFill>
                  </a:tcPr>
                </a:tc>
                <a:tc>
                  <a:txBody>
                    <a:bodyPr/>
                    <a:lstStyle/>
                    <a:p>
                      <a:r>
                        <a:rPr sz="1300" b="0" i="0">
                          <a:solidFill>
                            <a:srgbClr val="424456"/>
                          </a:solidFill>
                          <a:latin typeface="Courier New"/>
                          <a:cs typeface="Courier New"/>
                        </a:rPr>
                        <a:t>T1098.004</a:t>
                      </a:r>
                    </a:p>
                  </a:txBody>
                  <a:tcPr marT="27432" marB="27432" anchor="ctr">
                    <a:solidFill>
                      <a:srgbClr val="EEEEF6"/>
                    </a:solidFill>
                  </a:tcPr>
                </a:tc>
                <a:tc>
                  <a:txBody>
                    <a:bodyPr/>
                    <a:lstStyle/>
                    <a:p>
                      <a:r>
                        <a:rPr sz="1300" b="1" i="0">
                          <a:solidFill>
                            <a:srgbClr val="53548A"/>
                          </a:solidFill>
                          <a:latin typeface="Times New Roman"/>
                          <a:cs typeface="Times New Roman"/>
                        </a:rPr>
                        <a:t>HIGH</a:t>
                      </a:r>
                    </a:p>
                  </a:txBody>
                  <a:tcPr marT="27432" marB="27432" anchor="ctr">
                    <a:solidFill>
                      <a:srgbClr val="EEEEF6"/>
                    </a:solidFill>
                  </a:tcPr>
                </a:tc>
                <a:extLst>
                  <a:ext uri="{0D108BD9-81ED-4DB2-BD59-A6C34878D82A}">
                    <a16:rowId xmlns:a16="http://schemas.microsoft.com/office/drawing/2014/main" val="10005"/>
                  </a:ext>
                </a:extLst>
              </a:tr>
              <a:tr h="378561">
                <a:tc>
                  <a:txBody>
                    <a:bodyPr/>
                    <a:lstStyle/>
                    <a:p>
                      <a:r>
                        <a:rPr sz="1300" b="1" i="0">
                          <a:solidFill>
                            <a:srgbClr val="424456"/>
                          </a:solidFill>
                          <a:latin typeface="Times New Roman"/>
                          <a:cs typeface="Times New Roman"/>
                        </a:rPr>
                        <a:t>/etc/profile, ~/.bashrc</a:t>
                      </a:r>
                    </a:p>
                  </a:txBody>
                  <a:tcPr marT="27432" marB="27432" anchor="ctr">
                    <a:solidFill>
                      <a:srgbClr val="FFFFFF"/>
                    </a:solidFill>
                  </a:tcPr>
                </a:tc>
                <a:tc>
                  <a:txBody>
                    <a:bodyPr/>
                    <a:lstStyle/>
                    <a:p>
                      <a:r>
                        <a:rPr sz="1300" b="0" i="0">
                          <a:solidFill>
                            <a:srgbClr val="424456"/>
                          </a:solidFill>
                          <a:latin typeface="Times New Roman"/>
                          <a:cs typeface="Times New Roman"/>
                        </a:rPr>
                        <a:t>Run code at login / shell start</a:t>
                      </a:r>
                    </a:p>
                  </a:txBody>
                  <a:tcPr marT="27432" marB="27432" anchor="ctr">
                    <a:solidFill>
                      <a:srgbClr val="FFFFFF"/>
                    </a:solidFill>
                  </a:tcPr>
                </a:tc>
                <a:tc>
                  <a:txBody>
                    <a:bodyPr/>
                    <a:lstStyle/>
                    <a:p>
                      <a:r>
                        <a:rPr sz="1300" b="0" i="0">
                          <a:solidFill>
                            <a:srgbClr val="424456"/>
                          </a:solidFill>
                          <a:latin typeface="Courier New"/>
                          <a:cs typeface="Courier New"/>
                        </a:rPr>
                        <a:t>T1546.004</a:t>
                      </a:r>
                    </a:p>
                  </a:txBody>
                  <a:tcPr marT="27432" marB="27432" anchor="ctr">
                    <a:solidFill>
                      <a:srgbClr val="FFFFFF"/>
                    </a:solidFill>
                  </a:tcPr>
                </a:tc>
                <a:tc>
                  <a:txBody>
                    <a:bodyPr/>
                    <a:lstStyle/>
                    <a:p>
                      <a:r>
                        <a:rPr sz="1300" b="1" i="0">
                          <a:solidFill>
                            <a:srgbClr val="438086"/>
                          </a:solidFill>
                          <a:latin typeface="Times New Roman"/>
                          <a:cs typeface="Times New Roman"/>
                        </a:rPr>
                        <a:t>MEDIUM</a:t>
                      </a:r>
                    </a:p>
                  </a:txBody>
                  <a:tcPr marT="27432" marB="27432" anchor="ctr">
                    <a:solidFill>
                      <a:srgbClr val="FFFFFF"/>
                    </a:solidFill>
                  </a:tcPr>
                </a:tc>
                <a:extLst>
                  <a:ext uri="{0D108BD9-81ED-4DB2-BD59-A6C34878D82A}">
                    <a16:rowId xmlns:a16="http://schemas.microsoft.com/office/drawing/2014/main" val="10006"/>
                  </a:ext>
                </a:extLst>
              </a:tr>
            </a:tbl>
          </a:graphicData>
        </a:graphic>
      </p:graphicFrame>
      <p:sp>
        <p:nvSpPr>
          <p:cNvPr id="11" name="Rounded Rectangle 10"/>
          <p:cNvSpPr/>
          <p:nvPr/>
        </p:nvSpPr>
        <p:spPr>
          <a:xfrm>
            <a:off x="502920" y="4617720"/>
            <a:ext cx="5120640" cy="1828800"/>
          </a:xfrm>
          <a:prstGeom prst="roundRect">
            <a:avLst>
              <a:gd name="adj" fmla="val 6000"/>
            </a:avLst>
          </a:prstGeom>
          <a:solidFill>
            <a:srgbClr val="424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4681728"/>
            <a:ext cx="4754880" cy="365760"/>
          </a:xfrm>
          <a:prstGeom prst="rect">
            <a:avLst/>
          </a:prstGeom>
          <a:noFill/>
        </p:spPr>
        <p:txBody>
          <a:bodyPr wrap="square" lIns="45720" tIns="27432" rIns="45720" bIns="27432" anchor="t">
            <a:spAutoFit/>
          </a:bodyPr>
          <a:lstStyle/>
          <a:p>
            <a:pPr algn="l">
              <a:spcAft>
                <a:spcPts val="400"/>
              </a:spcAft>
            </a:pPr>
            <a:r>
              <a:rPr sz="1400" b="1" i="0">
                <a:solidFill>
                  <a:srgbClr val="BFE3E6"/>
                </a:solidFill>
                <a:latin typeface="Times New Roman"/>
                <a:cs typeface="Times New Roman"/>
              </a:rPr>
              <a:t>Illustrative example (cron line)</a:t>
            </a:r>
          </a:p>
        </p:txBody>
      </p:sp>
      <p:sp>
        <p:nvSpPr>
          <p:cNvPr id="13" name="TextBox 12"/>
          <p:cNvSpPr txBox="1"/>
          <p:nvPr/>
        </p:nvSpPr>
        <p:spPr>
          <a:xfrm>
            <a:off x="685800" y="5074920"/>
            <a:ext cx="4754880" cy="411480"/>
          </a:xfrm>
          <a:prstGeom prst="rect">
            <a:avLst/>
          </a:prstGeom>
          <a:noFill/>
        </p:spPr>
        <p:txBody>
          <a:bodyPr wrap="square" lIns="45720" tIns="27432" rIns="45720" bIns="27432" anchor="ctr">
            <a:spAutoFit/>
          </a:bodyPr>
          <a:lstStyle/>
          <a:p>
            <a:pPr algn="l">
              <a:spcAft>
                <a:spcPts val="400"/>
              </a:spcAft>
            </a:pPr>
            <a:r>
              <a:rPr sz="1500" b="1" i="0">
                <a:solidFill>
                  <a:srgbClr val="FFFFFF"/>
                </a:solidFill>
                <a:latin typeface="Courier New"/>
                <a:cs typeface="Courier New"/>
              </a:rPr>
              <a:t>0 3 * * *   root   /tmp/.update.sh</a:t>
            </a:r>
          </a:p>
        </p:txBody>
      </p:sp>
      <p:sp>
        <p:nvSpPr>
          <p:cNvPr id="14" name="TextBox 13"/>
          <p:cNvSpPr txBox="1"/>
          <p:nvPr/>
        </p:nvSpPr>
        <p:spPr>
          <a:xfrm>
            <a:off x="685800" y="5532120"/>
            <a:ext cx="4754880" cy="868680"/>
          </a:xfrm>
          <a:prstGeom prst="rect">
            <a:avLst/>
          </a:prstGeom>
          <a:noFill/>
        </p:spPr>
        <p:txBody>
          <a:bodyPr wrap="square" lIns="45720" tIns="27432" rIns="45720" bIns="27432" anchor="t">
            <a:spAutoFit/>
          </a:bodyPr>
          <a:lstStyle/>
          <a:p>
            <a:pPr algn="l">
              <a:spcAft>
                <a:spcPts val="400"/>
              </a:spcAft>
            </a:pPr>
            <a:r>
              <a:rPr sz="1400" b="0" i="0">
                <a:solidFill>
                  <a:srgbClr val="FFFFFF"/>
                </a:solidFill>
                <a:latin typeface="Times New Roman"/>
                <a:cs typeface="Times New Roman"/>
              </a:rPr>
              <a:t>Runs a hidden script every day at 3:00 AM, even after a reboot. Sentinel would flag the changed crontab.</a:t>
            </a:r>
          </a:p>
        </p:txBody>
      </p:sp>
      <p:sp>
        <p:nvSpPr>
          <p:cNvPr id="15" name="Rounded Rectangle 14"/>
          <p:cNvSpPr/>
          <p:nvPr/>
        </p:nvSpPr>
        <p:spPr>
          <a:xfrm>
            <a:off x="5806440" y="4617720"/>
            <a:ext cx="2834640" cy="1828800"/>
          </a:xfrm>
          <a:prstGeom prst="roundRect">
            <a:avLst>
              <a:gd name="adj" fmla="val 6000"/>
            </a:avLst>
          </a:prstGeom>
          <a:solidFill>
            <a:srgbClr val="F9EAE1"/>
          </a:solidFill>
          <a:ln w="15875">
            <a:solidFill>
              <a:srgbClr val="C465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943600" y="4681728"/>
            <a:ext cx="2560320" cy="365760"/>
          </a:xfrm>
          <a:prstGeom prst="rect">
            <a:avLst/>
          </a:prstGeom>
          <a:noFill/>
        </p:spPr>
        <p:txBody>
          <a:bodyPr wrap="square" lIns="45720" tIns="27432" rIns="45720" bIns="27432" anchor="t">
            <a:spAutoFit/>
          </a:bodyPr>
          <a:lstStyle/>
          <a:p>
            <a:pPr algn="l">
              <a:spcAft>
                <a:spcPts val="400"/>
              </a:spcAft>
            </a:pPr>
            <a:r>
              <a:rPr sz="1500" b="1" i="0">
                <a:solidFill>
                  <a:srgbClr val="C4652D"/>
                </a:solidFill>
                <a:latin typeface="Times New Roman"/>
                <a:cs typeface="Times New Roman"/>
              </a:rPr>
              <a:t>Remember</a:t>
            </a:r>
          </a:p>
        </p:txBody>
      </p:sp>
      <p:sp>
        <p:nvSpPr>
          <p:cNvPr id="17" name="TextBox 16"/>
          <p:cNvSpPr txBox="1"/>
          <p:nvPr/>
        </p:nvSpPr>
        <p:spPr>
          <a:xfrm>
            <a:off x="5943600" y="5047488"/>
            <a:ext cx="2606040" cy="1371600"/>
          </a:xfrm>
          <a:prstGeom prst="rect">
            <a:avLst/>
          </a:prstGeom>
          <a:noFill/>
        </p:spPr>
        <p:txBody>
          <a:bodyPr wrap="square" lIns="45720" tIns="27432" rIns="45720" bIns="27432" anchor="t">
            <a:spAutoFit/>
          </a:bodyPr>
          <a:lstStyle/>
          <a:p>
            <a:pPr algn="l">
              <a:spcAft>
                <a:spcPts val="400"/>
              </a:spcAft>
            </a:pPr>
            <a:r>
              <a:rPr sz="1450" b="0" i="0">
                <a:solidFill>
                  <a:srgbClr val="424456"/>
                </a:solidFill>
                <a:latin typeface="Times New Roman"/>
                <a:cs typeface="Times New Roman"/>
              </a:rPr>
              <a:t>Severity shows how sensitive a location is. It does not prove an attack.</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Proposed Solution: Scope &amp; Boundaries</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7</a:t>
            </a:fld>
            <a:endParaRPr lang="en-US" altLang="en-US"/>
          </a:p>
        </p:txBody>
      </p:sp>
      <p:sp>
        <p:nvSpPr>
          <p:cNvPr id="10" name="Rounded Rectangle 9"/>
          <p:cNvSpPr/>
          <p:nvPr/>
        </p:nvSpPr>
        <p:spPr>
          <a:xfrm>
            <a:off x="502920" y="1737360"/>
            <a:ext cx="3977639" cy="4069080"/>
          </a:xfrm>
          <a:prstGeom prst="roundRect">
            <a:avLst>
              <a:gd name="adj" fmla="val 6000"/>
            </a:avLst>
          </a:prstGeom>
          <a:solidFill>
            <a:srgbClr val="E4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2920" y="1737360"/>
            <a:ext cx="3977639" cy="566928"/>
          </a:xfrm>
          <a:prstGeom prst="roundRect">
            <a:avLst>
              <a:gd name="adj" fmla="val 6000"/>
            </a:avLst>
          </a:prstGeom>
          <a:solidFill>
            <a:srgbClr val="438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737360"/>
            <a:ext cx="3977639" cy="566928"/>
          </a:xfrm>
          <a:prstGeom prst="rect">
            <a:avLst/>
          </a:prstGeom>
          <a:noFill/>
        </p:spPr>
        <p:txBody>
          <a:bodyPr wrap="square" lIns="45720" tIns="27432" rIns="45720" bIns="27432" anchor="ctr">
            <a:spAutoFit/>
          </a:bodyPr>
          <a:lstStyle/>
          <a:p>
            <a:pPr algn="ctr">
              <a:spcAft>
                <a:spcPts val="400"/>
              </a:spcAft>
            </a:pPr>
            <a:r>
              <a:rPr sz="1800" b="1" i="0">
                <a:solidFill>
                  <a:srgbClr val="FFFFFF"/>
                </a:solidFill>
                <a:latin typeface="Times New Roman"/>
                <a:cs typeface="Times New Roman"/>
              </a:rPr>
              <a:t>What Sentinel DOES</a:t>
            </a:r>
          </a:p>
        </p:txBody>
      </p:sp>
      <p:sp>
        <p:nvSpPr>
          <p:cNvPr id="13" name="TextBox 12"/>
          <p:cNvSpPr txBox="1"/>
          <p:nvPr/>
        </p:nvSpPr>
        <p:spPr>
          <a:xfrm>
            <a:off x="685800" y="2487168"/>
            <a:ext cx="3611880" cy="3291840"/>
          </a:xfrm>
          <a:prstGeom prst="rect">
            <a:avLst/>
          </a:prstGeom>
          <a:noFill/>
        </p:spPr>
        <p:txBody>
          <a:bodyPr wrap="square" lIns="45720" tIns="27432" rIns="45720" bIns="27432" anchor="t">
            <a:spAutoFit/>
          </a:bodyPr>
          <a:lstStyle/>
          <a:p>
            <a:pPr marL="182880" indent="-182880" algn="l">
              <a:spcAft>
                <a:spcPts val="1200"/>
              </a:spcAft>
              <a:buChar char="•"/>
            </a:pPr>
            <a:r>
              <a:rPr sz="1700" b="0" i="0">
                <a:solidFill>
                  <a:srgbClr val="424456"/>
                </a:solidFill>
                <a:latin typeface="Times New Roman"/>
                <a:cs typeface="Times New Roman"/>
              </a:rPr>
              <a:t>Scans 23 persistence locations</a:t>
            </a:r>
          </a:p>
          <a:p>
            <a:pPr marL="182880" indent="-182880" algn="l">
              <a:spcAft>
                <a:spcPts val="1200"/>
              </a:spcAft>
              <a:buChar char="•"/>
            </a:pPr>
            <a:r>
              <a:rPr sz="1700" b="0" i="0">
                <a:solidFill>
                  <a:srgbClr val="424456"/>
                </a:solidFill>
                <a:latin typeface="Times New Roman"/>
                <a:cs typeface="Times New Roman"/>
              </a:rPr>
              <a:t>Stores a SHA-256 baseline snapshot</a:t>
            </a:r>
          </a:p>
          <a:p>
            <a:pPr marL="182880" indent="-182880" algn="l">
              <a:spcAft>
                <a:spcPts val="1200"/>
              </a:spcAft>
              <a:buChar char="•"/>
            </a:pPr>
            <a:r>
              <a:rPr sz="1700" b="0" i="0">
                <a:solidFill>
                  <a:srgbClr val="424456"/>
                </a:solidFill>
                <a:latin typeface="Times New Roman"/>
                <a:cs typeface="Times New Roman"/>
              </a:rPr>
              <a:t>Detects ADDED, MODIFIED, DELETED</a:t>
            </a:r>
          </a:p>
          <a:p>
            <a:pPr marL="182880" indent="-182880" algn="l">
              <a:spcAft>
                <a:spcPts val="1200"/>
              </a:spcAft>
              <a:buChar char="•"/>
            </a:pPr>
            <a:r>
              <a:rPr sz="1700" b="0" i="0">
                <a:solidFill>
                  <a:srgbClr val="424456"/>
                </a:solidFill>
                <a:latin typeface="Times New Roman"/>
                <a:cs typeface="Times New Roman"/>
              </a:rPr>
              <a:t>Shows unified line diffs</a:t>
            </a:r>
          </a:p>
          <a:p>
            <a:pPr marL="182880" indent="-182880" algn="l">
              <a:spcAft>
                <a:spcPts val="1200"/>
              </a:spcAft>
              <a:buChar char="•"/>
            </a:pPr>
            <a:r>
              <a:rPr sz="1700" b="0" i="0">
                <a:solidFill>
                  <a:srgbClr val="424456"/>
                </a:solidFill>
                <a:latin typeface="Times New Roman"/>
                <a:cs typeface="Times New Roman"/>
              </a:rPr>
              <a:t>Adds rule-based severity + ATT&amp;CK tag</a:t>
            </a:r>
          </a:p>
          <a:p>
            <a:pPr marL="182880" indent="-182880" algn="l">
              <a:spcAft>
                <a:spcPts val="1200"/>
              </a:spcAft>
              <a:buChar char="•"/>
            </a:pPr>
            <a:r>
              <a:rPr sz="1700" b="0" i="0">
                <a:solidFill>
                  <a:srgbClr val="424456"/>
                </a:solidFill>
                <a:latin typeface="Times New Roman"/>
                <a:cs typeface="Times New Roman"/>
              </a:rPr>
              <a:t>Logs events and shows them on a dashboard</a:t>
            </a:r>
          </a:p>
        </p:txBody>
      </p:sp>
      <p:sp>
        <p:nvSpPr>
          <p:cNvPr id="14" name="Rounded Rectangle 13"/>
          <p:cNvSpPr/>
          <p:nvPr/>
        </p:nvSpPr>
        <p:spPr>
          <a:xfrm>
            <a:off x="4663440" y="1737360"/>
            <a:ext cx="3977639" cy="4069080"/>
          </a:xfrm>
          <a:prstGeom prst="roundRect">
            <a:avLst>
              <a:gd name="adj" fmla="val 6000"/>
            </a:avLst>
          </a:prstGeom>
          <a:solidFill>
            <a:srgbClr val="F9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663440" y="1737360"/>
            <a:ext cx="3977639" cy="566928"/>
          </a:xfrm>
          <a:prstGeom prst="roundRect">
            <a:avLst>
              <a:gd name="adj" fmla="val 6000"/>
            </a:avLst>
          </a:prstGeom>
          <a:solidFill>
            <a:srgbClr val="C46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63440" y="1737360"/>
            <a:ext cx="3977639" cy="566928"/>
          </a:xfrm>
          <a:prstGeom prst="rect">
            <a:avLst/>
          </a:prstGeom>
          <a:noFill/>
        </p:spPr>
        <p:txBody>
          <a:bodyPr wrap="square" lIns="45720" tIns="27432" rIns="45720" bIns="27432" anchor="ctr">
            <a:spAutoFit/>
          </a:bodyPr>
          <a:lstStyle/>
          <a:p>
            <a:pPr algn="ctr">
              <a:spcAft>
                <a:spcPts val="400"/>
              </a:spcAft>
            </a:pPr>
            <a:r>
              <a:rPr sz="1800" b="1" i="0">
                <a:solidFill>
                  <a:srgbClr val="FFFFFF"/>
                </a:solidFill>
                <a:latin typeface="Times New Roman"/>
                <a:cs typeface="Times New Roman"/>
              </a:rPr>
              <a:t>What Sentinel does NOT do</a:t>
            </a:r>
          </a:p>
        </p:txBody>
      </p:sp>
      <p:sp>
        <p:nvSpPr>
          <p:cNvPr id="17" name="TextBox 16"/>
          <p:cNvSpPr txBox="1"/>
          <p:nvPr/>
        </p:nvSpPr>
        <p:spPr>
          <a:xfrm>
            <a:off x="4846320" y="2487168"/>
            <a:ext cx="3611880" cy="3291840"/>
          </a:xfrm>
          <a:prstGeom prst="rect">
            <a:avLst/>
          </a:prstGeom>
          <a:noFill/>
        </p:spPr>
        <p:txBody>
          <a:bodyPr wrap="square" lIns="45720" tIns="27432" rIns="45720" bIns="27432" anchor="t">
            <a:spAutoFit/>
          </a:bodyPr>
          <a:lstStyle/>
          <a:p>
            <a:pPr marL="182880" indent="-182880" algn="l">
              <a:spcAft>
                <a:spcPts val="1200"/>
              </a:spcAft>
              <a:buChar char="•"/>
            </a:pPr>
            <a:r>
              <a:rPr sz="1700" b="0" i="0">
                <a:solidFill>
                  <a:srgbClr val="424456"/>
                </a:solidFill>
                <a:latin typeface="Times New Roman"/>
                <a:cs typeface="Times New Roman"/>
              </a:rPr>
              <a:t>Monitor the system in real time</a:t>
            </a:r>
          </a:p>
          <a:p>
            <a:pPr marL="182880" indent="-182880" algn="l">
              <a:spcAft>
                <a:spcPts val="1200"/>
              </a:spcAft>
              <a:buChar char="•"/>
            </a:pPr>
            <a:r>
              <a:rPr sz="1700" b="0" i="0">
                <a:solidFill>
                  <a:srgbClr val="424456"/>
                </a:solidFill>
                <a:latin typeface="Times New Roman"/>
                <a:cs typeface="Times New Roman"/>
              </a:rPr>
              <a:t>Prove malicious intent or name an attacker</a:t>
            </a:r>
          </a:p>
          <a:p>
            <a:pPr marL="182880" indent="-182880" algn="l">
              <a:spcAft>
                <a:spcPts val="1200"/>
              </a:spcAft>
              <a:buChar char="•"/>
            </a:pPr>
            <a:r>
              <a:rPr sz="1700" b="0" i="0">
                <a:solidFill>
                  <a:srgbClr val="424456"/>
                </a:solidFill>
                <a:latin typeface="Times New Roman"/>
                <a:cs typeface="Times New Roman"/>
              </a:rPr>
              <a:t>Block, quarantine or repair changes</a:t>
            </a:r>
          </a:p>
          <a:p>
            <a:pPr marL="182880" indent="-182880" algn="l">
              <a:spcAft>
                <a:spcPts val="1200"/>
              </a:spcAft>
              <a:buChar char="•"/>
            </a:pPr>
            <a:r>
              <a:rPr sz="1700" b="0" i="0">
                <a:solidFill>
                  <a:srgbClr val="424456"/>
                </a:solidFill>
                <a:latin typeface="Times New Roman"/>
                <a:cs typeface="Times New Roman"/>
              </a:rPr>
              <a:t>Claim verified use on real Kali / production Linux</a:t>
            </a:r>
          </a:p>
          <a:p>
            <a:pPr marL="182880" indent="-182880" algn="l">
              <a:spcAft>
                <a:spcPts val="1200"/>
              </a:spcAft>
              <a:buChar char="•"/>
            </a:pPr>
            <a:r>
              <a:rPr sz="1700" b="0" i="0">
                <a:solidFill>
                  <a:srgbClr val="424456"/>
                </a:solidFill>
                <a:latin typeface="Times New Roman"/>
                <a:cs typeface="Times New Roman"/>
              </a:rPr>
              <a:t>Replace a full SIEM or EDR product</a:t>
            </a:r>
          </a:p>
        </p:txBody>
      </p:sp>
      <p:sp>
        <p:nvSpPr>
          <p:cNvPr id="18" name="Rounded Rectangle 17"/>
          <p:cNvSpPr/>
          <p:nvPr/>
        </p:nvSpPr>
        <p:spPr>
          <a:xfrm>
            <a:off x="502920" y="5961888"/>
            <a:ext cx="8138160" cy="530352"/>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2920" y="5961888"/>
            <a:ext cx="8138160" cy="530352"/>
          </a:xfrm>
          <a:prstGeom prst="rect">
            <a:avLst/>
          </a:prstGeom>
          <a:noFill/>
        </p:spPr>
        <p:txBody>
          <a:bodyPr wrap="square" lIns="45720" tIns="27432" rIns="45720" bIns="27432" anchor="ctr">
            <a:spAutoFit/>
          </a:bodyPr>
          <a:lstStyle/>
          <a:p>
            <a:pPr algn="ctr">
              <a:spcAft>
                <a:spcPts val="400"/>
              </a:spcAft>
            </a:pPr>
            <a:r>
              <a:rPr sz="1800" b="1" i="0">
                <a:solidFill>
                  <a:srgbClr val="FFFFFF"/>
                </a:solidFill>
                <a:latin typeface="Times New Roman"/>
                <a:cs typeface="Times New Roman"/>
              </a:rPr>
              <a:t>Detecting a change  ≠  proving an attack</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System Architecture</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8</a:t>
            </a:fld>
            <a:endParaRPr lang="en-US" altLang="en-US"/>
          </a:p>
        </p:txBody>
      </p:sp>
      <p:sp>
        <p:nvSpPr>
          <p:cNvPr id="10" name="Rounded Rectangle 9"/>
          <p:cNvSpPr/>
          <p:nvPr/>
        </p:nvSpPr>
        <p:spPr>
          <a:xfrm>
            <a:off x="502920" y="1737360"/>
            <a:ext cx="1828800" cy="3977639"/>
          </a:xfrm>
          <a:prstGeom prst="roundRect">
            <a:avLst>
              <a:gd name="adj" fmla="val 6000"/>
            </a:avLst>
          </a:prstGeom>
          <a:solidFill>
            <a:srgbClr val="EEEEF6"/>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2920" y="1737360"/>
            <a:ext cx="1828800" cy="502920"/>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737360"/>
            <a:ext cx="1828800" cy="502920"/>
          </a:xfrm>
          <a:prstGeom prst="rect">
            <a:avLst/>
          </a:prstGeom>
          <a:noFill/>
        </p:spPr>
        <p:txBody>
          <a:bodyPr wrap="square" lIns="45720" tIns="27432" rIns="45720" bIns="27432" anchor="ctr">
            <a:spAutoFit/>
          </a:bodyPr>
          <a:lstStyle/>
          <a:p>
            <a:pPr algn="ctr">
              <a:spcAft>
                <a:spcPts val="400"/>
              </a:spcAft>
            </a:pPr>
            <a:r>
              <a:rPr sz="1600" b="1" i="0">
                <a:solidFill>
                  <a:srgbClr val="FFFFFF"/>
                </a:solidFill>
                <a:latin typeface="Times New Roman"/>
                <a:cs typeface="Times New Roman"/>
              </a:rPr>
              <a:t>1  Target</a:t>
            </a:r>
          </a:p>
        </p:txBody>
      </p:sp>
      <p:sp>
        <p:nvSpPr>
          <p:cNvPr id="13" name="Rounded Rectangle 12"/>
          <p:cNvSpPr/>
          <p:nvPr/>
        </p:nvSpPr>
        <p:spPr>
          <a:xfrm>
            <a:off x="594360" y="2377440"/>
            <a:ext cx="1645920" cy="731520"/>
          </a:xfrm>
          <a:prstGeom prst="roundRect">
            <a:avLst>
              <a:gd name="adj" fmla="val 6000"/>
            </a:avLst>
          </a:prstGeom>
          <a:solidFill>
            <a:srgbClr val="FFFFFF"/>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 y="2423160"/>
            <a:ext cx="1609344" cy="320040"/>
          </a:xfrm>
          <a:prstGeom prst="rect">
            <a:avLst/>
          </a:prstGeom>
          <a:noFill/>
        </p:spPr>
        <p:txBody>
          <a:bodyPr wrap="square" lIns="45720" tIns="27432" rIns="45720" bIns="27432" anchor="t">
            <a:spAutoFit/>
          </a:bodyPr>
          <a:lstStyle/>
          <a:p>
            <a:pPr algn="ctr">
              <a:spcAft>
                <a:spcPts val="400"/>
              </a:spcAft>
            </a:pPr>
            <a:r>
              <a:rPr sz="1300" b="1" i="0">
                <a:solidFill>
                  <a:srgbClr val="53548A"/>
                </a:solidFill>
                <a:latin typeface="Courier New"/>
                <a:cs typeface="Courier New"/>
              </a:rPr>
              <a:t>mock_linux/</a:t>
            </a:r>
          </a:p>
        </p:txBody>
      </p:sp>
      <p:sp>
        <p:nvSpPr>
          <p:cNvPr id="15" name="TextBox 14"/>
          <p:cNvSpPr txBox="1"/>
          <p:nvPr/>
        </p:nvSpPr>
        <p:spPr>
          <a:xfrm>
            <a:off x="612648" y="2706624"/>
            <a:ext cx="1609344" cy="384048"/>
          </a:xfrm>
          <a:prstGeom prst="rect">
            <a:avLst/>
          </a:prstGeom>
          <a:noFill/>
        </p:spPr>
        <p:txBody>
          <a:bodyPr wrap="square" lIns="45720" tIns="27432" rIns="45720" bIns="27432" anchor="t">
            <a:spAutoFit/>
          </a:bodyPr>
          <a:lstStyle/>
          <a:p>
            <a:pPr algn="ctr">
              <a:spcAft>
                <a:spcPts val="400"/>
              </a:spcAft>
            </a:pPr>
            <a:r>
              <a:rPr sz="1150" b="0" i="0">
                <a:solidFill>
                  <a:srgbClr val="424456"/>
                </a:solidFill>
                <a:latin typeface="Times New Roman"/>
                <a:cs typeface="Times New Roman"/>
              </a:rPr>
              <a:t>Safe sample Linux tree</a:t>
            </a:r>
          </a:p>
        </p:txBody>
      </p:sp>
      <p:sp>
        <p:nvSpPr>
          <p:cNvPr id="16" name="Rounded Rectangle 15"/>
          <p:cNvSpPr/>
          <p:nvPr/>
        </p:nvSpPr>
        <p:spPr>
          <a:xfrm>
            <a:off x="594360" y="3200400"/>
            <a:ext cx="1645920" cy="731520"/>
          </a:xfrm>
          <a:prstGeom prst="roundRect">
            <a:avLst>
              <a:gd name="adj" fmla="val 6000"/>
            </a:avLst>
          </a:prstGeom>
          <a:solidFill>
            <a:srgbClr val="FFFFFF"/>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12648" y="3246120"/>
            <a:ext cx="1609344" cy="320040"/>
          </a:xfrm>
          <a:prstGeom prst="rect">
            <a:avLst/>
          </a:prstGeom>
          <a:noFill/>
        </p:spPr>
        <p:txBody>
          <a:bodyPr wrap="square" lIns="45720" tIns="27432" rIns="45720" bIns="27432" anchor="t">
            <a:spAutoFit/>
          </a:bodyPr>
          <a:lstStyle/>
          <a:p>
            <a:pPr algn="ctr">
              <a:spcAft>
                <a:spcPts val="400"/>
              </a:spcAft>
            </a:pPr>
            <a:r>
              <a:rPr sz="1300" b="1" i="0">
                <a:solidFill>
                  <a:srgbClr val="53548A"/>
                </a:solidFill>
                <a:latin typeface="Times New Roman"/>
                <a:cs typeface="Times New Roman"/>
              </a:rPr>
              <a:t>cron + cron.d</a:t>
            </a:r>
          </a:p>
        </p:txBody>
      </p:sp>
      <p:sp>
        <p:nvSpPr>
          <p:cNvPr id="18" name="TextBox 17"/>
          <p:cNvSpPr txBox="1"/>
          <p:nvPr/>
        </p:nvSpPr>
        <p:spPr>
          <a:xfrm>
            <a:off x="612648" y="3529584"/>
            <a:ext cx="1609344" cy="384048"/>
          </a:xfrm>
          <a:prstGeom prst="rect">
            <a:avLst/>
          </a:prstGeom>
          <a:noFill/>
        </p:spPr>
        <p:txBody>
          <a:bodyPr wrap="square" lIns="45720" tIns="27432" rIns="45720" bIns="27432" anchor="t">
            <a:spAutoFit/>
          </a:bodyPr>
          <a:lstStyle/>
          <a:p>
            <a:pPr algn="ctr">
              <a:spcAft>
                <a:spcPts val="400"/>
              </a:spcAft>
            </a:pPr>
            <a:r>
              <a:rPr sz="1150" b="0" i="0">
                <a:solidFill>
                  <a:srgbClr val="424456"/>
                </a:solidFill>
                <a:latin typeface="Times New Roman"/>
                <a:cs typeface="Times New Roman"/>
              </a:rPr>
              <a:t>/etc/crontab</a:t>
            </a:r>
          </a:p>
        </p:txBody>
      </p:sp>
      <p:sp>
        <p:nvSpPr>
          <p:cNvPr id="19" name="Rounded Rectangle 18"/>
          <p:cNvSpPr/>
          <p:nvPr/>
        </p:nvSpPr>
        <p:spPr>
          <a:xfrm>
            <a:off x="594360" y="4023360"/>
            <a:ext cx="1645920" cy="731520"/>
          </a:xfrm>
          <a:prstGeom prst="roundRect">
            <a:avLst>
              <a:gd name="adj" fmla="val 6000"/>
            </a:avLst>
          </a:prstGeom>
          <a:solidFill>
            <a:srgbClr val="FFFFFF"/>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12648" y="4069080"/>
            <a:ext cx="1609344" cy="320040"/>
          </a:xfrm>
          <a:prstGeom prst="rect">
            <a:avLst/>
          </a:prstGeom>
          <a:noFill/>
        </p:spPr>
        <p:txBody>
          <a:bodyPr wrap="square" lIns="45720" tIns="27432" rIns="45720" bIns="27432" anchor="t">
            <a:spAutoFit/>
          </a:bodyPr>
          <a:lstStyle/>
          <a:p>
            <a:pPr algn="ctr">
              <a:spcAft>
                <a:spcPts val="400"/>
              </a:spcAft>
            </a:pPr>
            <a:r>
              <a:rPr sz="1300" b="1" i="0">
                <a:solidFill>
                  <a:srgbClr val="53548A"/>
                </a:solidFill>
                <a:latin typeface="Times New Roman"/>
                <a:cs typeface="Times New Roman"/>
              </a:rPr>
              <a:t>sudoers</a:t>
            </a:r>
          </a:p>
        </p:txBody>
      </p:sp>
      <p:sp>
        <p:nvSpPr>
          <p:cNvPr id="21" name="TextBox 20"/>
          <p:cNvSpPr txBox="1"/>
          <p:nvPr/>
        </p:nvSpPr>
        <p:spPr>
          <a:xfrm>
            <a:off x="612648" y="4352544"/>
            <a:ext cx="1609344" cy="384048"/>
          </a:xfrm>
          <a:prstGeom prst="rect">
            <a:avLst/>
          </a:prstGeom>
          <a:noFill/>
        </p:spPr>
        <p:txBody>
          <a:bodyPr wrap="square" lIns="45720" tIns="27432" rIns="45720" bIns="27432" anchor="t">
            <a:spAutoFit/>
          </a:bodyPr>
          <a:lstStyle/>
          <a:p>
            <a:pPr algn="ctr">
              <a:spcAft>
                <a:spcPts val="400"/>
              </a:spcAft>
            </a:pPr>
            <a:r>
              <a:rPr sz="1150" b="0" i="0">
                <a:solidFill>
                  <a:srgbClr val="424456"/>
                </a:solidFill>
                <a:latin typeface="Times New Roman"/>
                <a:cs typeface="Times New Roman"/>
              </a:rPr>
              <a:t>/etc/sudoers(.d)</a:t>
            </a:r>
          </a:p>
        </p:txBody>
      </p:sp>
      <p:sp>
        <p:nvSpPr>
          <p:cNvPr id="22" name="Rounded Rectangle 21"/>
          <p:cNvSpPr/>
          <p:nvPr/>
        </p:nvSpPr>
        <p:spPr>
          <a:xfrm>
            <a:off x="594360" y="4846320"/>
            <a:ext cx="1645920" cy="731520"/>
          </a:xfrm>
          <a:prstGeom prst="roundRect">
            <a:avLst>
              <a:gd name="adj" fmla="val 6000"/>
            </a:avLst>
          </a:prstGeom>
          <a:solidFill>
            <a:srgbClr val="FFFFFF"/>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2648" y="4892040"/>
            <a:ext cx="1609344" cy="320040"/>
          </a:xfrm>
          <a:prstGeom prst="rect">
            <a:avLst/>
          </a:prstGeom>
          <a:noFill/>
        </p:spPr>
        <p:txBody>
          <a:bodyPr wrap="square" lIns="45720" tIns="27432" rIns="45720" bIns="27432" anchor="t">
            <a:spAutoFit/>
          </a:bodyPr>
          <a:lstStyle/>
          <a:p>
            <a:pPr algn="ctr">
              <a:spcAft>
                <a:spcPts val="400"/>
              </a:spcAft>
            </a:pPr>
            <a:r>
              <a:rPr sz="1300" b="1" i="0">
                <a:solidFill>
                  <a:srgbClr val="53548A"/>
                </a:solidFill>
                <a:latin typeface="Times New Roman"/>
                <a:cs typeface="Times New Roman"/>
              </a:rPr>
              <a:t>SSH keys</a:t>
            </a:r>
          </a:p>
        </p:txBody>
      </p:sp>
      <p:sp>
        <p:nvSpPr>
          <p:cNvPr id="24" name="TextBox 23"/>
          <p:cNvSpPr txBox="1"/>
          <p:nvPr/>
        </p:nvSpPr>
        <p:spPr>
          <a:xfrm>
            <a:off x="612648" y="5175504"/>
            <a:ext cx="1609344" cy="384048"/>
          </a:xfrm>
          <a:prstGeom prst="rect">
            <a:avLst/>
          </a:prstGeom>
          <a:noFill/>
        </p:spPr>
        <p:txBody>
          <a:bodyPr wrap="square" lIns="45720" tIns="27432" rIns="45720" bIns="27432" anchor="t">
            <a:spAutoFit/>
          </a:bodyPr>
          <a:lstStyle/>
          <a:p>
            <a:pPr algn="ctr">
              <a:spcAft>
                <a:spcPts val="400"/>
              </a:spcAft>
            </a:pPr>
            <a:r>
              <a:rPr sz="1150" b="0" i="0">
                <a:solidFill>
                  <a:srgbClr val="424456"/>
                </a:solidFill>
                <a:latin typeface="Times New Roman"/>
                <a:cs typeface="Times New Roman"/>
              </a:rPr>
              <a:t>~/.ssh/authorized_keys</a:t>
            </a:r>
          </a:p>
        </p:txBody>
      </p:sp>
      <p:sp>
        <p:nvSpPr>
          <p:cNvPr id="25" name="Right Arrow 24"/>
          <p:cNvSpPr/>
          <p:nvPr/>
        </p:nvSpPr>
        <p:spPr>
          <a:xfrm>
            <a:off x="2359151" y="3520440"/>
            <a:ext cx="219456" cy="411480"/>
          </a:xfrm>
          <a:prstGeom prst="rightArrow">
            <a:avLst/>
          </a:prstGeom>
          <a:solidFill>
            <a:srgbClr val="424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2606039" y="1737360"/>
            <a:ext cx="1828800" cy="3977639"/>
          </a:xfrm>
          <a:prstGeom prst="roundRect">
            <a:avLst>
              <a:gd name="adj" fmla="val 6000"/>
            </a:avLst>
          </a:prstGeom>
          <a:solidFill>
            <a:srgbClr val="E4F0F1"/>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2606039" y="1737360"/>
            <a:ext cx="1828800" cy="502920"/>
          </a:xfrm>
          <a:prstGeom prst="roundRect">
            <a:avLst>
              <a:gd name="adj" fmla="val 6000"/>
            </a:avLst>
          </a:prstGeom>
          <a:solidFill>
            <a:srgbClr val="438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2606039" y="1737360"/>
            <a:ext cx="1828800" cy="502920"/>
          </a:xfrm>
          <a:prstGeom prst="rect">
            <a:avLst/>
          </a:prstGeom>
          <a:noFill/>
        </p:spPr>
        <p:txBody>
          <a:bodyPr wrap="square" lIns="45720" tIns="27432" rIns="45720" bIns="27432" anchor="ctr">
            <a:spAutoFit/>
          </a:bodyPr>
          <a:lstStyle/>
          <a:p>
            <a:pPr algn="ctr">
              <a:spcAft>
                <a:spcPts val="400"/>
              </a:spcAft>
            </a:pPr>
            <a:r>
              <a:rPr sz="1600" b="1" i="0">
                <a:solidFill>
                  <a:srgbClr val="FFFFFF"/>
                </a:solidFill>
                <a:latin typeface="Times New Roman"/>
                <a:cs typeface="Times New Roman"/>
              </a:rPr>
              <a:t>2  Core Engine</a:t>
            </a:r>
          </a:p>
        </p:txBody>
      </p:sp>
      <p:sp>
        <p:nvSpPr>
          <p:cNvPr id="29" name="Rounded Rectangle 28"/>
          <p:cNvSpPr/>
          <p:nvPr/>
        </p:nvSpPr>
        <p:spPr>
          <a:xfrm>
            <a:off x="2697479" y="2377440"/>
            <a:ext cx="1645920" cy="731520"/>
          </a:xfrm>
          <a:prstGeom prst="roundRect">
            <a:avLst>
              <a:gd name="adj" fmla="val 6000"/>
            </a:avLst>
          </a:prstGeom>
          <a:solidFill>
            <a:srgbClr val="FFFFFF"/>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715768" y="2423160"/>
            <a:ext cx="1609344" cy="320040"/>
          </a:xfrm>
          <a:prstGeom prst="rect">
            <a:avLst/>
          </a:prstGeom>
          <a:noFill/>
        </p:spPr>
        <p:txBody>
          <a:bodyPr wrap="square" lIns="45720" tIns="27432" rIns="45720" bIns="27432" anchor="t">
            <a:spAutoFit/>
          </a:bodyPr>
          <a:lstStyle/>
          <a:p>
            <a:pPr algn="ctr">
              <a:spcAft>
                <a:spcPts val="400"/>
              </a:spcAft>
            </a:pPr>
            <a:r>
              <a:rPr sz="1300" b="1" i="0">
                <a:solidFill>
                  <a:srgbClr val="438086"/>
                </a:solidFill>
                <a:latin typeface="Courier New"/>
                <a:cs typeface="Courier New"/>
              </a:rPr>
              <a:t>scanner.py</a:t>
            </a:r>
          </a:p>
        </p:txBody>
      </p:sp>
      <p:sp>
        <p:nvSpPr>
          <p:cNvPr id="31" name="TextBox 30"/>
          <p:cNvSpPr txBox="1"/>
          <p:nvPr/>
        </p:nvSpPr>
        <p:spPr>
          <a:xfrm>
            <a:off x="2715768" y="2706624"/>
            <a:ext cx="1609344" cy="384048"/>
          </a:xfrm>
          <a:prstGeom prst="rect">
            <a:avLst/>
          </a:prstGeom>
          <a:noFill/>
        </p:spPr>
        <p:txBody>
          <a:bodyPr wrap="square" lIns="45720" tIns="27432" rIns="45720" bIns="27432" anchor="t">
            <a:spAutoFit/>
          </a:bodyPr>
          <a:lstStyle/>
          <a:p>
            <a:pPr algn="ctr">
              <a:spcAft>
                <a:spcPts val="400"/>
              </a:spcAft>
            </a:pPr>
            <a:r>
              <a:rPr sz="1150" b="0" i="0">
                <a:solidFill>
                  <a:srgbClr val="424456"/>
                </a:solidFill>
                <a:latin typeface="Times New Roman"/>
                <a:cs typeface="Times New Roman"/>
              </a:rPr>
              <a:t>Walks and hashes files</a:t>
            </a:r>
          </a:p>
        </p:txBody>
      </p:sp>
      <p:sp>
        <p:nvSpPr>
          <p:cNvPr id="32" name="Rounded Rectangle 31"/>
          <p:cNvSpPr/>
          <p:nvPr/>
        </p:nvSpPr>
        <p:spPr>
          <a:xfrm>
            <a:off x="2697479" y="3200400"/>
            <a:ext cx="1645920" cy="731520"/>
          </a:xfrm>
          <a:prstGeom prst="roundRect">
            <a:avLst>
              <a:gd name="adj" fmla="val 6000"/>
            </a:avLst>
          </a:prstGeom>
          <a:solidFill>
            <a:srgbClr val="FFFFFF"/>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2715768" y="3246120"/>
            <a:ext cx="1609344" cy="320040"/>
          </a:xfrm>
          <a:prstGeom prst="rect">
            <a:avLst/>
          </a:prstGeom>
          <a:noFill/>
        </p:spPr>
        <p:txBody>
          <a:bodyPr wrap="square" lIns="45720" tIns="27432" rIns="45720" bIns="27432" anchor="t">
            <a:spAutoFit/>
          </a:bodyPr>
          <a:lstStyle/>
          <a:p>
            <a:pPr algn="ctr">
              <a:spcAft>
                <a:spcPts val="400"/>
              </a:spcAft>
            </a:pPr>
            <a:r>
              <a:rPr sz="1300" b="1" i="0">
                <a:solidFill>
                  <a:srgbClr val="438086"/>
                </a:solidFill>
                <a:latin typeface="Courier New"/>
                <a:cs typeface="Courier New"/>
              </a:rPr>
              <a:t>baseline.py</a:t>
            </a:r>
          </a:p>
        </p:txBody>
      </p:sp>
      <p:sp>
        <p:nvSpPr>
          <p:cNvPr id="34" name="TextBox 33"/>
          <p:cNvSpPr txBox="1"/>
          <p:nvPr/>
        </p:nvSpPr>
        <p:spPr>
          <a:xfrm>
            <a:off x="2715768" y="3529584"/>
            <a:ext cx="1609344" cy="384048"/>
          </a:xfrm>
          <a:prstGeom prst="rect">
            <a:avLst/>
          </a:prstGeom>
          <a:noFill/>
        </p:spPr>
        <p:txBody>
          <a:bodyPr wrap="square" lIns="45720" tIns="27432" rIns="45720" bIns="27432" anchor="t">
            <a:spAutoFit/>
          </a:bodyPr>
          <a:lstStyle/>
          <a:p>
            <a:pPr algn="ctr">
              <a:spcAft>
                <a:spcPts val="400"/>
              </a:spcAft>
            </a:pPr>
            <a:r>
              <a:rPr sz="1150" b="0" i="0">
                <a:solidFill>
                  <a:srgbClr val="424456"/>
                </a:solidFill>
                <a:latin typeface="Times New Roman"/>
                <a:cs typeface="Times New Roman"/>
              </a:rPr>
              <a:t>Saves known-good state</a:t>
            </a:r>
          </a:p>
        </p:txBody>
      </p:sp>
      <p:sp>
        <p:nvSpPr>
          <p:cNvPr id="35" name="Rounded Rectangle 34"/>
          <p:cNvSpPr/>
          <p:nvPr/>
        </p:nvSpPr>
        <p:spPr>
          <a:xfrm>
            <a:off x="2697479" y="4023360"/>
            <a:ext cx="1645920" cy="731520"/>
          </a:xfrm>
          <a:prstGeom prst="roundRect">
            <a:avLst>
              <a:gd name="adj" fmla="val 6000"/>
            </a:avLst>
          </a:prstGeom>
          <a:solidFill>
            <a:srgbClr val="FFFFFF"/>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2715768" y="4069080"/>
            <a:ext cx="1609344" cy="320040"/>
          </a:xfrm>
          <a:prstGeom prst="rect">
            <a:avLst/>
          </a:prstGeom>
          <a:noFill/>
        </p:spPr>
        <p:txBody>
          <a:bodyPr wrap="square" lIns="45720" tIns="27432" rIns="45720" bIns="27432" anchor="t">
            <a:spAutoFit/>
          </a:bodyPr>
          <a:lstStyle/>
          <a:p>
            <a:pPr algn="ctr">
              <a:spcAft>
                <a:spcPts val="400"/>
              </a:spcAft>
            </a:pPr>
            <a:r>
              <a:rPr sz="1300" b="1" i="0">
                <a:solidFill>
                  <a:srgbClr val="438086"/>
                </a:solidFill>
                <a:latin typeface="Courier New"/>
                <a:cs typeface="Courier New"/>
              </a:rPr>
              <a:t>detector.py</a:t>
            </a:r>
          </a:p>
        </p:txBody>
      </p:sp>
      <p:sp>
        <p:nvSpPr>
          <p:cNvPr id="37" name="TextBox 36"/>
          <p:cNvSpPr txBox="1"/>
          <p:nvPr/>
        </p:nvSpPr>
        <p:spPr>
          <a:xfrm>
            <a:off x="2715768" y="4352544"/>
            <a:ext cx="1609344" cy="384048"/>
          </a:xfrm>
          <a:prstGeom prst="rect">
            <a:avLst/>
          </a:prstGeom>
          <a:noFill/>
        </p:spPr>
        <p:txBody>
          <a:bodyPr wrap="square" lIns="45720" tIns="27432" rIns="45720" bIns="27432" anchor="t">
            <a:spAutoFit/>
          </a:bodyPr>
          <a:lstStyle/>
          <a:p>
            <a:pPr algn="ctr">
              <a:spcAft>
                <a:spcPts val="400"/>
              </a:spcAft>
            </a:pPr>
            <a:r>
              <a:rPr sz="1150" b="0" i="0">
                <a:solidFill>
                  <a:srgbClr val="424456"/>
                </a:solidFill>
                <a:latin typeface="Times New Roman"/>
                <a:cs typeface="Times New Roman"/>
              </a:rPr>
              <a:t>Baseline vs current</a:t>
            </a:r>
          </a:p>
        </p:txBody>
      </p:sp>
      <p:sp>
        <p:nvSpPr>
          <p:cNvPr id="38" name="Rounded Rectangle 37"/>
          <p:cNvSpPr/>
          <p:nvPr/>
        </p:nvSpPr>
        <p:spPr>
          <a:xfrm>
            <a:off x="2697479" y="4846320"/>
            <a:ext cx="1645920" cy="731520"/>
          </a:xfrm>
          <a:prstGeom prst="roundRect">
            <a:avLst>
              <a:gd name="adj" fmla="val 6000"/>
            </a:avLst>
          </a:prstGeom>
          <a:solidFill>
            <a:srgbClr val="FFFFFF"/>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2715768" y="4892040"/>
            <a:ext cx="1609344" cy="320040"/>
          </a:xfrm>
          <a:prstGeom prst="rect">
            <a:avLst/>
          </a:prstGeom>
          <a:noFill/>
        </p:spPr>
        <p:txBody>
          <a:bodyPr wrap="square" lIns="45720" tIns="27432" rIns="45720" bIns="27432" anchor="t">
            <a:spAutoFit/>
          </a:bodyPr>
          <a:lstStyle/>
          <a:p>
            <a:pPr algn="ctr">
              <a:spcAft>
                <a:spcPts val="400"/>
              </a:spcAft>
            </a:pPr>
            <a:r>
              <a:rPr sz="1300" b="1" i="0">
                <a:solidFill>
                  <a:srgbClr val="438086"/>
                </a:solidFill>
                <a:latin typeface="Courier New"/>
                <a:cs typeface="Courier New"/>
              </a:rPr>
              <a:t>rules.py</a:t>
            </a:r>
          </a:p>
        </p:txBody>
      </p:sp>
      <p:sp>
        <p:nvSpPr>
          <p:cNvPr id="40" name="TextBox 39"/>
          <p:cNvSpPr txBox="1"/>
          <p:nvPr/>
        </p:nvSpPr>
        <p:spPr>
          <a:xfrm>
            <a:off x="2715768" y="5175504"/>
            <a:ext cx="1609344" cy="384048"/>
          </a:xfrm>
          <a:prstGeom prst="rect">
            <a:avLst/>
          </a:prstGeom>
          <a:noFill/>
        </p:spPr>
        <p:txBody>
          <a:bodyPr wrap="square" lIns="45720" tIns="27432" rIns="45720" bIns="27432" anchor="t">
            <a:spAutoFit/>
          </a:bodyPr>
          <a:lstStyle/>
          <a:p>
            <a:pPr algn="ctr">
              <a:spcAft>
                <a:spcPts val="400"/>
              </a:spcAft>
            </a:pPr>
            <a:r>
              <a:rPr sz="1150" b="0" i="0">
                <a:solidFill>
                  <a:srgbClr val="424456"/>
                </a:solidFill>
                <a:latin typeface="Times New Roman"/>
                <a:cs typeface="Times New Roman"/>
              </a:rPr>
              <a:t>Severity + ATT&amp;CK</a:t>
            </a:r>
          </a:p>
        </p:txBody>
      </p:sp>
      <p:sp>
        <p:nvSpPr>
          <p:cNvPr id="41" name="Right Arrow 40"/>
          <p:cNvSpPr/>
          <p:nvPr/>
        </p:nvSpPr>
        <p:spPr>
          <a:xfrm>
            <a:off x="4462272" y="3520440"/>
            <a:ext cx="219456" cy="411480"/>
          </a:xfrm>
          <a:prstGeom prst="rightArrow">
            <a:avLst/>
          </a:prstGeom>
          <a:solidFill>
            <a:srgbClr val="424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4709159" y="1737360"/>
            <a:ext cx="1828800" cy="3977639"/>
          </a:xfrm>
          <a:prstGeom prst="roundRect">
            <a:avLst>
              <a:gd name="adj" fmla="val 6000"/>
            </a:avLst>
          </a:prstGeom>
          <a:solidFill>
            <a:srgbClr val="EEEEF6"/>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4709159" y="1737360"/>
            <a:ext cx="1828800" cy="502920"/>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4709159" y="1737360"/>
            <a:ext cx="1828800" cy="502920"/>
          </a:xfrm>
          <a:prstGeom prst="rect">
            <a:avLst/>
          </a:prstGeom>
          <a:noFill/>
        </p:spPr>
        <p:txBody>
          <a:bodyPr wrap="square" lIns="45720" tIns="27432" rIns="45720" bIns="27432" anchor="ctr">
            <a:spAutoFit/>
          </a:bodyPr>
          <a:lstStyle/>
          <a:p>
            <a:pPr algn="ctr">
              <a:spcAft>
                <a:spcPts val="400"/>
              </a:spcAft>
            </a:pPr>
            <a:r>
              <a:rPr sz="1600" b="1" i="0">
                <a:solidFill>
                  <a:srgbClr val="FFFFFF"/>
                </a:solidFill>
                <a:latin typeface="Times New Roman"/>
                <a:cs typeface="Times New Roman"/>
              </a:rPr>
              <a:t>3  JSON State</a:t>
            </a:r>
          </a:p>
        </p:txBody>
      </p:sp>
      <p:sp>
        <p:nvSpPr>
          <p:cNvPr id="45" name="Rounded Rectangle 44"/>
          <p:cNvSpPr/>
          <p:nvPr/>
        </p:nvSpPr>
        <p:spPr>
          <a:xfrm>
            <a:off x="4800599" y="2377440"/>
            <a:ext cx="1645920" cy="731520"/>
          </a:xfrm>
          <a:prstGeom prst="roundRect">
            <a:avLst>
              <a:gd name="adj" fmla="val 6000"/>
            </a:avLst>
          </a:prstGeom>
          <a:solidFill>
            <a:srgbClr val="FFFFFF"/>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4818888" y="2423160"/>
            <a:ext cx="1609344" cy="320040"/>
          </a:xfrm>
          <a:prstGeom prst="rect">
            <a:avLst/>
          </a:prstGeom>
          <a:noFill/>
        </p:spPr>
        <p:txBody>
          <a:bodyPr wrap="square" lIns="45720" tIns="27432" rIns="45720" bIns="27432" anchor="t">
            <a:spAutoFit/>
          </a:bodyPr>
          <a:lstStyle/>
          <a:p>
            <a:pPr algn="ctr">
              <a:spcAft>
                <a:spcPts val="400"/>
              </a:spcAft>
            </a:pPr>
            <a:r>
              <a:rPr sz="1300" b="1" i="0">
                <a:solidFill>
                  <a:srgbClr val="53548A"/>
                </a:solidFill>
                <a:latin typeface="Courier New"/>
                <a:cs typeface="Courier New"/>
              </a:rPr>
              <a:t>baseline.json</a:t>
            </a:r>
          </a:p>
        </p:txBody>
      </p:sp>
      <p:sp>
        <p:nvSpPr>
          <p:cNvPr id="47" name="TextBox 46"/>
          <p:cNvSpPr txBox="1"/>
          <p:nvPr/>
        </p:nvSpPr>
        <p:spPr>
          <a:xfrm>
            <a:off x="4818888" y="2706624"/>
            <a:ext cx="1609344" cy="384048"/>
          </a:xfrm>
          <a:prstGeom prst="rect">
            <a:avLst/>
          </a:prstGeom>
          <a:noFill/>
        </p:spPr>
        <p:txBody>
          <a:bodyPr wrap="square" lIns="45720" tIns="27432" rIns="45720" bIns="27432" anchor="t">
            <a:spAutoFit/>
          </a:bodyPr>
          <a:lstStyle/>
          <a:p>
            <a:pPr algn="ctr">
              <a:spcAft>
                <a:spcPts val="400"/>
              </a:spcAft>
            </a:pPr>
            <a:r>
              <a:rPr sz="1150" b="0" i="0">
                <a:solidFill>
                  <a:srgbClr val="424456"/>
                </a:solidFill>
                <a:latin typeface="Times New Roman"/>
                <a:cs typeface="Times New Roman"/>
              </a:rPr>
              <a:t>Hashes + content</a:t>
            </a:r>
          </a:p>
        </p:txBody>
      </p:sp>
      <p:sp>
        <p:nvSpPr>
          <p:cNvPr id="48" name="Rounded Rectangle 47"/>
          <p:cNvSpPr/>
          <p:nvPr/>
        </p:nvSpPr>
        <p:spPr>
          <a:xfrm>
            <a:off x="4800599" y="3200400"/>
            <a:ext cx="1645920" cy="731520"/>
          </a:xfrm>
          <a:prstGeom prst="roundRect">
            <a:avLst>
              <a:gd name="adj" fmla="val 6000"/>
            </a:avLst>
          </a:prstGeom>
          <a:solidFill>
            <a:srgbClr val="FFFFFF"/>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818888" y="3246120"/>
            <a:ext cx="1609344" cy="320040"/>
          </a:xfrm>
          <a:prstGeom prst="rect">
            <a:avLst/>
          </a:prstGeom>
          <a:noFill/>
        </p:spPr>
        <p:txBody>
          <a:bodyPr wrap="square" lIns="45720" tIns="27432" rIns="45720" bIns="27432" anchor="t">
            <a:spAutoFit/>
          </a:bodyPr>
          <a:lstStyle/>
          <a:p>
            <a:pPr algn="ctr">
              <a:spcAft>
                <a:spcPts val="400"/>
              </a:spcAft>
            </a:pPr>
            <a:r>
              <a:rPr sz="1300" b="1" i="0">
                <a:solidFill>
                  <a:srgbClr val="53548A"/>
                </a:solidFill>
                <a:latin typeface="Courier New"/>
                <a:cs typeface="Courier New"/>
              </a:rPr>
              <a:t>events.json</a:t>
            </a:r>
          </a:p>
        </p:txBody>
      </p:sp>
      <p:sp>
        <p:nvSpPr>
          <p:cNvPr id="50" name="TextBox 49"/>
          <p:cNvSpPr txBox="1"/>
          <p:nvPr/>
        </p:nvSpPr>
        <p:spPr>
          <a:xfrm>
            <a:off x="4818888" y="3529584"/>
            <a:ext cx="1609344" cy="384048"/>
          </a:xfrm>
          <a:prstGeom prst="rect">
            <a:avLst/>
          </a:prstGeom>
          <a:noFill/>
        </p:spPr>
        <p:txBody>
          <a:bodyPr wrap="square" lIns="45720" tIns="27432" rIns="45720" bIns="27432" anchor="t">
            <a:spAutoFit/>
          </a:bodyPr>
          <a:lstStyle/>
          <a:p>
            <a:pPr algn="ctr">
              <a:spcAft>
                <a:spcPts val="400"/>
              </a:spcAft>
            </a:pPr>
            <a:r>
              <a:rPr sz="1150" b="0" i="0">
                <a:solidFill>
                  <a:srgbClr val="424456"/>
                </a:solidFill>
                <a:latin typeface="Times New Roman"/>
                <a:cs typeface="Times New Roman"/>
              </a:rPr>
              <a:t>Detected changes</a:t>
            </a:r>
          </a:p>
        </p:txBody>
      </p:sp>
      <p:sp>
        <p:nvSpPr>
          <p:cNvPr id="51" name="Right Arrow 50"/>
          <p:cNvSpPr/>
          <p:nvPr/>
        </p:nvSpPr>
        <p:spPr>
          <a:xfrm>
            <a:off x="6565392" y="3520440"/>
            <a:ext cx="219456" cy="411480"/>
          </a:xfrm>
          <a:prstGeom prst="rightArrow">
            <a:avLst/>
          </a:prstGeom>
          <a:solidFill>
            <a:srgbClr val="424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6812279" y="1737360"/>
            <a:ext cx="1828800" cy="3977639"/>
          </a:xfrm>
          <a:prstGeom prst="roundRect">
            <a:avLst>
              <a:gd name="adj" fmla="val 6000"/>
            </a:avLst>
          </a:prstGeom>
          <a:solidFill>
            <a:srgbClr val="E4F0F1"/>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6812279" y="1737360"/>
            <a:ext cx="1828800" cy="502920"/>
          </a:xfrm>
          <a:prstGeom prst="roundRect">
            <a:avLst>
              <a:gd name="adj" fmla="val 6000"/>
            </a:avLst>
          </a:prstGeom>
          <a:solidFill>
            <a:srgbClr val="438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812279" y="1737360"/>
            <a:ext cx="1828800" cy="502920"/>
          </a:xfrm>
          <a:prstGeom prst="rect">
            <a:avLst/>
          </a:prstGeom>
          <a:noFill/>
        </p:spPr>
        <p:txBody>
          <a:bodyPr wrap="square" lIns="45720" tIns="27432" rIns="45720" bIns="27432" anchor="ctr">
            <a:spAutoFit/>
          </a:bodyPr>
          <a:lstStyle/>
          <a:p>
            <a:pPr algn="ctr">
              <a:spcAft>
                <a:spcPts val="400"/>
              </a:spcAft>
            </a:pPr>
            <a:r>
              <a:rPr sz="1600" b="1" i="0">
                <a:solidFill>
                  <a:srgbClr val="FFFFFF"/>
                </a:solidFill>
                <a:latin typeface="Times New Roman"/>
                <a:cs typeface="Times New Roman"/>
              </a:rPr>
              <a:t>4  Interface</a:t>
            </a:r>
          </a:p>
        </p:txBody>
      </p:sp>
      <p:sp>
        <p:nvSpPr>
          <p:cNvPr id="55" name="Rounded Rectangle 54"/>
          <p:cNvSpPr/>
          <p:nvPr/>
        </p:nvSpPr>
        <p:spPr>
          <a:xfrm>
            <a:off x="6903719" y="2377440"/>
            <a:ext cx="1645920" cy="731520"/>
          </a:xfrm>
          <a:prstGeom prst="roundRect">
            <a:avLst>
              <a:gd name="adj" fmla="val 6000"/>
            </a:avLst>
          </a:prstGeom>
          <a:solidFill>
            <a:srgbClr val="FFFFFF"/>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6922007" y="2423160"/>
            <a:ext cx="1609344" cy="320040"/>
          </a:xfrm>
          <a:prstGeom prst="rect">
            <a:avLst/>
          </a:prstGeom>
          <a:noFill/>
        </p:spPr>
        <p:txBody>
          <a:bodyPr wrap="square" lIns="45720" tIns="27432" rIns="45720" bIns="27432" anchor="t">
            <a:spAutoFit/>
          </a:bodyPr>
          <a:lstStyle/>
          <a:p>
            <a:pPr algn="ctr">
              <a:spcAft>
                <a:spcPts val="400"/>
              </a:spcAft>
            </a:pPr>
            <a:r>
              <a:rPr sz="1300" b="1" i="0">
                <a:solidFill>
                  <a:srgbClr val="438086"/>
                </a:solidFill>
                <a:latin typeface="Courier New"/>
                <a:cs typeface="Courier New"/>
              </a:rPr>
              <a:t>manage.py</a:t>
            </a:r>
          </a:p>
        </p:txBody>
      </p:sp>
      <p:sp>
        <p:nvSpPr>
          <p:cNvPr id="57" name="TextBox 56"/>
          <p:cNvSpPr txBox="1"/>
          <p:nvPr/>
        </p:nvSpPr>
        <p:spPr>
          <a:xfrm>
            <a:off x="6922007" y="2706624"/>
            <a:ext cx="1609344" cy="384048"/>
          </a:xfrm>
          <a:prstGeom prst="rect">
            <a:avLst/>
          </a:prstGeom>
          <a:noFill/>
        </p:spPr>
        <p:txBody>
          <a:bodyPr wrap="square" lIns="45720" tIns="27432" rIns="45720" bIns="27432" anchor="t">
            <a:spAutoFit/>
          </a:bodyPr>
          <a:lstStyle/>
          <a:p>
            <a:pPr algn="ctr">
              <a:spcAft>
                <a:spcPts val="400"/>
              </a:spcAft>
            </a:pPr>
            <a:r>
              <a:rPr sz="1150" b="0" i="0">
                <a:solidFill>
                  <a:srgbClr val="424456"/>
                </a:solidFill>
                <a:latin typeface="Times New Roman"/>
                <a:cs typeface="Times New Roman"/>
              </a:rPr>
              <a:t>baseline · scan · simulate · reset</a:t>
            </a:r>
          </a:p>
        </p:txBody>
      </p:sp>
      <p:sp>
        <p:nvSpPr>
          <p:cNvPr id="58" name="Rounded Rectangle 57"/>
          <p:cNvSpPr/>
          <p:nvPr/>
        </p:nvSpPr>
        <p:spPr>
          <a:xfrm>
            <a:off x="6903719" y="3200400"/>
            <a:ext cx="1645920" cy="731520"/>
          </a:xfrm>
          <a:prstGeom prst="roundRect">
            <a:avLst>
              <a:gd name="adj" fmla="val 6000"/>
            </a:avLst>
          </a:prstGeom>
          <a:solidFill>
            <a:srgbClr val="FFFFFF"/>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6922007" y="3246120"/>
            <a:ext cx="1609344" cy="320040"/>
          </a:xfrm>
          <a:prstGeom prst="rect">
            <a:avLst/>
          </a:prstGeom>
          <a:noFill/>
        </p:spPr>
        <p:txBody>
          <a:bodyPr wrap="square" lIns="45720" tIns="27432" rIns="45720" bIns="27432" anchor="t">
            <a:spAutoFit/>
          </a:bodyPr>
          <a:lstStyle/>
          <a:p>
            <a:pPr algn="ctr">
              <a:spcAft>
                <a:spcPts val="400"/>
              </a:spcAft>
            </a:pPr>
            <a:r>
              <a:rPr sz="1300" b="1" i="0">
                <a:solidFill>
                  <a:srgbClr val="438086"/>
                </a:solidFill>
                <a:latin typeface="Times New Roman"/>
                <a:cs typeface="Times New Roman"/>
              </a:rPr>
              <a:t>Dashboard</a:t>
            </a:r>
          </a:p>
        </p:txBody>
      </p:sp>
      <p:sp>
        <p:nvSpPr>
          <p:cNvPr id="60" name="TextBox 59"/>
          <p:cNvSpPr txBox="1"/>
          <p:nvPr/>
        </p:nvSpPr>
        <p:spPr>
          <a:xfrm>
            <a:off x="6922007" y="3529584"/>
            <a:ext cx="1609344" cy="384048"/>
          </a:xfrm>
          <a:prstGeom prst="rect">
            <a:avLst/>
          </a:prstGeom>
          <a:noFill/>
        </p:spPr>
        <p:txBody>
          <a:bodyPr wrap="square" lIns="45720" tIns="27432" rIns="45720" bIns="27432" anchor="t">
            <a:spAutoFit/>
          </a:bodyPr>
          <a:lstStyle/>
          <a:p>
            <a:pPr algn="ctr">
              <a:spcAft>
                <a:spcPts val="400"/>
              </a:spcAft>
            </a:pPr>
            <a:r>
              <a:rPr sz="1150" b="0" i="0">
                <a:solidFill>
                  <a:srgbClr val="424456"/>
                </a:solidFill>
                <a:latin typeface="Times New Roman"/>
                <a:cs typeface="Times New Roman"/>
              </a:rPr>
              <a:t>127.0.0.1:8080</a:t>
            </a:r>
          </a:p>
        </p:txBody>
      </p:sp>
      <p:sp>
        <p:nvSpPr>
          <p:cNvPr id="61" name="Rounded Rectangle 60"/>
          <p:cNvSpPr/>
          <p:nvPr/>
        </p:nvSpPr>
        <p:spPr>
          <a:xfrm>
            <a:off x="502920" y="5870448"/>
            <a:ext cx="8138160" cy="621792"/>
          </a:xfrm>
          <a:prstGeom prst="roundRect">
            <a:avLst>
              <a:gd name="adj" fmla="val 6000"/>
            </a:avLst>
          </a:prstGeom>
          <a:solidFill>
            <a:srgbClr val="FFFFFF"/>
          </a:solidFill>
          <a:ln w="15875">
            <a:solidFill>
              <a:srgbClr val="535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640080" y="5879592"/>
            <a:ext cx="7863840" cy="603504"/>
          </a:xfrm>
          <a:prstGeom prst="rect">
            <a:avLst/>
          </a:prstGeom>
          <a:noFill/>
        </p:spPr>
        <p:txBody>
          <a:bodyPr wrap="square" lIns="45720" tIns="27432" rIns="45720" bIns="27432" anchor="ctr">
            <a:spAutoFit/>
          </a:bodyPr>
          <a:lstStyle/>
          <a:p>
            <a:pPr algn="l">
              <a:spcAft>
                <a:spcPts val="400"/>
              </a:spcAft>
            </a:pPr>
            <a:r>
              <a:rPr sz="1400" b="1" i="0">
                <a:solidFill>
                  <a:srgbClr val="53548A"/>
                </a:solidFill>
                <a:latin typeface="Times New Roman"/>
                <a:cs typeface="Times New Roman"/>
              </a:rPr>
              <a:t>Data flow: </a:t>
            </a:r>
            <a:r>
              <a:rPr sz="1400" b="0" i="0">
                <a:solidFill>
                  <a:srgbClr val="424456"/>
                </a:solidFill>
                <a:latin typeface="Times New Roman"/>
                <a:cs typeface="Times New Roman"/>
              </a:rPr>
              <a:t>files → scan → compare → save event → show on dashboard. </a:t>
            </a:r>
            <a:r>
              <a:rPr sz="1400" b="1" i="0">
                <a:solidFill>
                  <a:srgbClr val="424456"/>
                </a:solidFill>
                <a:latin typeface="Times New Roman"/>
                <a:cs typeface="Times New Roman"/>
              </a:rPr>
              <a:t>Pure Python 3 standard library; real OS files are never touched.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Technologies &amp; Tools</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9</a:t>
            </a:fld>
            <a:endParaRPr lang="en-US" altLang="en-US"/>
          </a:p>
        </p:txBody>
      </p:sp>
      <p:sp>
        <p:nvSpPr>
          <p:cNvPr id="10" name="TextBox 9"/>
          <p:cNvSpPr txBox="1"/>
          <p:nvPr/>
        </p:nvSpPr>
        <p:spPr>
          <a:xfrm>
            <a:off x="502920" y="1691640"/>
            <a:ext cx="4937760" cy="365760"/>
          </a:xfrm>
          <a:prstGeom prst="rect">
            <a:avLst/>
          </a:prstGeom>
          <a:noFill/>
        </p:spPr>
        <p:txBody>
          <a:bodyPr wrap="square" lIns="45720" tIns="27432" rIns="45720" bIns="27432" anchor="t">
            <a:spAutoFit/>
          </a:bodyPr>
          <a:lstStyle/>
          <a:p>
            <a:pPr algn="l">
              <a:spcAft>
                <a:spcPts val="400"/>
              </a:spcAft>
            </a:pPr>
            <a:r>
              <a:rPr sz="1800" b="1" i="0">
                <a:solidFill>
                  <a:srgbClr val="53548A"/>
                </a:solidFill>
                <a:latin typeface="Times New Roman"/>
                <a:cs typeface="Times New Roman"/>
              </a:rPr>
              <a:t>Python 3 standard library</a:t>
            </a:r>
          </a:p>
        </p:txBody>
      </p:sp>
      <p:sp>
        <p:nvSpPr>
          <p:cNvPr id="11" name="Rounded Rectangle 10"/>
          <p:cNvSpPr/>
          <p:nvPr/>
        </p:nvSpPr>
        <p:spPr>
          <a:xfrm>
            <a:off x="502920" y="2148840"/>
            <a:ext cx="4937760" cy="640080"/>
          </a:xfrm>
          <a:prstGeom prst="roundRect">
            <a:avLst>
              <a:gd name="adj" fmla="val 6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40080" y="2258568"/>
            <a:ext cx="1600200" cy="420624"/>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0080" y="2258568"/>
            <a:ext cx="1600200" cy="420624"/>
          </a:xfrm>
          <a:prstGeom prst="rect">
            <a:avLst/>
          </a:prstGeom>
          <a:noFill/>
        </p:spPr>
        <p:txBody>
          <a:bodyPr wrap="square" lIns="45720" tIns="27432" rIns="45720" bIns="27432" anchor="ctr">
            <a:spAutoFit/>
          </a:bodyPr>
          <a:lstStyle/>
          <a:p>
            <a:pPr algn="ctr">
              <a:spcAft>
                <a:spcPts val="400"/>
              </a:spcAft>
            </a:pPr>
            <a:r>
              <a:rPr sz="1400" b="1" i="0">
                <a:solidFill>
                  <a:srgbClr val="FFFFFF"/>
                </a:solidFill>
                <a:latin typeface="Courier New"/>
                <a:cs typeface="Courier New"/>
              </a:rPr>
              <a:t>hashlib</a:t>
            </a:r>
          </a:p>
        </p:txBody>
      </p:sp>
      <p:sp>
        <p:nvSpPr>
          <p:cNvPr id="14" name="TextBox 13"/>
          <p:cNvSpPr txBox="1"/>
          <p:nvPr/>
        </p:nvSpPr>
        <p:spPr>
          <a:xfrm>
            <a:off x="2377440" y="2240280"/>
            <a:ext cx="3017520" cy="457200"/>
          </a:xfrm>
          <a:prstGeom prst="rect">
            <a:avLst/>
          </a:prstGeom>
          <a:noFill/>
        </p:spPr>
        <p:txBody>
          <a:bodyPr wrap="square" lIns="45720" tIns="27432" rIns="45720" bIns="27432" anchor="ctr">
            <a:spAutoFit/>
          </a:bodyPr>
          <a:lstStyle/>
          <a:p>
            <a:pPr algn="l">
              <a:spcAft>
                <a:spcPts val="400"/>
              </a:spcAft>
            </a:pPr>
            <a:r>
              <a:rPr sz="1500" b="0" i="0">
                <a:solidFill>
                  <a:srgbClr val="424456"/>
                </a:solidFill>
                <a:latin typeface="Times New Roman"/>
                <a:cs typeface="Times New Roman"/>
              </a:rPr>
              <a:t>SHA-256 file hashing</a:t>
            </a:r>
          </a:p>
        </p:txBody>
      </p:sp>
      <p:sp>
        <p:nvSpPr>
          <p:cNvPr id="15" name="Rounded Rectangle 14"/>
          <p:cNvSpPr/>
          <p:nvPr/>
        </p:nvSpPr>
        <p:spPr>
          <a:xfrm>
            <a:off x="502920" y="2880360"/>
            <a:ext cx="4937760" cy="640080"/>
          </a:xfrm>
          <a:prstGeom prst="roundRect">
            <a:avLst>
              <a:gd name="adj" fmla="val 6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640080" y="2990088"/>
            <a:ext cx="1600200" cy="420624"/>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40080" y="2990088"/>
            <a:ext cx="1600200" cy="420624"/>
          </a:xfrm>
          <a:prstGeom prst="rect">
            <a:avLst/>
          </a:prstGeom>
          <a:noFill/>
        </p:spPr>
        <p:txBody>
          <a:bodyPr wrap="square" lIns="45720" tIns="27432" rIns="45720" bIns="27432" anchor="ctr">
            <a:spAutoFit/>
          </a:bodyPr>
          <a:lstStyle/>
          <a:p>
            <a:pPr algn="ctr">
              <a:spcAft>
                <a:spcPts val="400"/>
              </a:spcAft>
            </a:pPr>
            <a:r>
              <a:rPr sz="1400" b="1" i="0">
                <a:solidFill>
                  <a:srgbClr val="FFFFFF"/>
                </a:solidFill>
                <a:latin typeface="Courier New"/>
                <a:cs typeface="Courier New"/>
              </a:rPr>
              <a:t>difflib</a:t>
            </a:r>
          </a:p>
        </p:txBody>
      </p:sp>
      <p:sp>
        <p:nvSpPr>
          <p:cNvPr id="18" name="TextBox 17"/>
          <p:cNvSpPr txBox="1"/>
          <p:nvPr/>
        </p:nvSpPr>
        <p:spPr>
          <a:xfrm>
            <a:off x="2377440" y="2971800"/>
            <a:ext cx="3017520" cy="457200"/>
          </a:xfrm>
          <a:prstGeom prst="rect">
            <a:avLst/>
          </a:prstGeom>
          <a:noFill/>
        </p:spPr>
        <p:txBody>
          <a:bodyPr wrap="square" lIns="45720" tIns="27432" rIns="45720" bIns="27432" anchor="ctr">
            <a:spAutoFit/>
          </a:bodyPr>
          <a:lstStyle/>
          <a:p>
            <a:pPr algn="l">
              <a:spcAft>
                <a:spcPts val="400"/>
              </a:spcAft>
            </a:pPr>
            <a:r>
              <a:rPr sz="1500" b="0" i="0">
                <a:solidFill>
                  <a:srgbClr val="424456"/>
                </a:solidFill>
                <a:latin typeface="Times New Roman"/>
                <a:cs typeface="Times New Roman"/>
              </a:rPr>
              <a:t>Unified line-by-line diffs</a:t>
            </a:r>
          </a:p>
        </p:txBody>
      </p:sp>
      <p:sp>
        <p:nvSpPr>
          <p:cNvPr id="19" name="Rounded Rectangle 18"/>
          <p:cNvSpPr/>
          <p:nvPr/>
        </p:nvSpPr>
        <p:spPr>
          <a:xfrm>
            <a:off x="502920" y="3611880"/>
            <a:ext cx="4937760" cy="640080"/>
          </a:xfrm>
          <a:prstGeom prst="roundRect">
            <a:avLst>
              <a:gd name="adj" fmla="val 6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40080" y="3721608"/>
            <a:ext cx="1600200" cy="420624"/>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 y="3721608"/>
            <a:ext cx="1600200" cy="420624"/>
          </a:xfrm>
          <a:prstGeom prst="rect">
            <a:avLst/>
          </a:prstGeom>
          <a:noFill/>
        </p:spPr>
        <p:txBody>
          <a:bodyPr wrap="square" lIns="45720" tIns="27432" rIns="45720" bIns="27432" anchor="ctr">
            <a:spAutoFit/>
          </a:bodyPr>
          <a:lstStyle/>
          <a:p>
            <a:pPr algn="ctr">
              <a:spcAft>
                <a:spcPts val="400"/>
              </a:spcAft>
            </a:pPr>
            <a:r>
              <a:rPr sz="1400" b="1" i="0">
                <a:solidFill>
                  <a:srgbClr val="FFFFFF"/>
                </a:solidFill>
                <a:latin typeface="Courier New"/>
                <a:cs typeface="Courier New"/>
              </a:rPr>
              <a:t>http.server</a:t>
            </a:r>
          </a:p>
        </p:txBody>
      </p:sp>
      <p:sp>
        <p:nvSpPr>
          <p:cNvPr id="22" name="TextBox 21"/>
          <p:cNvSpPr txBox="1"/>
          <p:nvPr/>
        </p:nvSpPr>
        <p:spPr>
          <a:xfrm>
            <a:off x="2377440" y="3703320"/>
            <a:ext cx="3017520" cy="457200"/>
          </a:xfrm>
          <a:prstGeom prst="rect">
            <a:avLst/>
          </a:prstGeom>
          <a:noFill/>
        </p:spPr>
        <p:txBody>
          <a:bodyPr wrap="square" lIns="45720" tIns="27432" rIns="45720" bIns="27432" anchor="ctr">
            <a:spAutoFit/>
          </a:bodyPr>
          <a:lstStyle/>
          <a:p>
            <a:pPr algn="l">
              <a:spcAft>
                <a:spcPts val="400"/>
              </a:spcAft>
            </a:pPr>
            <a:r>
              <a:rPr sz="1500" b="0" i="0">
                <a:solidFill>
                  <a:srgbClr val="424456"/>
                </a:solidFill>
                <a:latin typeface="Times New Roman"/>
                <a:cs typeface="Times New Roman"/>
              </a:rPr>
              <a:t>Local dashboard web server</a:t>
            </a:r>
          </a:p>
        </p:txBody>
      </p:sp>
      <p:sp>
        <p:nvSpPr>
          <p:cNvPr id="23" name="Rounded Rectangle 22"/>
          <p:cNvSpPr/>
          <p:nvPr/>
        </p:nvSpPr>
        <p:spPr>
          <a:xfrm>
            <a:off x="502920" y="4343400"/>
            <a:ext cx="4937760" cy="640080"/>
          </a:xfrm>
          <a:prstGeom prst="roundRect">
            <a:avLst>
              <a:gd name="adj" fmla="val 6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640080" y="4453128"/>
            <a:ext cx="1600200" cy="420624"/>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0080" y="4453128"/>
            <a:ext cx="1600200" cy="420624"/>
          </a:xfrm>
          <a:prstGeom prst="rect">
            <a:avLst/>
          </a:prstGeom>
          <a:noFill/>
        </p:spPr>
        <p:txBody>
          <a:bodyPr wrap="square" lIns="45720" tIns="27432" rIns="45720" bIns="27432" anchor="ctr">
            <a:spAutoFit/>
          </a:bodyPr>
          <a:lstStyle/>
          <a:p>
            <a:pPr algn="ctr">
              <a:spcAft>
                <a:spcPts val="400"/>
              </a:spcAft>
            </a:pPr>
            <a:r>
              <a:rPr sz="1400" b="1" i="0">
                <a:solidFill>
                  <a:srgbClr val="FFFFFF"/>
                </a:solidFill>
                <a:latin typeface="Courier New"/>
                <a:cs typeface="Courier New"/>
              </a:rPr>
              <a:t>json</a:t>
            </a:r>
          </a:p>
        </p:txBody>
      </p:sp>
      <p:sp>
        <p:nvSpPr>
          <p:cNvPr id="26" name="TextBox 25"/>
          <p:cNvSpPr txBox="1"/>
          <p:nvPr/>
        </p:nvSpPr>
        <p:spPr>
          <a:xfrm>
            <a:off x="2377440" y="4434840"/>
            <a:ext cx="3017520" cy="457200"/>
          </a:xfrm>
          <a:prstGeom prst="rect">
            <a:avLst/>
          </a:prstGeom>
          <a:noFill/>
        </p:spPr>
        <p:txBody>
          <a:bodyPr wrap="square" lIns="45720" tIns="27432" rIns="45720" bIns="27432" anchor="ctr">
            <a:spAutoFit/>
          </a:bodyPr>
          <a:lstStyle/>
          <a:p>
            <a:pPr algn="l">
              <a:spcAft>
                <a:spcPts val="400"/>
              </a:spcAft>
            </a:pPr>
            <a:r>
              <a:rPr sz="1500" b="0" i="0">
                <a:solidFill>
                  <a:srgbClr val="424456"/>
                </a:solidFill>
                <a:latin typeface="Times New Roman"/>
                <a:cs typeface="Times New Roman"/>
              </a:rPr>
              <a:t>Baseline and event storage</a:t>
            </a:r>
          </a:p>
        </p:txBody>
      </p:sp>
      <p:sp>
        <p:nvSpPr>
          <p:cNvPr id="27" name="Rounded Rectangle 26"/>
          <p:cNvSpPr/>
          <p:nvPr/>
        </p:nvSpPr>
        <p:spPr>
          <a:xfrm>
            <a:off x="502920" y="5074920"/>
            <a:ext cx="4937760" cy="640080"/>
          </a:xfrm>
          <a:prstGeom prst="roundRect">
            <a:avLst>
              <a:gd name="adj" fmla="val 6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640080" y="5184648"/>
            <a:ext cx="1600200" cy="420624"/>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640080" y="5184648"/>
            <a:ext cx="1600200" cy="420624"/>
          </a:xfrm>
          <a:prstGeom prst="rect">
            <a:avLst/>
          </a:prstGeom>
          <a:noFill/>
        </p:spPr>
        <p:txBody>
          <a:bodyPr wrap="square" lIns="45720" tIns="27432" rIns="45720" bIns="27432" anchor="ctr">
            <a:spAutoFit/>
          </a:bodyPr>
          <a:lstStyle/>
          <a:p>
            <a:pPr algn="ctr">
              <a:spcAft>
                <a:spcPts val="400"/>
              </a:spcAft>
            </a:pPr>
            <a:r>
              <a:rPr sz="1400" b="1" i="0">
                <a:solidFill>
                  <a:srgbClr val="FFFFFF"/>
                </a:solidFill>
                <a:latin typeface="Courier New"/>
                <a:cs typeface="Courier New"/>
              </a:rPr>
              <a:t>unittest</a:t>
            </a:r>
          </a:p>
        </p:txBody>
      </p:sp>
      <p:sp>
        <p:nvSpPr>
          <p:cNvPr id="30" name="TextBox 29"/>
          <p:cNvSpPr txBox="1"/>
          <p:nvPr/>
        </p:nvSpPr>
        <p:spPr>
          <a:xfrm>
            <a:off x="2377440" y="5166359"/>
            <a:ext cx="3017520" cy="457200"/>
          </a:xfrm>
          <a:prstGeom prst="rect">
            <a:avLst/>
          </a:prstGeom>
          <a:noFill/>
        </p:spPr>
        <p:txBody>
          <a:bodyPr wrap="square" lIns="45720" tIns="27432" rIns="45720" bIns="27432" anchor="ctr">
            <a:spAutoFit/>
          </a:bodyPr>
          <a:lstStyle/>
          <a:p>
            <a:pPr algn="l">
              <a:spcAft>
                <a:spcPts val="400"/>
              </a:spcAft>
            </a:pPr>
            <a:r>
              <a:rPr sz="1500" b="0" i="0">
                <a:solidFill>
                  <a:srgbClr val="424456"/>
                </a:solidFill>
                <a:latin typeface="Times New Roman"/>
                <a:cs typeface="Times New Roman"/>
              </a:rPr>
              <a:t>Automated detector tests</a:t>
            </a:r>
          </a:p>
        </p:txBody>
      </p:sp>
      <p:sp>
        <p:nvSpPr>
          <p:cNvPr id="31" name="TextBox 30"/>
          <p:cNvSpPr txBox="1"/>
          <p:nvPr/>
        </p:nvSpPr>
        <p:spPr>
          <a:xfrm>
            <a:off x="5715000" y="1691640"/>
            <a:ext cx="2926080" cy="365760"/>
          </a:xfrm>
          <a:prstGeom prst="rect">
            <a:avLst/>
          </a:prstGeom>
          <a:noFill/>
        </p:spPr>
        <p:txBody>
          <a:bodyPr wrap="square" lIns="45720" tIns="27432" rIns="45720" bIns="27432" anchor="t">
            <a:spAutoFit/>
          </a:bodyPr>
          <a:lstStyle/>
          <a:p>
            <a:pPr algn="l">
              <a:spcAft>
                <a:spcPts val="400"/>
              </a:spcAft>
            </a:pPr>
            <a:r>
              <a:rPr sz="1800" b="1" i="0">
                <a:solidFill>
                  <a:srgbClr val="438086"/>
                </a:solidFill>
                <a:latin typeface="Times New Roman"/>
                <a:cs typeface="Times New Roman"/>
              </a:rPr>
              <a:t>Dashboard &amp; tooling</a:t>
            </a:r>
          </a:p>
        </p:txBody>
      </p:sp>
      <p:sp>
        <p:nvSpPr>
          <p:cNvPr id="32" name="Rounded Rectangle 31"/>
          <p:cNvSpPr/>
          <p:nvPr/>
        </p:nvSpPr>
        <p:spPr>
          <a:xfrm>
            <a:off x="5715000" y="2148840"/>
            <a:ext cx="2926080" cy="1691640"/>
          </a:xfrm>
          <a:prstGeom prst="roundRect">
            <a:avLst>
              <a:gd name="adj" fmla="val 6000"/>
            </a:avLst>
          </a:prstGeom>
          <a:solidFill>
            <a:srgbClr val="E4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52160" y="2221992"/>
            <a:ext cx="2651760" cy="365760"/>
          </a:xfrm>
          <a:prstGeom prst="rect">
            <a:avLst/>
          </a:prstGeom>
          <a:noFill/>
        </p:spPr>
        <p:txBody>
          <a:bodyPr wrap="square" lIns="45720" tIns="27432" rIns="45720" bIns="27432" anchor="t">
            <a:spAutoFit/>
          </a:bodyPr>
          <a:lstStyle/>
          <a:p>
            <a:pPr algn="l">
              <a:spcAft>
                <a:spcPts val="400"/>
              </a:spcAft>
            </a:pPr>
            <a:r>
              <a:rPr sz="1600" b="1" i="0">
                <a:solidFill>
                  <a:srgbClr val="438086"/>
                </a:solidFill>
                <a:latin typeface="Times New Roman"/>
                <a:cs typeface="Times New Roman"/>
              </a:rPr>
              <a:t>Front end</a:t>
            </a:r>
          </a:p>
        </p:txBody>
      </p:sp>
      <p:sp>
        <p:nvSpPr>
          <p:cNvPr id="34" name="TextBox 33"/>
          <p:cNvSpPr txBox="1"/>
          <p:nvPr/>
        </p:nvSpPr>
        <p:spPr>
          <a:xfrm>
            <a:off x="5852160" y="2651760"/>
            <a:ext cx="2651760" cy="1143000"/>
          </a:xfrm>
          <a:prstGeom prst="rect">
            <a:avLst/>
          </a:prstGeom>
          <a:noFill/>
        </p:spPr>
        <p:txBody>
          <a:bodyPr wrap="square" lIns="45720" tIns="27432" rIns="45720" bIns="27432" anchor="t">
            <a:spAutoFit/>
          </a:bodyPr>
          <a:lstStyle/>
          <a:p>
            <a:pPr marL="182880" indent="-182880" algn="l">
              <a:spcAft>
                <a:spcPts val="300"/>
              </a:spcAft>
              <a:buChar char="•"/>
            </a:pPr>
            <a:r>
              <a:rPr sz="1500" b="0" i="0">
                <a:solidFill>
                  <a:srgbClr val="424456"/>
                </a:solidFill>
                <a:latin typeface="Times New Roman"/>
                <a:cs typeface="Times New Roman"/>
              </a:rPr>
              <a:t>HTML5</a:t>
            </a:r>
          </a:p>
          <a:p>
            <a:pPr marL="182880" indent="-182880" algn="l">
              <a:spcAft>
                <a:spcPts val="300"/>
              </a:spcAft>
              <a:buChar char="•"/>
            </a:pPr>
            <a:r>
              <a:rPr sz="1500" b="0" i="0">
                <a:solidFill>
                  <a:srgbClr val="424456"/>
                </a:solidFill>
                <a:latin typeface="Times New Roman"/>
                <a:cs typeface="Times New Roman"/>
              </a:rPr>
              <a:t>CSS3</a:t>
            </a:r>
          </a:p>
          <a:p>
            <a:pPr marL="182880" indent="-182880" algn="l">
              <a:spcAft>
                <a:spcPts val="300"/>
              </a:spcAft>
              <a:buChar char="•"/>
            </a:pPr>
            <a:r>
              <a:rPr sz="1500" b="0" i="0">
                <a:solidFill>
                  <a:srgbClr val="424456"/>
                </a:solidFill>
                <a:latin typeface="Times New Roman"/>
                <a:cs typeface="Times New Roman"/>
              </a:rPr>
              <a:t>JavaScript</a:t>
            </a:r>
          </a:p>
        </p:txBody>
      </p:sp>
      <p:sp>
        <p:nvSpPr>
          <p:cNvPr id="35" name="Rounded Rectangle 34"/>
          <p:cNvSpPr/>
          <p:nvPr/>
        </p:nvSpPr>
        <p:spPr>
          <a:xfrm>
            <a:off x="5715000" y="4023360"/>
            <a:ext cx="2926080" cy="1691640"/>
          </a:xfrm>
          <a:prstGeom prst="roundRect">
            <a:avLst>
              <a:gd name="adj" fmla="val 6000"/>
            </a:avLst>
          </a:prstGeom>
          <a:solidFill>
            <a:srgbClr val="E4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852160" y="4096512"/>
            <a:ext cx="2651760" cy="365760"/>
          </a:xfrm>
          <a:prstGeom prst="rect">
            <a:avLst/>
          </a:prstGeom>
          <a:noFill/>
        </p:spPr>
        <p:txBody>
          <a:bodyPr wrap="square" lIns="45720" tIns="27432" rIns="45720" bIns="27432" anchor="t">
            <a:spAutoFit/>
          </a:bodyPr>
          <a:lstStyle/>
          <a:p>
            <a:pPr algn="l">
              <a:spcAft>
                <a:spcPts val="400"/>
              </a:spcAft>
            </a:pPr>
            <a:r>
              <a:rPr sz="1600" b="1" i="0">
                <a:solidFill>
                  <a:srgbClr val="438086"/>
                </a:solidFill>
                <a:latin typeface="Times New Roman"/>
                <a:cs typeface="Times New Roman"/>
              </a:rPr>
              <a:t>Tooling</a:t>
            </a:r>
          </a:p>
        </p:txBody>
      </p:sp>
      <p:sp>
        <p:nvSpPr>
          <p:cNvPr id="37" name="TextBox 36"/>
          <p:cNvSpPr txBox="1"/>
          <p:nvPr/>
        </p:nvSpPr>
        <p:spPr>
          <a:xfrm>
            <a:off x="5852160" y="4526280"/>
            <a:ext cx="2651760" cy="1143000"/>
          </a:xfrm>
          <a:prstGeom prst="rect">
            <a:avLst/>
          </a:prstGeom>
          <a:noFill/>
        </p:spPr>
        <p:txBody>
          <a:bodyPr wrap="square" lIns="45720" tIns="27432" rIns="45720" bIns="27432" anchor="t">
            <a:spAutoFit/>
          </a:bodyPr>
          <a:lstStyle/>
          <a:p>
            <a:pPr marL="182880" indent="-182880" algn="l">
              <a:spcAft>
                <a:spcPts val="300"/>
              </a:spcAft>
              <a:buChar char="•"/>
            </a:pPr>
            <a:r>
              <a:rPr sz="1500" b="0" i="0">
                <a:solidFill>
                  <a:srgbClr val="424456"/>
                </a:solidFill>
                <a:latin typeface="Times New Roman"/>
                <a:cs typeface="Times New Roman"/>
              </a:rPr>
              <a:t>manage.py CLI</a:t>
            </a:r>
          </a:p>
          <a:p>
            <a:pPr marL="182880" indent="-182880" algn="l">
              <a:spcAft>
                <a:spcPts val="300"/>
              </a:spcAft>
              <a:buChar char="•"/>
            </a:pPr>
            <a:r>
              <a:rPr sz="1500" b="0" i="0">
                <a:solidFill>
                  <a:srgbClr val="424456"/>
                </a:solidFill>
                <a:latin typeface="Times New Roman"/>
                <a:cs typeface="Times New Roman"/>
              </a:rPr>
              <a:t>Windows PowerShell</a:t>
            </a:r>
          </a:p>
          <a:p>
            <a:pPr marL="182880" indent="-182880" algn="l">
              <a:spcAft>
                <a:spcPts val="300"/>
              </a:spcAft>
              <a:buChar char="•"/>
            </a:pPr>
            <a:r>
              <a:rPr sz="1500" b="0" i="0">
                <a:solidFill>
                  <a:srgbClr val="424456"/>
                </a:solidFill>
                <a:latin typeface="Times New Roman"/>
                <a:cs typeface="Times New Roman"/>
              </a:rPr>
              <a:t>Python 3.14</a:t>
            </a:r>
          </a:p>
        </p:txBody>
      </p:sp>
      <p:sp>
        <p:nvSpPr>
          <p:cNvPr id="38" name="Rounded Rectangle 37"/>
          <p:cNvSpPr/>
          <p:nvPr/>
        </p:nvSpPr>
        <p:spPr>
          <a:xfrm>
            <a:off x="502920" y="5943600"/>
            <a:ext cx="8138160" cy="548640"/>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02920" y="5943600"/>
            <a:ext cx="8138160" cy="548640"/>
          </a:xfrm>
          <a:prstGeom prst="rect">
            <a:avLst/>
          </a:prstGeom>
          <a:noFill/>
        </p:spPr>
        <p:txBody>
          <a:bodyPr wrap="square" lIns="45720" tIns="27432" rIns="45720" bIns="27432" anchor="ctr">
            <a:spAutoFit/>
          </a:bodyPr>
          <a:lstStyle/>
          <a:p>
            <a:pPr algn="ctr">
              <a:spcAft>
                <a:spcPts val="400"/>
              </a:spcAft>
            </a:pPr>
            <a:r>
              <a:rPr sz="1700" b="1" i="0">
                <a:solidFill>
                  <a:srgbClr val="FFFFFF"/>
                </a:solidFill>
                <a:latin typeface="Times New Roman"/>
                <a:cs typeface="Times New Roman"/>
              </a:rPr>
              <a:t>Zero external packages: nothing to pip install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Working Methodology</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10</a:t>
            </a:fld>
            <a:endParaRPr lang="en-US" altLang="en-US"/>
          </a:p>
        </p:txBody>
      </p:sp>
      <p:sp>
        <p:nvSpPr>
          <p:cNvPr id="10" name="Chevron 9"/>
          <p:cNvSpPr/>
          <p:nvPr/>
        </p:nvSpPr>
        <p:spPr>
          <a:xfrm>
            <a:off x="502920" y="1737360"/>
            <a:ext cx="1645920" cy="658368"/>
          </a:xfrm>
          <a:prstGeom prst="chevron">
            <a:avLst>
              <a:gd name="adj" fmla="val 28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2000" b="1" i="0">
                <a:solidFill>
                  <a:srgbClr val="FFFFFF"/>
                </a:solidFill>
                <a:latin typeface="Times New Roman"/>
                <a:cs typeface="Times New Roman"/>
              </a:rPr>
              <a:t>1</a:t>
            </a:r>
          </a:p>
        </p:txBody>
      </p:sp>
      <p:sp>
        <p:nvSpPr>
          <p:cNvPr id="11" name="Rounded Rectangle 10"/>
          <p:cNvSpPr/>
          <p:nvPr/>
        </p:nvSpPr>
        <p:spPr>
          <a:xfrm>
            <a:off x="502920" y="2560320"/>
            <a:ext cx="1554480" cy="2423160"/>
          </a:xfrm>
          <a:prstGeom prst="roundRect">
            <a:avLst>
              <a:gd name="adj" fmla="val 6000"/>
            </a:avLst>
          </a:prstGeom>
          <a:solidFill>
            <a:srgbClr val="EEEEF6"/>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8640" y="2633472"/>
            <a:ext cx="1463040" cy="548640"/>
          </a:xfrm>
          <a:prstGeom prst="rect">
            <a:avLst/>
          </a:prstGeom>
          <a:noFill/>
        </p:spPr>
        <p:txBody>
          <a:bodyPr wrap="square" lIns="45720" tIns="27432" rIns="45720" bIns="27432" anchor="ctr">
            <a:spAutoFit/>
          </a:bodyPr>
          <a:lstStyle/>
          <a:p>
            <a:pPr algn="ctr">
              <a:spcAft>
                <a:spcPts val="400"/>
              </a:spcAft>
            </a:pPr>
            <a:r>
              <a:rPr sz="1500" b="1" i="0">
                <a:solidFill>
                  <a:srgbClr val="53548A"/>
                </a:solidFill>
                <a:latin typeface="Times New Roman"/>
                <a:cs typeface="Times New Roman"/>
              </a:rPr>
              <a:t>Baseline</a:t>
            </a:r>
          </a:p>
        </p:txBody>
      </p:sp>
      <p:sp>
        <p:nvSpPr>
          <p:cNvPr id="13" name="TextBox 12"/>
          <p:cNvSpPr txBox="1"/>
          <p:nvPr/>
        </p:nvSpPr>
        <p:spPr>
          <a:xfrm>
            <a:off x="566928" y="3200400"/>
            <a:ext cx="1426464" cy="1097280"/>
          </a:xfrm>
          <a:prstGeom prst="rect">
            <a:avLst/>
          </a:prstGeom>
          <a:noFill/>
        </p:spPr>
        <p:txBody>
          <a:bodyPr wrap="square" lIns="45720" tIns="27432" rIns="45720" bIns="27432" anchor="t">
            <a:spAutoFit/>
          </a:bodyPr>
          <a:lstStyle/>
          <a:p>
            <a:pPr algn="ctr">
              <a:spcAft>
                <a:spcPts val="400"/>
              </a:spcAft>
            </a:pPr>
            <a:r>
              <a:rPr sz="1300" b="0" i="0">
                <a:solidFill>
                  <a:srgbClr val="424456"/>
                </a:solidFill>
                <a:latin typeface="Times New Roman"/>
                <a:cs typeface="Times New Roman"/>
              </a:rPr>
              <a:t>Hash and record all 23 locations</a:t>
            </a:r>
          </a:p>
        </p:txBody>
      </p:sp>
      <p:sp>
        <p:nvSpPr>
          <p:cNvPr id="14" name="Rounded Rectangle 13"/>
          <p:cNvSpPr/>
          <p:nvPr/>
        </p:nvSpPr>
        <p:spPr>
          <a:xfrm>
            <a:off x="594360" y="4370832"/>
            <a:ext cx="1371600" cy="502920"/>
          </a:xfrm>
          <a:prstGeom prst="roundRect">
            <a:avLst>
              <a:gd name="adj" fmla="val 12000"/>
            </a:avLst>
          </a:prstGeom>
          <a:solidFill>
            <a:srgbClr val="424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94360" y="4370832"/>
            <a:ext cx="1371600" cy="502920"/>
          </a:xfrm>
          <a:prstGeom prst="rect">
            <a:avLst/>
          </a:prstGeom>
          <a:noFill/>
        </p:spPr>
        <p:txBody>
          <a:bodyPr wrap="square" lIns="18288" tIns="27432" rIns="18288" bIns="27432" anchor="ctr">
            <a:spAutoFit/>
          </a:bodyPr>
          <a:lstStyle/>
          <a:p>
            <a:pPr algn="ctr">
              <a:spcAft>
                <a:spcPts val="400"/>
              </a:spcAft>
            </a:pPr>
            <a:r>
              <a:rPr sz="1050" b="0" i="0">
                <a:solidFill>
                  <a:srgbClr val="FFFFFF"/>
                </a:solidFill>
                <a:latin typeface="Courier New"/>
                <a:cs typeface="Courier New"/>
              </a:rPr>
              <a:t>manage.py baseline</a:t>
            </a:r>
          </a:p>
        </p:txBody>
      </p:sp>
      <p:sp>
        <p:nvSpPr>
          <p:cNvPr id="16" name="Chevron 15"/>
          <p:cNvSpPr/>
          <p:nvPr/>
        </p:nvSpPr>
        <p:spPr>
          <a:xfrm>
            <a:off x="2125980" y="1737360"/>
            <a:ext cx="1645920" cy="658368"/>
          </a:xfrm>
          <a:prstGeom prst="chevron">
            <a:avLst>
              <a:gd name="adj" fmla="val 28000"/>
            </a:avLst>
          </a:prstGeom>
          <a:solidFill>
            <a:srgbClr val="438086"/>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2000" b="1" i="0">
                <a:solidFill>
                  <a:srgbClr val="FFFFFF"/>
                </a:solidFill>
                <a:latin typeface="Times New Roman"/>
                <a:cs typeface="Times New Roman"/>
              </a:rPr>
              <a:t>2</a:t>
            </a:r>
          </a:p>
        </p:txBody>
      </p:sp>
      <p:sp>
        <p:nvSpPr>
          <p:cNvPr id="17" name="Rounded Rectangle 16"/>
          <p:cNvSpPr/>
          <p:nvPr/>
        </p:nvSpPr>
        <p:spPr>
          <a:xfrm>
            <a:off x="2125980" y="2560320"/>
            <a:ext cx="1554480" cy="2423160"/>
          </a:xfrm>
          <a:prstGeom prst="roundRect">
            <a:avLst>
              <a:gd name="adj" fmla="val 6000"/>
            </a:avLst>
          </a:prstGeom>
          <a:solidFill>
            <a:srgbClr val="E4F0F1"/>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171700" y="2633472"/>
            <a:ext cx="1463040" cy="548640"/>
          </a:xfrm>
          <a:prstGeom prst="rect">
            <a:avLst/>
          </a:prstGeom>
          <a:noFill/>
        </p:spPr>
        <p:txBody>
          <a:bodyPr wrap="square" lIns="45720" tIns="27432" rIns="45720" bIns="27432" anchor="ctr">
            <a:spAutoFit/>
          </a:bodyPr>
          <a:lstStyle/>
          <a:p>
            <a:pPr algn="ctr">
              <a:spcAft>
                <a:spcPts val="400"/>
              </a:spcAft>
            </a:pPr>
            <a:r>
              <a:rPr sz="1500" b="1" i="0">
                <a:solidFill>
                  <a:srgbClr val="438086"/>
                </a:solidFill>
                <a:latin typeface="Times New Roman"/>
                <a:cs typeface="Times New Roman"/>
              </a:rPr>
              <a:t>Simulate</a:t>
            </a:r>
          </a:p>
        </p:txBody>
      </p:sp>
      <p:sp>
        <p:nvSpPr>
          <p:cNvPr id="19" name="TextBox 18"/>
          <p:cNvSpPr txBox="1"/>
          <p:nvPr/>
        </p:nvSpPr>
        <p:spPr>
          <a:xfrm>
            <a:off x="2189988" y="3200400"/>
            <a:ext cx="1426464" cy="1097280"/>
          </a:xfrm>
          <a:prstGeom prst="rect">
            <a:avLst/>
          </a:prstGeom>
          <a:noFill/>
        </p:spPr>
        <p:txBody>
          <a:bodyPr wrap="square" lIns="45720" tIns="27432" rIns="45720" bIns="27432" anchor="t">
            <a:spAutoFit/>
          </a:bodyPr>
          <a:lstStyle/>
          <a:p>
            <a:pPr algn="ctr">
              <a:spcAft>
                <a:spcPts val="400"/>
              </a:spcAft>
            </a:pPr>
            <a:r>
              <a:rPr sz="1300" b="0" i="0">
                <a:solidFill>
                  <a:srgbClr val="424456"/>
                </a:solidFill>
                <a:latin typeface="Times New Roman"/>
                <a:cs typeface="Times New Roman"/>
              </a:rPr>
              <a:t>Make a safe change in mock_linux/</a:t>
            </a:r>
          </a:p>
        </p:txBody>
      </p:sp>
      <p:sp>
        <p:nvSpPr>
          <p:cNvPr id="20" name="Rounded Rectangle 19"/>
          <p:cNvSpPr/>
          <p:nvPr/>
        </p:nvSpPr>
        <p:spPr>
          <a:xfrm>
            <a:off x="2217420" y="4370832"/>
            <a:ext cx="1371600" cy="502920"/>
          </a:xfrm>
          <a:prstGeom prst="roundRect">
            <a:avLst>
              <a:gd name="adj" fmla="val 12000"/>
            </a:avLst>
          </a:prstGeom>
          <a:solidFill>
            <a:srgbClr val="424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2217420" y="4370832"/>
            <a:ext cx="1371600" cy="502920"/>
          </a:xfrm>
          <a:prstGeom prst="rect">
            <a:avLst/>
          </a:prstGeom>
          <a:noFill/>
        </p:spPr>
        <p:txBody>
          <a:bodyPr wrap="square" lIns="18288" tIns="27432" rIns="18288" bIns="27432" anchor="ctr">
            <a:spAutoFit/>
          </a:bodyPr>
          <a:lstStyle/>
          <a:p>
            <a:pPr algn="ctr">
              <a:spcAft>
                <a:spcPts val="400"/>
              </a:spcAft>
            </a:pPr>
            <a:r>
              <a:rPr sz="1050" b="0" i="0">
                <a:solidFill>
                  <a:srgbClr val="FFFFFF"/>
                </a:solidFill>
                <a:latin typeface="Courier New"/>
                <a:cs typeface="Courier New"/>
              </a:rPr>
              <a:t>manage.py simulate</a:t>
            </a:r>
          </a:p>
        </p:txBody>
      </p:sp>
      <p:sp>
        <p:nvSpPr>
          <p:cNvPr id="22" name="Chevron 21"/>
          <p:cNvSpPr/>
          <p:nvPr/>
        </p:nvSpPr>
        <p:spPr>
          <a:xfrm>
            <a:off x="3749039" y="1737360"/>
            <a:ext cx="1645920" cy="658368"/>
          </a:xfrm>
          <a:prstGeom prst="chevron">
            <a:avLst>
              <a:gd name="adj" fmla="val 28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2000" b="1" i="0">
                <a:solidFill>
                  <a:srgbClr val="FFFFFF"/>
                </a:solidFill>
                <a:latin typeface="Times New Roman"/>
                <a:cs typeface="Times New Roman"/>
              </a:rPr>
              <a:t>3</a:t>
            </a:r>
          </a:p>
        </p:txBody>
      </p:sp>
      <p:sp>
        <p:nvSpPr>
          <p:cNvPr id="23" name="Rounded Rectangle 22"/>
          <p:cNvSpPr/>
          <p:nvPr/>
        </p:nvSpPr>
        <p:spPr>
          <a:xfrm>
            <a:off x="3749039" y="2560320"/>
            <a:ext cx="1554480" cy="2423160"/>
          </a:xfrm>
          <a:prstGeom prst="roundRect">
            <a:avLst>
              <a:gd name="adj" fmla="val 6000"/>
            </a:avLst>
          </a:prstGeom>
          <a:solidFill>
            <a:srgbClr val="EEEEF6"/>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94759" y="2633472"/>
            <a:ext cx="1463040" cy="548640"/>
          </a:xfrm>
          <a:prstGeom prst="rect">
            <a:avLst/>
          </a:prstGeom>
          <a:noFill/>
        </p:spPr>
        <p:txBody>
          <a:bodyPr wrap="square" lIns="45720" tIns="27432" rIns="45720" bIns="27432" anchor="ctr">
            <a:spAutoFit/>
          </a:bodyPr>
          <a:lstStyle/>
          <a:p>
            <a:pPr algn="ctr">
              <a:spcAft>
                <a:spcPts val="400"/>
              </a:spcAft>
            </a:pPr>
            <a:r>
              <a:rPr sz="1500" b="1" i="0">
                <a:solidFill>
                  <a:srgbClr val="53548A"/>
                </a:solidFill>
                <a:latin typeface="Times New Roman"/>
                <a:cs typeface="Times New Roman"/>
              </a:rPr>
              <a:t>Scan &amp; Compare</a:t>
            </a:r>
          </a:p>
        </p:txBody>
      </p:sp>
      <p:sp>
        <p:nvSpPr>
          <p:cNvPr id="25" name="TextBox 24"/>
          <p:cNvSpPr txBox="1"/>
          <p:nvPr/>
        </p:nvSpPr>
        <p:spPr>
          <a:xfrm>
            <a:off x="3813048" y="3200400"/>
            <a:ext cx="1426464" cy="1097280"/>
          </a:xfrm>
          <a:prstGeom prst="rect">
            <a:avLst/>
          </a:prstGeom>
          <a:noFill/>
        </p:spPr>
        <p:txBody>
          <a:bodyPr wrap="square" lIns="45720" tIns="27432" rIns="45720" bIns="27432" anchor="t">
            <a:spAutoFit/>
          </a:bodyPr>
          <a:lstStyle/>
          <a:p>
            <a:pPr algn="ctr">
              <a:spcAft>
                <a:spcPts val="400"/>
              </a:spcAft>
            </a:pPr>
            <a:r>
              <a:rPr sz="1300" b="0" i="0">
                <a:solidFill>
                  <a:srgbClr val="424456"/>
                </a:solidFill>
                <a:latin typeface="Times New Roman"/>
                <a:cs typeface="Times New Roman"/>
              </a:rPr>
              <a:t>Re-scan; compare hashes with baseline</a:t>
            </a:r>
          </a:p>
        </p:txBody>
      </p:sp>
      <p:sp>
        <p:nvSpPr>
          <p:cNvPr id="26" name="Rounded Rectangle 25"/>
          <p:cNvSpPr/>
          <p:nvPr/>
        </p:nvSpPr>
        <p:spPr>
          <a:xfrm>
            <a:off x="3840479" y="4370832"/>
            <a:ext cx="1371600" cy="502920"/>
          </a:xfrm>
          <a:prstGeom prst="roundRect">
            <a:avLst>
              <a:gd name="adj" fmla="val 12000"/>
            </a:avLst>
          </a:prstGeom>
          <a:solidFill>
            <a:srgbClr val="424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3840479" y="4370832"/>
            <a:ext cx="1371600" cy="502920"/>
          </a:xfrm>
          <a:prstGeom prst="rect">
            <a:avLst/>
          </a:prstGeom>
          <a:noFill/>
        </p:spPr>
        <p:txBody>
          <a:bodyPr wrap="square" lIns="18288" tIns="27432" rIns="18288" bIns="27432" anchor="ctr">
            <a:spAutoFit/>
          </a:bodyPr>
          <a:lstStyle/>
          <a:p>
            <a:pPr algn="ctr">
              <a:spcAft>
                <a:spcPts val="400"/>
              </a:spcAft>
            </a:pPr>
            <a:r>
              <a:rPr sz="1050" b="0" i="0">
                <a:solidFill>
                  <a:srgbClr val="FFFFFF"/>
                </a:solidFill>
                <a:latin typeface="Courier New"/>
                <a:cs typeface="Courier New"/>
              </a:rPr>
              <a:t>manage.py scan</a:t>
            </a:r>
          </a:p>
        </p:txBody>
      </p:sp>
      <p:sp>
        <p:nvSpPr>
          <p:cNvPr id="28" name="Chevron 27"/>
          <p:cNvSpPr/>
          <p:nvPr/>
        </p:nvSpPr>
        <p:spPr>
          <a:xfrm>
            <a:off x="5372099" y="1737360"/>
            <a:ext cx="1645920" cy="658368"/>
          </a:xfrm>
          <a:prstGeom prst="chevron">
            <a:avLst>
              <a:gd name="adj" fmla="val 28000"/>
            </a:avLst>
          </a:prstGeom>
          <a:solidFill>
            <a:srgbClr val="438086"/>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2000" b="1" i="0">
                <a:solidFill>
                  <a:srgbClr val="FFFFFF"/>
                </a:solidFill>
                <a:latin typeface="Times New Roman"/>
                <a:cs typeface="Times New Roman"/>
              </a:rPr>
              <a:t>4</a:t>
            </a:r>
          </a:p>
        </p:txBody>
      </p:sp>
      <p:sp>
        <p:nvSpPr>
          <p:cNvPr id="29" name="Rounded Rectangle 28"/>
          <p:cNvSpPr/>
          <p:nvPr/>
        </p:nvSpPr>
        <p:spPr>
          <a:xfrm>
            <a:off x="5372099" y="2560320"/>
            <a:ext cx="1554480" cy="2423160"/>
          </a:xfrm>
          <a:prstGeom prst="roundRect">
            <a:avLst>
              <a:gd name="adj" fmla="val 6000"/>
            </a:avLst>
          </a:prstGeom>
          <a:solidFill>
            <a:srgbClr val="E4F0F1"/>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417819" y="2633472"/>
            <a:ext cx="1463040" cy="548640"/>
          </a:xfrm>
          <a:prstGeom prst="rect">
            <a:avLst/>
          </a:prstGeom>
          <a:noFill/>
        </p:spPr>
        <p:txBody>
          <a:bodyPr wrap="square" lIns="45720" tIns="27432" rIns="45720" bIns="27432" anchor="ctr">
            <a:spAutoFit/>
          </a:bodyPr>
          <a:lstStyle/>
          <a:p>
            <a:pPr algn="ctr">
              <a:spcAft>
                <a:spcPts val="400"/>
              </a:spcAft>
            </a:pPr>
            <a:r>
              <a:rPr sz="1500" b="1" i="0">
                <a:solidFill>
                  <a:srgbClr val="438086"/>
                </a:solidFill>
                <a:latin typeface="Times New Roman"/>
                <a:cs typeface="Times New Roman"/>
              </a:rPr>
              <a:t>Diff &amp; Severity</a:t>
            </a:r>
          </a:p>
        </p:txBody>
      </p:sp>
      <p:sp>
        <p:nvSpPr>
          <p:cNvPr id="31" name="TextBox 30"/>
          <p:cNvSpPr txBox="1"/>
          <p:nvPr/>
        </p:nvSpPr>
        <p:spPr>
          <a:xfrm>
            <a:off x="5436107" y="3200400"/>
            <a:ext cx="1426464" cy="1097280"/>
          </a:xfrm>
          <a:prstGeom prst="rect">
            <a:avLst/>
          </a:prstGeom>
          <a:noFill/>
        </p:spPr>
        <p:txBody>
          <a:bodyPr wrap="square" lIns="45720" tIns="27432" rIns="45720" bIns="27432" anchor="t">
            <a:spAutoFit/>
          </a:bodyPr>
          <a:lstStyle/>
          <a:p>
            <a:pPr algn="ctr">
              <a:spcAft>
                <a:spcPts val="400"/>
              </a:spcAft>
            </a:pPr>
            <a:r>
              <a:rPr sz="1300" b="0" i="0">
                <a:solidFill>
                  <a:srgbClr val="424456"/>
                </a:solidFill>
                <a:latin typeface="Times New Roman"/>
                <a:cs typeface="Times New Roman"/>
              </a:rPr>
              <a:t>Classify change, build diff, add severity</a:t>
            </a:r>
          </a:p>
        </p:txBody>
      </p:sp>
      <p:sp>
        <p:nvSpPr>
          <p:cNvPr id="32" name="Rounded Rectangle 31"/>
          <p:cNvSpPr/>
          <p:nvPr/>
        </p:nvSpPr>
        <p:spPr>
          <a:xfrm>
            <a:off x="5463539" y="4370832"/>
            <a:ext cx="1371600" cy="502920"/>
          </a:xfrm>
          <a:prstGeom prst="roundRect">
            <a:avLst>
              <a:gd name="adj" fmla="val 12000"/>
            </a:avLst>
          </a:prstGeom>
          <a:solidFill>
            <a:srgbClr val="424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463539" y="4370832"/>
            <a:ext cx="1371600" cy="502920"/>
          </a:xfrm>
          <a:prstGeom prst="rect">
            <a:avLst/>
          </a:prstGeom>
          <a:noFill/>
        </p:spPr>
        <p:txBody>
          <a:bodyPr wrap="square" lIns="18288" tIns="27432" rIns="18288" bIns="27432" anchor="ctr">
            <a:spAutoFit/>
          </a:bodyPr>
          <a:lstStyle/>
          <a:p>
            <a:pPr algn="ctr">
              <a:spcAft>
                <a:spcPts val="400"/>
              </a:spcAft>
            </a:pPr>
            <a:r>
              <a:rPr sz="1050" b="0" i="0">
                <a:solidFill>
                  <a:srgbClr val="FFFFFF"/>
                </a:solidFill>
                <a:latin typeface="Courier New"/>
                <a:cs typeface="Courier New"/>
              </a:rPr>
              <a:t>difflib + rules.py</a:t>
            </a:r>
          </a:p>
        </p:txBody>
      </p:sp>
      <p:sp>
        <p:nvSpPr>
          <p:cNvPr id="34" name="Chevron 33"/>
          <p:cNvSpPr/>
          <p:nvPr/>
        </p:nvSpPr>
        <p:spPr>
          <a:xfrm>
            <a:off x="6995159" y="1737360"/>
            <a:ext cx="1645920" cy="658368"/>
          </a:xfrm>
          <a:prstGeom prst="chevron">
            <a:avLst>
              <a:gd name="adj" fmla="val 28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2000" b="1" i="0">
                <a:solidFill>
                  <a:srgbClr val="FFFFFF"/>
                </a:solidFill>
                <a:latin typeface="Times New Roman"/>
                <a:cs typeface="Times New Roman"/>
              </a:rPr>
              <a:t>5</a:t>
            </a:r>
          </a:p>
        </p:txBody>
      </p:sp>
      <p:sp>
        <p:nvSpPr>
          <p:cNvPr id="35" name="Rounded Rectangle 34"/>
          <p:cNvSpPr/>
          <p:nvPr/>
        </p:nvSpPr>
        <p:spPr>
          <a:xfrm>
            <a:off x="6995159" y="2560320"/>
            <a:ext cx="1554480" cy="2423160"/>
          </a:xfrm>
          <a:prstGeom prst="roundRect">
            <a:avLst>
              <a:gd name="adj" fmla="val 6000"/>
            </a:avLst>
          </a:prstGeom>
          <a:solidFill>
            <a:srgbClr val="EEEEF6"/>
          </a:solidFill>
          <a:ln w="952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040879" y="2633472"/>
            <a:ext cx="1463040" cy="548640"/>
          </a:xfrm>
          <a:prstGeom prst="rect">
            <a:avLst/>
          </a:prstGeom>
          <a:noFill/>
        </p:spPr>
        <p:txBody>
          <a:bodyPr wrap="square" lIns="45720" tIns="27432" rIns="45720" bIns="27432" anchor="ctr">
            <a:spAutoFit/>
          </a:bodyPr>
          <a:lstStyle/>
          <a:p>
            <a:pPr algn="ctr">
              <a:spcAft>
                <a:spcPts val="400"/>
              </a:spcAft>
            </a:pPr>
            <a:r>
              <a:rPr sz="1500" b="1" i="0">
                <a:solidFill>
                  <a:srgbClr val="53548A"/>
                </a:solidFill>
                <a:latin typeface="Times New Roman"/>
                <a:cs typeface="Times New Roman"/>
              </a:rPr>
              <a:t>Dashboard</a:t>
            </a:r>
          </a:p>
        </p:txBody>
      </p:sp>
      <p:sp>
        <p:nvSpPr>
          <p:cNvPr id="37" name="TextBox 36"/>
          <p:cNvSpPr txBox="1"/>
          <p:nvPr/>
        </p:nvSpPr>
        <p:spPr>
          <a:xfrm>
            <a:off x="7059168" y="3200400"/>
            <a:ext cx="1426464" cy="1097280"/>
          </a:xfrm>
          <a:prstGeom prst="rect">
            <a:avLst/>
          </a:prstGeom>
          <a:noFill/>
        </p:spPr>
        <p:txBody>
          <a:bodyPr wrap="square" lIns="45720" tIns="27432" rIns="45720" bIns="27432" anchor="t">
            <a:spAutoFit/>
          </a:bodyPr>
          <a:lstStyle/>
          <a:p>
            <a:pPr algn="ctr">
              <a:spcAft>
                <a:spcPts val="400"/>
              </a:spcAft>
            </a:pPr>
            <a:r>
              <a:rPr sz="1300" b="0" i="0">
                <a:solidFill>
                  <a:srgbClr val="424456"/>
                </a:solidFill>
                <a:latin typeface="Times New Roman"/>
                <a:cs typeface="Times New Roman"/>
              </a:rPr>
              <a:t>Save event; analyst reviews it</a:t>
            </a:r>
          </a:p>
        </p:txBody>
      </p:sp>
      <p:sp>
        <p:nvSpPr>
          <p:cNvPr id="38" name="Rounded Rectangle 37"/>
          <p:cNvSpPr/>
          <p:nvPr/>
        </p:nvSpPr>
        <p:spPr>
          <a:xfrm>
            <a:off x="7086599" y="4370832"/>
            <a:ext cx="1371600" cy="502920"/>
          </a:xfrm>
          <a:prstGeom prst="roundRect">
            <a:avLst>
              <a:gd name="adj" fmla="val 12000"/>
            </a:avLst>
          </a:prstGeom>
          <a:solidFill>
            <a:srgbClr val="4244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086599" y="4370832"/>
            <a:ext cx="1371600" cy="502920"/>
          </a:xfrm>
          <a:prstGeom prst="rect">
            <a:avLst/>
          </a:prstGeom>
          <a:noFill/>
        </p:spPr>
        <p:txBody>
          <a:bodyPr wrap="square" lIns="18288" tIns="27432" rIns="18288" bIns="27432" anchor="ctr">
            <a:spAutoFit/>
          </a:bodyPr>
          <a:lstStyle/>
          <a:p>
            <a:pPr algn="ctr">
              <a:spcAft>
                <a:spcPts val="400"/>
              </a:spcAft>
            </a:pPr>
            <a:r>
              <a:rPr sz="1050" b="0" i="0">
                <a:solidFill>
                  <a:srgbClr val="FFFFFF"/>
                </a:solidFill>
                <a:latin typeface="Courier New"/>
                <a:cs typeface="Courier New"/>
              </a:rPr>
              <a:t>manage.py dashboard</a:t>
            </a:r>
          </a:p>
        </p:txBody>
      </p:sp>
      <p:sp>
        <p:nvSpPr>
          <p:cNvPr id="40" name="Rounded Rectangle 39"/>
          <p:cNvSpPr/>
          <p:nvPr/>
        </p:nvSpPr>
        <p:spPr>
          <a:xfrm>
            <a:off x="502920" y="5257800"/>
            <a:ext cx="2651760" cy="1188720"/>
          </a:xfrm>
          <a:prstGeom prst="roundRect">
            <a:avLst>
              <a:gd name="adj" fmla="val 6000"/>
            </a:avLst>
          </a:prstGeom>
          <a:solidFill>
            <a:srgbClr val="FFFFFF"/>
          </a:solidFill>
          <a:ln w="15875">
            <a:solidFill>
              <a:srgbClr val="535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594360" y="5303520"/>
            <a:ext cx="2468880" cy="365760"/>
          </a:xfrm>
          <a:prstGeom prst="rect">
            <a:avLst/>
          </a:prstGeom>
          <a:noFill/>
        </p:spPr>
        <p:txBody>
          <a:bodyPr wrap="square" lIns="45720" tIns="27432" rIns="45720" bIns="27432" anchor="t">
            <a:spAutoFit/>
          </a:bodyPr>
          <a:lstStyle/>
          <a:p>
            <a:pPr algn="l">
              <a:spcAft>
                <a:spcPts val="400"/>
              </a:spcAft>
            </a:pPr>
            <a:r>
              <a:rPr sz="1500" b="1" i="0">
                <a:solidFill>
                  <a:srgbClr val="53548A"/>
                </a:solidFill>
                <a:latin typeface="Times New Roman"/>
                <a:cs typeface="Times New Roman"/>
              </a:rPr>
              <a:t>Baseline</a:t>
            </a:r>
          </a:p>
        </p:txBody>
      </p:sp>
      <p:sp>
        <p:nvSpPr>
          <p:cNvPr id="42" name="TextBox 41"/>
          <p:cNvSpPr txBox="1"/>
          <p:nvPr/>
        </p:nvSpPr>
        <p:spPr>
          <a:xfrm>
            <a:off x="594360" y="5687568"/>
            <a:ext cx="2468880" cy="731520"/>
          </a:xfrm>
          <a:prstGeom prst="rect">
            <a:avLst/>
          </a:prstGeom>
          <a:noFill/>
        </p:spPr>
        <p:txBody>
          <a:bodyPr wrap="square" lIns="45720" tIns="27432" rIns="45720" bIns="27432" anchor="t">
            <a:spAutoFit/>
          </a:bodyPr>
          <a:lstStyle/>
          <a:p>
            <a:pPr algn="l">
              <a:spcAft>
                <a:spcPts val="400"/>
              </a:spcAft>
            </a:pPr>
            <a:r>
              <a:rPr sz="1350" b="0" i="0">
                <a:solidFill>
                  <a:srgbClr val="424456"/>
                </a:solidFill>
                <a:latin typeface="Times New Roman"/>
                <a:cs typeface="Times New Roman"/>
              </a:rPr>
              <a:t>Known-good snapshot of the files</a:t>
            </a:r>
          </a:p>
        </p:txBody>
      </p:sp>
      <p:sp>
        <p:nvSpPr>
          <p:cNvPr id="43" name="Rounded Rectangle 42"/>
          <p:cNvSpPr/>
          <p:nvPr/>
        </p:nvSpPr>
        <p:spPr>
          <a:xfrm>
            <a:off x="3246120" y="5257800"/>
            <a:ext cx="2651760" cy="1188720"/>
          </a:xfrm>
          <a:prstGeom prst="roundRect">
            <a:avLst>
              <a:gd name="adj" fmla="val 6000"/>
            </a:avLst>
          </a:prstGeom>
          <a:solidFill>
            <a:srgbClr val="FFFFFF"/>
          </a:solidFill>
          <a:ln w="15875">
            <a:solidFill>
              <a:srgbClr val="535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3337560" y="5303520"/>
            <a:ext cx="2468880" cy="365760"/>
          </a:xfrm>
          <a:prstGeom prst="rect">
            <a:avLst/>
          </a:prstGeom>
          <a:noFill/>
        </p:spPr>
        <p:txBody>
          <a:bodyPr wrap="square" lIns="45720" tIns="27432" rIns="45720" bIns="27432" anchor="t">
            <a:spAutoFit/>
          </a:bodyPr>
          <a:lstStyle/>
          <a:p>
            <a:pPr algn="l">
              <a:spcAft>
                <a:spcPts val="400"/>
              </a:spcAft>
            </a:pPr>
            <a:r>
              <a:rPr sz="1500" b="1" i="0">
                <a:solidFill>
                  <a:srgbClr val="53548A"/>
                </a:solidFill>
                <a:latin typeface="Times New Roman"/>
                <a:cs typeface="Times New Roman"/>
              </a:rPr>
              <a:t>SHA-256 hash</a:t>
            </a:r>
          </a:p>
        </p:txBody>
      </p:sp>
      <p:sp>
        <p:nvSpPr>
          <p:cNvPr id="45" name="TextBox 44"/>
          <p:cNvSpPr txBox="1"/>
          <p:nvPr/>
        </p:nvSpPr>
        <p:spPr>
          <a:xfrm>
            <a:off x="3337560" y="5687568"/>
            <a:ext cx="2468880" cy="731520"/>
          </a:xfrm>
          <a:prstGeom prst="rect">
            <a:avLst/>
          </a:prstGeom>
          <a:noFill/>
        </p:spPr>
        <p:txBody>
          <a:bodyPr wrap="square" lIns="45720" tIns="27432" rIns="45720" bIns="27432" anchor="t">
            <a:spAutoFit/>
          </a:bodyPr>
          <a:lstStyle/>
          <a:p>
            <a:pPr algn="l">
              <a:spcAft>
                <a:spcPts val="400"/>
              </a:spcAft>
            </a:pPr>
            <a:r>
              <a:rPr sz="1350" b="0" i="0">
                <a:solidFill>
                  <a:srgbClr val="424456"/>
                </a:solidFill>
                <a:latin typeface="Times New Roman"/>
                <a:cs typeface="Times New Roman"/>
              </a:rPr>
              <a:t>Fingerprint; changes if content changes</a:t>
            </a:r>
          </a:p>
        </p:txBody>
      </p:sp>
      <p:sp>
        <p:nvSpPr>
          <p:cNvPr id="46" name="Rounded Rectangle 45"/>
          <p:cNvSpPr/>
          <p:nvPr/>
        </p:nvSpPr>
        <p:spPr>
          <a:xfrm>
            <a:off x="5989320" y="5257800"/>
            <a:ext cx="2651760" cy="1188720"/>
          </a:xfrm>
          <a:prstGeom prst="roundRect">
            <a:avLst>
              <a:gd name="adj" fmla="val 6000"/>
            </a:avLst>
          </a:prstGeom>
          <a:solidFill>
            <a:srgbClr val="FFFFFF"/>
          </a:solidFill>
          <a:ln w="15875">
            <a:solidFill>
              <a:srgbClr val="535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6080759" y="5303520"/>
            <a:ext cx="2468880" cy="365760"/>
          </a:xfrm>
          <a:prstGeom prst="rect">
            <a:avLst/>
          </a:prstGeom>
          <a:noFill/>
        </p:spPr>
        <p:txBody>
          <a:bodyPr wrap="square" lIns="45720" tIns="27432" rIns="45720" bIns="27432" anchor="t">
            <a:spAutoFit/>
          </a:bodyPr>
          <a:lstStyle/>
          <a:p>
            <a:pPr algn="l">
              <a:spcAft>
                <a:spcPts val="400"/>
              </a:spcAft>
            </a:pPr>
            <a:r>
              <a:rPr sz="1500" b="1" i="0">
                <a:solidFill>
                  <a:srgbClr val="53548A"/>
                </a:solidFill>
                <a:latin typeface="Times New Roman"/>
                <a:cs typeface="Times New Roman"/>
              </a:rPr>
              <a:t>Event log</a:t>
            </a:r>
          </a:p>
        </p:txBody>
      </p:sp>
      <p:sp>
        <p:nvSpPr>
          <p:cNvPr id="48" name="TextBox 47"/>
          <p:cNvSpPr txBox="1"/>
          <p:nvPr/>
        </p:nvSpPr>
        <p:spPr>
          <a:xfrm>
            <a:off x="6080759" y="5687568"/>
            <a:ext cx="2468880" cy="731520"/>
          </a:xfrm>
          <a:prstGeom prst="rect">
            <a:avLst/>
          </a:prstGeom>
          <a:noFill/>
        </p:spPr>
        <p:txBody>
          <a:bodyPr wrap="square" lIns="45720" tIns="27432" rIns="45720" bIns="27432" anchor="t">
            <a:spAutoFit/>
          </a:bodyPr>
          <a:lstStyle/>
          <a:p>
            <a:pPr algn="l">
              <a:spcAft>
                <a:spcPts val="400"/>
              </a:spcAft>
            </a:pPr>
            <a:r>
              <a:rPr sz="1350" b="0" i="0">
                <a:solidFill>
                  <a:srgbClr val="424456"/>
                </a:solidFill>
                <a:latin typeface="Times New Roman"/>
                <a:cs typeface="Times New Roman"/>
              </a:rPr>
              <a:t>events.json: record of each change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Change Detection Demonstration</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11</a:t>
            </a:fld>
            <a:endParaRPr lang="en-US" altLang="en-US"/>
          </a:p>
        </p:txBody>
      </p:sp>
      <p:sp>
        <p:nvSpPr>
          <p:cNvPr id="10" name="Rounded Rectangle 9"/>
          <p:cNvSpPr/>
          <p:nvPr/>
        </p:nvSpPr>
        <p:spPr>
          <a:xfrm>
            <a:off x="502920" y="1737360"/>
            <a:ext cx="2651760" cy="4069080"/>
          </a:xfrm>
          <a:prstGeom prst="roundRect">
            <a:avLst>
              <a:gd name="adj" fmla="val 6000"/>
            </a:avLst>
          </a:prstGeom>
          <a:solidFill>
            <a:srgbClr val="FFFFFF"/>
          </a:solidFill>
          <a:ln w="1587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2920" y="1737360"/>
            <a:ext cx="2651760" cy="566928"/>
          </a:xfrm>
          <a:prstGeom prst="roundRect">
            <a:avLst>
              <a:gd name="adj" fmla="val 6000"/>
            </a:avLst>
          </a:prstGeom>
          <a:solidFill>
            <a:srgbClr val="C46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737360"/>
            <a:ext cx="2651760" cy="566928"/>
          </a:xfrm>
          <a:prstGeom prst="rect">
            <a:avLst/>
          </a:prstGeom>
          <a:noFill/>
        </p:spPr>
        <p:txBody>
          <a:bodyPr wrap="square" lIns="45720" tIns="27432" rIns="45720" bIns="27432" anchor="ctr">
            <a:spAutoFit/>
          </a:bodyPr>
          <a:lstStyle/>
          <a:p>
            <a:pPr algn="ctr">
              <a:spcAft>
                <a:spcPts val="400"/>
              </a:spcAft>
            </a:pPr>
            <a:r>
              <a:rPr sz="1900" b="1" i="0">
                <a:solidFill>
                  <a:srgbClr val="FFFFFF"/>
                </a:solidFill>
                <a:latin typeface="Times New Roman"/>
                <a:cs typeface="Times New Roman"/>
              </a:rPr>
              <a:t>MODIFIED</a:t>
            </a:r>
          </a:p>
        </p:txBody>
      </p:sp>
      <p:sp>
        <p:nvSpPr>
          <p:cNvPr id="13" name="TextBox 12"/>
          <p:cNvSpPr txBox="1"/>
          <p:nvPr/>
        </p:nvSpPr>
        <p:spPr>
          <a:xfrm>
            <a:off x="612648" y="2395728"/>
            <a:ext cx="2432304" cy="2788920"/>
          </a:xfrm>
          <a:prstGeom prst="rect">
            <a:avLst/>
          </a:prstGeom>
          <a:noFill/>
        </p:spPr>
        <p:txBody>
          <a:bodyPr wrap="square" lIns="45720" tIns="27432" rIns="45720" bIns="27432" anchor="t">
            <a:spAutoFit/>
          </a:bodyPr>
          <a:lstStyle/>
          <a:p>
            <a:pPr algn="l">
              <a:spcAft>
                <a:spcPts val="300"/>
              </a:spcAft>
            </a:pPr>
            <a:r>
              <a:rPr sz="1500" b="1" i="0">
                <a:solidFill>
                  <a:srgbClr val="C4652D"/>
                </a:solidFill>
                <a:latin typeface="Times New Roman"/>
                <a:cs typeface="Times New Roman"/>
              </a:rPr>
              <a:t>Scenario:</a:t>
            </a:r>
          </a:p>
          <a:p>
            <a:pPr algn="l">
              <a:spcAft>
                <a:spcPts val="300"/>
              </a:spcAft>
            </a:pPr>
            <a:r>
              <a:rPr sz="1500" b="0" i="0">
                <a:solidFill>
                  <a:srgbClr val="424456"/>
                </a:solidFill>
                <a:latin typeface="Times New Roman"/>
                <a:cs typeface="Times New Roman"/>
              </a:rPr>
              <a:t>Harmless comment appended to mock_linux/etc/crontab</a:t>
            </a:r>
          </a:p>
          <a:p>
            <a:pPr algn="l">
              <a:spcAft>
                <a:spcPts val="300"/>
              </a:spcAft>
            </a:pPr>
            <a:r>
              <a:rPr sz="1500" b="1" i="0">
                <a:solidFill>
                  <a:srgbClr val="C4652D"/>
                </a:solidFill>
                <a:latin typeface="Times New Roman"/>
                <a:cs typeface="Times New Roman"/>
              </a:rPr>
              <a:t>Detection:</a:t>
            </a:r>
          </a:p>
          <a:p>
            <a:pPr algn="l">
              <a:spcAft>
                <a:spcPts val="300"/>
              </a:spcAft>
            </a:pPr>
            <a:r>
              <a:rPr sz="1500" b="0" i="0">
                <a:solidFill>
                  <a:srgbClr val="424456"/>
                </a:solidFill>
                <a:latin typeface="Times New Roman"/>
                <a:cs typeface="Times New Roman"/>
              </a:rPr>
              <a:t>SHA-256 differs from baseline</a:t>
            </a:r>
          </a:p>
          <a:p>
            <a:pPr algn="l">
              <a:spcAft>
                <a:spcPts val="300"/>
              </a:spcAft>
            </a:pPr>
            <a:r>
              <a:rPr sz="1500" b="1" i="0">
                <a:solidFill>
                  <a:srgbClr val="C4652D"/>
                </a:solidFill>
                <a:latin typeface="Times New Roman"/>
                <a:cs typeface="Times New Roman"/>
              </a:rPr>
              <a:t>Output:</a:t>
            </a:r>
          </a:p>
          <a:p>
            <a:pPr algn="l">
              <a:spcAft>
                <a:spcPts val="300"/>
              </a:spcAft>
            </a:pPr>
            <a:r>
              <a:rPr sz="1500" b="0" i="0">
                <a:solidFill>
                  <a:srgbClr val="424456"/>
                </a:solidFill>
                <a:latin typeface="Times New Roman"/>
                <a:cs typeface="Times New Roman"/>
              </a:rPr>
              <a:t>MODIFIED · HIGH · T1053.003 + line diff</a:t>
            </a:r>
          </a:p>
        </p:txBody>
      </p:sp>
      <p:sp>
        <p:nvSpPr>
          <p:cNvPr id="14" name="Rounded Rectangle 13"/>
          <p:cNvSpPr/>
          <p:nvPr/>
        </p:nvSpPr>
        <p:spPr>
          <a:xfrm>
            <a:off x="640080" y="5257800"/>
            <a:ext cx="2377440" cy="411480"/>
          </a:xfrm>
          <a:prstGeom prst="roundRect">
            <a:avLst>
              <a:gd name="adj" fmla="val 30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 y="5257800"/>
            <a:ext cx="2377440" cy="411480"/>
          </a:xfrm>
          <a:prstGeom prst="rect">
            <a:avLst/>
          </a:prstGeom>
          <a:noFill/>
        </p:spPr>
        <p:txBody>
          <a:bodyPr wrap="square" lIns="45720" tIns="27432" rIns="45720" bIns="27432" anchor="ctr">
            <a:spAutoFit/>
          </a:bodyPr>
          <a:lstStyle/>
          <a:p>
            <a:pPr algn="ctr">
              <a:spcAft>
                <a:spcPts val="400"/>
              </a:spcAft>
            </a:pPr>
            <a:r>
              <a:rPr sz="1250" b="1" i="0">
                <a:solidFill>
                  <a:srgbClr val="C4652D"/>
                </a:solidFill>
                <a:latin typeface="Times New Roman"/>
                <a:cs typeface="Times New Roman"/>
              </a:rPr>
              <a:t>Demonstrated on dashboard</a:t>
            </a:r>
          </a:p>
        </p:txBody>
      </p:sp>
      <p:sp>
        <p:nvSpPr>
          <p:cNvPr id="16" name="Rounded Rectangle 15"/>
          <p:cNvSpPr/>
          <p:nvPr/>
        </p:nvSpPr>
        <p:spPr>
          <a:xfrm>
            <a:off x="3246120" y="1737360"/>
            <a:ext cx="2651760" cy="4069080"/>
          </a:xfrm>
          <a:prstGeom prst="roundRect">
            <a:avLst>
              <a:gd name="adj" fmla="val 6000"/>
            </a:avLst>
          </a:prstGeom>
          <a:solidFill>
            <a:srgbClr val="FFFFFF"/>
          </a:solidFill>
          <a:ln w="1587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3246120" y="1737360"/>
            <a:ext cx="2651760" cy="566928"/>
          </a:xfrm>
          <a:prstGeom prst="roundRect">
            <a:avLst>
              <a:gd name="adj" fmla="val 6000"/>
            </a:avLst>
          </a:prstGeom>
          <a:solidFill>
            <a:srgbClr val="438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46120" y="1737360"/>
            <a:ext cx="2651760" cy="566928"/>
          </a:xfrm>
          <a:prstGeom prst="rect">
            <a:avLst/>
          </a:prstGeom>
          <a:noFill/>
        </p:spPr>
        <p:txBody>
          <a:bodyPr wrap="square" lIns="45720" tIns="27432" rIns="45720" bIns="27432" anchor="ctr">
            <a:spAutoFit/>
          </a:bodyPr>
          <a:lstStyle/>
          <a:p>
            <a:pPr algn="ctr">
              <a:spcAft>
                <a:spcPts val="400"/>
              </a:spcAft>
            </a:pPr>
            <a:r>
              <a:rPr sz="1900" b="1" i="0">
                <a:solidFill>
                  <a:srgbClr val="FFFFFF"/>
                </a:solidFill>
                <a:latin typeface="Times New Roman"/>
                <a:cs typeface="Times New Roman"/>
              </a:rPr>
              <a:t>ADDED</a:t>
            </a:r>
          </a:p>
        </p:txBody>
      </p:sp>
      <p:sp>
        <p:nvSpPr>
          <p:cNvPr id="19" name="TextBox 18"/>
          <p:cNvSpPr txBox="1"/>
          <p:nvPr/>
        </p:nvSpPr>
        <p:spPr>
          <a:xfrm>
            <a:off x="3355848" y="2395728"/>
            <a:ext cx="2432304" cy="2788920"/>
          </a:xfrm>
          <a:prstGeom prst="rect">
            <a:avLst/>
          </a:prstGeom>
          <a:noFill/>
        </p:spPr>
        <p:txBody>
          <a:bodyPr wrap="square" lIns="45720" tIns="27432" rIns="45720" bIns="27432" anchor="t">
            <a:spAutoFit/>
          </a:bodyPr>
          <a:lstStyle/>
          <a:p>
            <a:pPr algn="l">
              <a:spcAft>
                <a:spcPts val="300"/>
              </a:spcAft>
            </a:pPr>
            <a:r>
              <a:rPr sz="1500" b="1" i="0">
                <a:solidFill>
                  <a:srgbClr val="438086"/>
                </a:solidFill>
                <a:latin typeface="Times New Roman"/>
                <a:cs typeface="Times New Roman"/>
              </a:rPr>
              <a:t>Scenario:</a:t>
            </a:r>
          </a:p>
          <a:p>
            <a:pPr algn="l">
              <a:spcAft>
                <a:spcPts val="300"/>
              </a:spcAft>
            </a:pPr>
            <a:r>
              <a:rPr sz="1500" b="0" i="0">
                <a:solidFill>
                  <a:srgbClr val="424456"/>
                </a:solidFill>
                <a:latin typeface="Times New Roman"/>
                <a:cs typeface="Times New Roman"/>
              </a:rPr>
              <a:t>New file in mock_linux/etc/cron.d/ not in baseline</a:t>
            </a:r>
          </a:p>
          <a:p>
            <a:pPr algn="l">
              <a:spcAft>
                <a:spcPts val="300"/>
              </a:spcAft>
            </a:pPr>
            <a:r>
              <a:rPr sz="1500" b="1" i="0">
                <a:solidFill>
                  <a:srgbClr val="438086"/>
                </a:solidFill>
                <a:latin typeface="Times New Roman"/>
                <a:cs typeface="Times New Roman"/>
              </a:rPr>
              <a:t>Detection:</a:t>
            </a:r>
          </a:p>
          <a:p>
            <a:pPr algn="l">
              <a:spcAft>
                <a:spcPts val="300"/>
              </a:spcAft>
            </a:pPr>
            <a:r>
              <a:rPr sz="1500" b="0" i="0">
                <a:solidFill>
                  <a:srgbClr val="424456"/>
                </a:solidFill>
                <a:latin typeface="Times New Roman"/>
                <a:cs typeface="Times New Roman"/>
              </a:rPr>
              <a:t>Path exists now, absent in baseline</a:t>
            </a:r>
          </a:p>
          <a:p>
            <a:pPr algn="l">
              <a:spcAft>
                <a:spcPts val="300"/>
              </a:spcAft>
            </a:pPr>
            <a:r>
              <a:rPr sz="1500" b="1" i="0">
                <a:solidFill>
                  <a:srgbClr val="438086"/>
                </a:solidFill>
                <a:latin typeface="Times New Roman"/>
                <a:cs typeface="Times New Roman"/>
              </a:rPr>
              <a:t>Output:</a:t>
            </a:r>
          </a:p>
          <a:p>
            <a:pPr algn="l">
              <a:spcAft>
                <a:spcPts val="300"/>
              </a:spcAft>
            </a:pPr>
            <a:r>
              <a:rPr sz="1500" b="0" i="0">
                <a:solidFill>
                  <a:srgbClr val="424456"/>
                </a:solidFill>
                <a:latin typeface="Times New Roman"/>
                <a:cs typeface="Times New Roman"/>
              </a:rPr>
              <a:t>ADDED event with the location’s severity</a:t>
            </a:r>
          </a:p>
        </p:txBody>
      </p:sp>
      <p:sp>
        <p:nvSpPr>
          <p:cNvPr id="20" name="Rounded Rectangle 19"/>
          <p:cNvSpPr/>
          <p:nvPr/>
        </p:nvSpPr>
        <p:spPr>
          <a:xfrm>
            <a:off x="3383279" y="5257800"/>
            <a:ext cx="2377440" cy="411480"/>
          </a:xfrm>
          <a:prstGeom prst="roundRect">
            <a:avLst>
              <a:gd name="adj" fmla="val 30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383279" y="5257800"/>
            <a:ext cx="2377440" cy="411480"/>
          </a:xfrm>
          <a:prstGeom prst="rect">
            <a:avLst/>
          </a:prstGeom>
          <a:noFill/>
        </p:spPr>
        <p:txBody>
          <a:bodyPr wrap="square" lIns="45720" tIns="27432" rIns="45720" bIns="27432" anchor="ctr">
            <a:spAutoFit/>
          </a:bodyPr>
          <a:lstStyle/>
          <a:p>
            <a:pPr algn="ctr">
              <a:spcAft>
                <a:spcPts val="400"/>
              </a:spcAft>
            </a:pPr>
            <a:r>
              <a:rPr sz="1250" b="1" i="0">
                <a:solidFill>
                  <a:srgbClr val="438086"/>
                </a:solidFill>
                <a:latin typeface="Times New Roman"/>
                <a:cs typeface="Times New Roman"/>
              </a:rPr>
              <a:t>Covered by unit test</a:t>
            </a:r>
          </a:p>
        </p:txBody>
      </p:sp>
      <p:sp>
        <p:nvSpPr>
          <p:cNvPr id="22" name="Rounded Rectangle 21"/>
          <p:cNvSpPr/>
          <p:nvPr/>
        </p:nvSpPr>
        <p:spPr>
          <a:xfrm>
            <a:off x="5989320" y="1737360"/>
            <a:ext cx="2651760" cy="4069080"/>
          </a:xfrm>
          <a:prstGeom prst="roundRect">
            <a:avLst>
              <a:gd name="adj" fmla="val 6000"/>
            </a:avLst>
          </a:prstGeom>
          <a:solidFill>
            <a:srgbClr val="FFFFFF"/>
          </a:solidFill>
          <a:ln w="15875">
            <a:solidFill>
              <a:srgbClr val="D5D5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5989320" y="1737360"/>
            <a:ext cx="2651760" cy="566928"/>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989320" y="1737360"/>
            <a:ext cx="2651760" cy="566928"/>
          </a:xfrm>
          <a:prstGeom prst="rect">
            <a:avLst/>
          </a:prstGeom>
          <a:noFill/>
        </p:spPr>
        <p:txBody>
          <a:bodyPr wrap="square" lIns="45720" tIns="27432" rIns="45720" bIns="27432" anchor="ctr">
            <a:spAutoFit/>
          </a:bodyPr>
          <a:lstStyle/>
          <a:p>
            <a:pPr algn="ctr">
              <a:spcAft>
                <a:spcPts val="400"/>
              </a:spcAft>
            </a:pPr>
            <a:r>
              <a:rPr sz="1900" b="1" i="0">
                <a:solidFill>
                  <a:srgbClr val="FFFFFF"/>
                </a:solidFill>
                <a:latin typeface="Times New Roman"/>
                <a:cs typeface="Times New Roman"/>
              </a:rPr>
              <a:t>DELETED</a:t>
            </a:r>
          </a:p>
        </p:txBody>
      </p:sp>
      <p:sp>
        <p:nvSpPr>
          <p:cNvPr id="25" name="TextBox 24"/>
          <p:cNvSpPr txBox="1"/>
          <p:nvPr/>
        </p:nvSpPr>
        <p:spPr>
          <a:xfrm>
            <a:off x="6099048" y="2395728"/>
            <a:ext cx="2432304" cy="2788920"/>
          </a:xfrm>
          <a:prstGeom prst="rect">
            <a:avLst/>
          </a:prstGeom>
          <a:noFill/>
        </p:spPr>
        <p:txBody>
          <a:bodyPr wrap="square" lIns="45720" tIns="27432" rIns="45720" bIns="27432" anchor="t">
            <a:spAutoFit/>
          </a:bodyPr>
          <a:lstStyle/>
          <a:p>
            <a:pPr algn="l">
              <a:spcAft>
                <a:spcPts val="300"/>
              </a:spcAft>
            </a:pPr>
            <a:r>
              <a:rPr sz="1500" b="1" i="0">
                <a:solidFill>
                  <a:srgbClr val="53548A"/>
                </a:solidFill>
                <a:latin typeface="Times New Roman"/>
                <a:cs typeface="Times New Roman"/>
              </a:rPr>
              <a:t>Scenario:</a:t>
            </a:r>
          </a:p>
          <a:p>
            <a:pPr algn="l">
              <a:spcAft>
                <a:spcPts val="300"/>
              </a:spcAft>
            </a:pPr>
            <a:r>
              <a:rPr sz="1500" b="0" i="0">
                <a:solidFill>
                  <a:srgbClr val="424456"/>
                </a:solidFill>
                <a:latin typeface="Times New Roman"/>
                <a:cs typeface="Times New Roman"/>
              </a:rPr>
              <a:t>Baseline item removed from mock_linux/</a:t>
            </a:r>
          </a:p>
          <a:p>
            <a:pPr algn="l">
              <a:spcAft>
                <a:spcPts val="300"/>
              </a:spcAft>
            </a:pPr>
            <a:r>
              <a:rPr sz="1500" b="1" i="0">
                <a:solidFill>
                  <a:srgbClr val="53548A"/>
                </a:solidFill>
                <a:latin typeface="Times New Roman"/>
                <a:cs typeface="Times New Roman"/>
              </a:rPr>
              <a:t>Detection:</a:t>
            </a:r>
          </a:p>
          <a:p>
            <a:pPr algn="l">
              <a:spcAft>
                <a:spcPts val="300"/>
              </a:spcAft>
            </a:pPr>
            <a:r>
              <a:rPr sz="1500" b="0" i="0">
                <a:solidFill>
                  <a:srgbClr val="424456"/>
                </a:solidFill>
                <a:latin typeface="Times New Roman"/>
                <a:cs typeface="Times New Roman"/>
              </a:rPr>
              <a:t>Path in baseline, missing now</a:t>
            </a:r>
          </a:p>
          <a:p>
            <a:pPr algn="l">
              <a:spcAft>
                <a:spcPts val="300"/>
              </a:spcAft>
            </a:pPr>
            <a:r>
              <a:rPr sz="1500" b="1" i="0">
                <a:solidFill>
                  <a:srgbClr val="53548A"/>
                </a:solidFill>
                <a:latin typeface="Times New Roman"/>
                <a:cs typeface="Times New Roman"/>
              </a:rPr>
              <a:t>Output:</a:t>
            </a:r>
          </a:p>
          <a:p>
            <a:pPr algn="l">
              <a:spcAft>
                <a:spcPts val="300"/>
              </a:spcAft>
            </a:pPr>
            <a:r>
              <a:rPr sz="1500" b="0" i="0">
                <a:solidFill>
                  <a:srgbClr val="424456"/>
                </a:solidFill>
                <a:latin typeface="Times New Roman"/>
                <a:cs typeface="Times New Roman"/>
              </a:rPr>
              <a:t>DELETED event; old record kept</a:t>
            </a:r>
          </a:p>
        </p:txBody>
      </p:sp>
      <p:sp>
        <p:nvSpPr>
          <p:cNvPr id="26" name="Rounded Rectangle 25"/>
          <p:cNvSpPr/>
          <p:nvPr/>
        </p:nvSpPr>
        <p:spPr>
          <a:xfrm>
            <a:off x="6126480" y="5257800"/>
            <a:ext cx="2377440" cy="411480"/>
          </a:xfrm>
          <a:prstGeom prst="roundRect">
            <a:avLst>
              <a:gd name="adj" fmla="val 30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126480" y="5257800"/>
            <a:ext cx="2377440" cy="411480"/>
          </a:xfrm>
          <a:prstGeom prst="rect">
            <a:avLst/>
          </a:prstGeom>
          <a:noFill/>
        </p:spPr>
        <p:txBody>
          <a:bodyPr wrap="square" lIns="45720" tIns="27432" rIns="45720" bIns="27432" anchor="ctr">
            <a:spAutoFit/>
          </a:bodyPr>
          <a:lstStyle/>
          <a:p>
            <a:pPr algn="ctr">
              <a:spcAft>
                <a:spcPts val="400"/>
              </a:spcAft>
            </a:pPr>
            <a:r>
              <a:rPr sz="1250" b="1" i="0">
                <a:solidFill>
                  <a:srgbClr val="53548A"/>
                </a:solidFill>
                <a:latin typeface="Times New Roman"/>
                <a:cs typeface="Times New Roman"/>
              </a:rPr>
              <a:t>Covered by unit test</a:t>
            </a:r>
          </a:p>
        </p:txBody>
      </p:sp>
      <p:sp>
        <p:nvSpPr>
          <p:cNvPr id="28" name="TextBox 27"/>
          <p:cNvSpPr txBox="1"/>
          <p:nvPr/>
        </p:nvSpPr>
        <p:spPr>
          <a:xfrm>
            <a:off x="502920" y="5943600"/>
            <a:ext cx="8138160" cy="548640"/>
          </a:xfrm>
          <a:prstGeom prst="rect">
            <a:avLst/>
          </a:prstGeom>
          <a:noFill/>
        </p:spPr>
        <p:txBody>
          <a:bodyPr wrap="square" lIns="45720" tIns="27432" rIns="45720" bIns="27432" anchor="ctr">
            <a:spAutoFit/>
          </a:bodyPr>
          <a:lstStyle/>
          <a:p>
            <a:pPr algn="ctr">
              <a:spcAft>
                <a:spcPts val="400"/>
              </a:spcAft>
            </a:pPr>
            <a:r>
              <a:rPr sz="1400" b="0" i="0">
                <a:solidFill>
                  <a:srgbClr val="424456"/>
                </a:solidFill>
                <a:latin typeface="Times New Roman"/>
                <a:cs typeface="Times New Roman"/>
              </a:rPr>
              <a:t>All scenarios run inside mock_linux/. The test comment is harmless: it is not a real cron task or an attack.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SOC Dashboard &amp; Results</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12</a:t>
            </a:fld>
            <a:endParaRPr lang="en-US" altLang="en-US"/>
          </a:p>
        </p:txBody>
      </p:sp>
      <p:pic>
        <p:nvPicPr>
          <p:cNvPr id="10" name="Picture 9" descr="dashboard_alert.png"/>
          <p:cNvPicPr>
            <a:picLocks noChangeAspect="1"/>
          </p:cNvPicPr>
          <p:nvPr/>
        </p:nvPicPr>
        <p:blipFill>
          <a:blip r:embed="rId3"/>
          <a:stretch>
            <a:fillRect/>
          </a:stretch>
        </p:blipFill>
        <p:spPr>
          <a:xfrm>
            <a:off x="502920" y="1737360"/>
            <a:ext cx="5257800" cy="2957512"/>
          </a:xfrm>
          <a:prstGeom prst="rect">
            <a:avLst/>
          </a:prstGeom>
        </p:spPr>
      </p:pic>
      <p:sp>
        <p:nvSpPr>
          <p:cNvPr id="11" name="Rounded Rectangle 10"/>
          <p:cNvSpPr/>
          <p:nvPr/>
        </p:nvSpPr>
        <p:spPr>
          <a:xfrm>
            <a:off x="502920" y="1737360"/>
            <a:ext cx="5257800" cy="2957169"/>
          </a:xfrm>
          <a:prstGeom prst="roundRect">
            <a:avLst>
              <a:gd name="adj" fmla="val 1000"/>
            </a:avLst>
          </a:prstGeom>
          <a:noFill/>
          <a:ln w="19050">
            <a:solidFill>
              <a:srgbClr val="53548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4736592"/>
            <a:ext cx="5257800" cy="274320"/>
          </a:xfrm>
          <a:prstGeom prst="rect">
            <a:avLst/>
          </a:prstGeom>
          <a:noFill/>
        </p:spPr>
        <p:txBody>
          <a:bodyPr wrap="square" lIns="45720" tIns="27432" rIns="45720" bIns="27432" anchor="t">
            <a:spAutoFit/>
          </a:bodyPr>
          <a:lstStyle/>
          <a:p>
            <a:pPr algn="ctr">
              <a:spcAft>
                <a:spcPts val="400"/>
              </a:spcAft>
            </a:pPr>
            <a:r>
              <a:rPr sz="1100" b="0" i="0">
                <a:solidFill>
                  <a:srgbClr val="424456"/>
                </a:solidFill>
                <a:latin typeface="Times New Roman"/>
                <a:cs typeface="Times New Roman"/>
              </a:rPr>
              <a:t>Figure: Sentinel dashboard (mock environment, DEMO MODE)</a:t>
            </a:r>
          </a:p>
        </p:txBody>
      </p:sp>
      <p:sp>
        <p:nvSpPr>
          <p:cNvPr id="13" name="Rounded Rectangle 12"/>
          <p:cNvSpPr/>
          <p:nvPr/>
        </p:nvSpPr>
        <p:spPr>
          <a:xfrm>
            <a:off x="502920" y="5120640"/>
            <a:ext cx="5257800" cy="1371600"/>
          </a:xfrm>
          <a:prstGeom prst="roundRect">
            <a:avLst>
              <a:gd name="adj" fmla="val 6000"/>
            </a:avLst>
          </a:prstGeom>
          <a:solidFill>
            <a:srgbClr val="F9EAE1"/>
          </a:solidFill>
          <a:ln w="15875">
            <a:solidFill>
              <a:srgbClr val="C4652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40080" y="5157216"/>
            <a:ext cx="4983480" cy="1325880"/>
          </a:xfrm>
          <a:prstGeom prst="rect">
            <a:avLst/>
          </a:prstGeom>
          <a:noFill/>
        </p:spPr>
        <p:txBody>
          <a:bodyPr wrap="square" lIns="45720" tIns="27432" rIns="45720" bIns="27432" anchor="ctr">
            <a:spAutoFit/>
          </a:bodyPr>
          <a:lstStyle/>
          <a:p>
            <a:pPr algn="l">
              <a:spcAft>
                <a:spcPts val="400"/>
              </a:spcAft>
            </a:pPr>
            <a:r>
              <a:rPr sz="1350" b="1" i="0">
                <a:solidFill>
                  <a:srgbClr val="C4652D"/>
                </a:solidFill>
                <a:latin typeface="Times New Roman"/>
                <a:cs typeface="Times New Roman"/>
              </a:rPr>
              <a:t>Reading the screen: </a:t>
            </a:r>
            <a:r>
              <a:rPr sz="1350" b="0" i="0">
                <a:solidFill>
                  <a:srgbClr val="424456"/>
                </a:solidFill>
                <a:latin typeface="Times New Roman"/>
                <a:cs typeface="Times New Roman"/>
              </a:rPr>
              <a:t>the summary cards show a clean state (0 changes) while the table still lists the earlier MODIFIED event. HIGH = sensitivity of the cron location, not proof of an attack.</a:t>
            </a:r>
          </a:p>
        </p:txBody>
      </p:sp>
      <p:sp>
        <p:nvSpPr>
          <p:cNvPr id="15" name="Rounded Rectangle 14"/>
          <p:cNvSpPr/>
          <p:nvPr/>
        </p:nvSpPr>
        <p:spPr>
          <a:xfrm>
            <a:off x="5943600" y="1737360"/>
            <a:ext cx="2697480" cy="1097280"/>
          </a:xfrm>
          <a:prstGeom prst="roundRect">
            <a:avLst>
              <a:gd name="adj" fmla="val 6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016752" y="1810512"/>
            <a:ext cx="329184" cy="329184"/>
          </a:xfrm>
          <a:prstGeom prst="ellipse">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1300" b="1" i="0">
                <a:solidFill>
                  <a:srgbClr val="FFFFFF"/>
                </a:solidFill>
                <a:latin typeface="Times New Roman"/>
                <a:cs typeface="Times New Roman"/>
              </a:rPr>
              <a:t>1</a:t>
            </a:r>
          </a:p>
        </p:txBody>
      </p:sp>
      <p:sp>
        <p:nvSpPr>
          <p:cNvPr id="17" name="TextBox 16"/>
          <p:cNvSpPr txBox="1"/>
          <p:nvPr/>
        </p:nvSpPr>
        <p:spPr>
          <a:xfrm>
            <a:off x="6400800" y="1792224"/>
            <a:ext cx="2194560" cy="384048"/>
          </a:xfrm>
          <a:prstGeom prst="rect">
            <a:avLst/>
          </a:prstGeom>
          <a:noFill/>
        </p:spPr>
        <p:txBody>
          <a:bodyPr wrap="square" lIns="45720" tIns="27432" rIns="45720" bIns="27432" anchor="ctr">
            <a:spAutoFit/>
          </a:bodyPr>
          <a:lstStyle/>
          <a:p>
            <a:pPr algn="l">
              <a:spcAft>
                <a:spcPts val="400"/>
              </a:spcAft>
            </a:pPr>
            <a:r>
              <a:rPr sz="1400" b="1" i="0">
                <a:solidFill>
                  <a:srgbClr val="53548A"/>
                </a:solidFill>
                <a:latin typeface="Times New Roman"/>
                <a:cs typeface="Times New Roman"/>
              </a:rPr>
              <a:t>DEMO MODE banner</a:t>
            </a:r>
          </a:p>
        </p:txBody>
      </p:sp>
      <p:sp>
        <p:nvSpPr>
          <p:cNvPr id="18" name="TextBox 17"/>
          <p:cNvSpPr txBox="1"/>
          <p:nvPr/>
        </p:nvSpPr>
        <p:spPr>
          <a:xfrm>
            <a:off x="6016752" y="2212848"/>
            <a:ext cx="2560320" cy="603504"/>
          </a:xfrm>
          <a:prstGeom prst="rect">
            <a:avLst/>
          </a:prstGeom>
          <a:noFill/>
        </p:spPr>
        <p:txBody>
          <a:bodyPr wrap="square" lIns="45720" tIns="27432" rIns="45720" bIns="27432" anchor="t">
            <a:spAutoFit/>
          </a:bodyPr>
          <a:lstStyle/>
          <a:p>
            <a:pPr algn="l">
              <a:spcAft>
                <a:spcPts val="400"/>
              </a:spcAft>
            </a:pPr>
            <a:r>
              <a:rPr sz="1250" b="0" i="0">
                <a:solidFill>
                  <a:srgbClr val="424456"/>
                </a:solidFill>
                <a:latin typeface="Times New Roman"/>
                <a:cs typeface="Times New Roman"/>
              </a:rPr>
              <a:t>Only mock_linux/ is monitored</a:t>
            </a:r>
          </a:p>
        </p:txBody>
      </p:sp>
      <p:sp>
        <p:nvSpPr>
          <p:cNvPr id="19" name="Rounded Rectangle 18"/>
          <p:cNvSpPr/>
          <p:nvPr/>
        </p:nvSpPr>
        <p:spPr>
          <a:xfrm>
            <a:off x="5943600" y="2926080"/>
            <a:ext cx="2697480" cy="1097280"/>
          </a:xfrm>
          <a:prstGeom prst="roundRect">
            <a:avLst>
              <a:gd name="adj" fmla="val 6000"/>
            </a:avLst>
          </a:prstGeom>
          <a:solidFill>
            <a:srgbClr val="E4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6016752" y="2999232"/>
            <a:ext cx="329184" cy="329184"/>
          </a:xfrm>
          <a:prstGeom prst="ellipse">
            <a:avLst/>
          </a:prstGeom>
          <a:solidFill>
            <a:srgbClr val="438086"/>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1300" b="1" i="0">
                <a:solidFill>
                  <a:srgbClr val="FFFFFF"/>
                </a:solidFill>
                <a:latin typeface="Times New Roman"/>
                <a:cs typeface="Times New Roman"/>
              </a:rPr>
              <a:t>2</a:t>
            </a:r>
          </a:p>
        </p:txBody>
      </p:sp>
      <p:sp>
        <p:nvSpPr>
          <p:cNvPr id="21" name="TextBox 20"/>
          <p:cNvSpPr txBox="1"/>
          <p:nvPr/>
        </p:nvSpPr>
        <p:spPr>
          <a:xfrm>
            <a:off x="6400800" y="2980944"/>
            <a:ext cx="2194560" cy="384048"/>
          </a:xfrm>
          <a:prstGeom prst="rect">
            <a:avLst/>
          </a:prstGeom>
          <a:noFill/>
        </p:spPr>
        <p:txBody>
          <a:bodyPr wrap="square" lIns="45720" tIns="27432" rIns="45720" bIns="27432" anchor="ctr">
            <a:spAutoFit/>
          </a:bodyPr>
          <a:lstStyle/>
          <a:p>
            <a:pPr algn="l">
              <a:spcAft>
                <a:spcPts val="400"/>
              </a:spcAft>
            </a:pPr>
            <a:r>
              <a:rPr sz="1400" b="1" i="0">
                <a:solidFill>
                  <a:srgbClr val="438086"/>
                </a:solidFill>
                <a:latin typeface="Times New Roman"/>
                <a:cs typeface="Times New Roman"/>
              </a:rPr>
              <a:t>Summary cards</a:t>
            </a:r>
          </a:p>
        </p:txBody>
      </p:sp>
      <p:sp>
        <p:nvSpPr>
          <p:cNvPr id="22" name="TextBox 21"/>
          <p:cNvSpPr txBox="1"/>
          <p:nvPr/>
        </p:nvSpPr>
        <p:spPr>
          <a:xfrm>
            <a:off x="6016752" y="3401568"/>
            <a:ext cx="2560320" cy="603504"/>
          </a:xfrm>
          <a:prstGeom prst="rect">
            <a:avLst/>
          </a:prstGeom>
          <a:noFill/>
        </p:spPr>
        <p:txBody>
          <a:bodyPr wrap="square" lIns="45720" tIns="27432" rIns="45720" bIns="27432" anchor="t">
            <a:spAutoFit/>
          </a:bodyPr>
          <a:lstStyle/>
          <a:p>
            <a:pPr algn="l">
              <a:spcAft>
                <a:spcPts val="400"/>
              </a:spcAft>
            </a:pPr>
            <a:r>
              <a:rPr sz="1250" b="0" i="0">
                <a:solidFill>
                  <a:srgbClr val="424456"/>
                </a:solidFill>
                <a:latin typeface="Times New Roman"/>
                <a:cs typeface="Times New Roman"/>
              </a:rPr>
              <a:t>Status, 23 files, changes, High/Critical</a:t>
            </a:r>
          </a:p>
        </p:txBody>
      </p:sp>
      <p:sp>
        <p:nvSpPr>
          <p:cNvPr id="23" name="Rounded Rectangle 22"/>
          <p:cNvSpPr/>
          <p:nvPr/>
        </p:nvSpPr>
        <p:spPr>
          <a:xfrm>
            <a:off x="5943600" y="4114800"/>
            <a:ext cx="2697480" cy="1097280"/>
          </a:xfrm>
          <a:prstGeom prst="roundRect">
            <a:avLst>
              <a:gd name="adj" fmla="val 6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Oval 23"/>
          <p:cNvSpPr/>
          <p:nvPr/>
        </p:nvSpPr>
        <p:spPr>
          <a:xfrm>
            <a:off x="6016752" y="4187952"/>
            <a:ext cx="329184" cy="329184"/>
          </a:xfrm>
          <a:prstGeom prst="ellipse">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1300" b="1" i="0">
                <a:solidFill>
                  <a:srgbClr val="FFFFFF"/>
                </a:solidFill>
                <a:latin typeface="Times New Roman"/>
                <a:cs typeface="Times New Roman"/>
              </a:rPr>
              <a:t>3</a:t>
            </a:r>
          </a:p>
        </p:txBody>
      </p:sp>
      <p:sp>
        <p:nvSpPr>
          <p:cNvPr id="25" name="TextBox 24"/>
          <p:cNvSpPr txBox="1"/>
          <p:nvPr/>
        </p:nvSpPr>
        <p:spPr>
          <a:xfrm>
            <a:off x="6400800" y="4169663"/>
            <a:ext cx="2194560" cy="384048"/>
          </a:xfrm>
          <a:prstGeom prst="rect">
            <a:avLst/>
          </a:prstGeom>
          <a:noFill/>
        </p:spPr>
        <p:txBody>
          <a:bodyPr wrap="square" lIns="45720" tIns="27432" rIns="45720" bIns="27432" anchor="ctr">
            <a:spAutoFit/>
          </a:bodyPr>
          <a:lstStyle/>
          <a:p>
            <a:pPr algn="l">
              <a:spcAft>
                <a:spcPts val="400"/>
              </a:spcAft>
            </a:pPr>
            <a:r>
              <a:rPr sz="1400" b="1" i="0">
                <a:solidFill>
                  <a:srgbClr val="53548A"/>
                </a:solidFill>
                <a:latin typeface="Times New Roman"/>
                <a:cs typeface="Times New Roman"/>
              </a:rPr>
              <a:t>Event row</a:t>
            </a:r>
          </a:p>
        </p:txBody>
      </p:sp>
      <p:sp>
        <p:nvSpPr>
          <p:cNvPr id="26" name="TextBox 25"/>
          <p:cNvSpPr txBox="1"/>
          <p:nvPr/>
        </p:nvSpPr>
        <p:spPr>
          <a:xfrm>
            <a:off x="6016752" y="4590288"/>
            <a:ext cx="2560320" cy="603504"/>
          </a:xfrm>
          <a:prstGeom prst="rect">
            <a:avLst/>
          </a:prstGeom>
          <a:noFill/>
        </p:spPr>
        <p:txBody>
          <a:bodyPr wrap="square" lIns="45720" tIns="27432" rIns="45720" bIns="27432" anchor="t">
            <a:spAutoFit/>
          </a:bodyPr>
          <a:lstStyle/>
          <a:p>
            <a:pPr algn="l">
              <a:spcAft>
                <a:spcPts val="400"/>
              </a:spcAft>
            </a:pPr>
            <a:r>
              <a:rPr sz="1250" b="0" i="0">
                <a:solidFill>
                  <a:srgbClr val="424456"/>
                </a:solidFill>
                <a:latin typeface="Times New Roman"/>
                <a:cs typeface="Times New Roman"/>
              </a:rPr>
              <a:t>MODIFIED · HIGH · /etc/crontab · T1053.003</a:t>
            </a:r>
          </a:p>
        </p:txBody>
      </p:sp>
      <p:sp>
        <p:nvSpPr>
          <p:cNvPr id="27" name="Rounded Rectangle 26"/>
          <p:cNvSpPr/>
          <p:nvPr/>
        </p:nvSpPr>
        <p:spPr>
          <a:xfrm>
            <a:off x="5943600" y="5303520"/>
            <a:ext cx="2697480" cy="1097280"/>
          </a:xfrm>
          <a:prstGeom prst="roundRect">
            <a:avLst>
              <a:gd name="adj" fmla="val 6000"/>
            </a:avLst>
          </a:prstGeom>
          <a:solidFill>
            <a:srgbClr val="E4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016752" y="5376672"/>
            <a:ext cx="329184" cy="329184"/>
          </a:xfrm>
          <a:prstGeom prst="ellipse">
            <a:avLst/>
          </a:prstGeom>
          <a:solidFill>
            <a:srgbClr val="438086"/>
          </a:solidFill>
          <a:ln>
            <a:noFill/>
          </a:ln>
          <a:effectLst/>
        </p:spPr>
        <p:style>
          <a:lnRef idx="1">
            <a:schemeClr val="accent1"/>
          </a:lnRef>
          <a:fillRef idx="3">
            <a:schemeClr val="accent1"/>
          </a:fillRef>
          <a:effectRef idx="2">
            <a:schemeClr val="accent1"/>
          </a:effectRef>
          <a:fontRef idx="minor">
            <a:schemeClr val="lt1"/>
          </a:fontRef>
        </p:style>
        <p:txBody>
          <a:bodyPr wrap="square" lIns="0" tIns="27432" rIns="0" bIns="27432" rtlCol="0" anchor="ctr"/>
          <a:lstStyle/>
          <a:p>
            <a:pPr algn="ctr">
              <a:spcAft>
                <a:spcPts val="400"/>
              </a:spcAft>
            </a:pPr>
            <a:r>
              <a:rPr sz="1300" b="1" i="0">
                <a:solidFill>
                  <a:srgbClr val="FFFFFF"/>
                </a:solidFill>
                <a:latin typeface="Times New Roman"/>
                <a:cs typeface="Times New Roman"/>
              </a:rPr>
              <a:t>4</a:t>
            </a:r>
          </a:p>
        </p:txBody>
      </p:sp>
      <p:sp>
        <p:nvSpPr>
          <p:cNvPr id="29" name="TextBox 28"/>
          <p:cNvSpPr txBox="1"/>
          <p:nvPr/>
        </p:nvSpPr>
        <p:spPr>
          <a:xfrm>
            <a:off x="6400800" y="5358383"/>
            <a:ext cx="2194560" cy="384048"/>
          </a:xfrm>
          <a:prstGeom prst="rect">
            <a:avLst/>
          </a:prstGeom>
          <a:noFill/>
        </p:spPr>
        <p:txBody>
          <a:bodyPr wrap="square" lIns="45720" tIns="27432" rIns="45720" bIns="27432" anchor="ctr">
            <a:spAutoFit/>
          </a:bodyPr>
          <a:lstStyle/>
          <a:p>
            <a:pPr algn="l">
              <a:spcAft>
                <a:spcPts val="400"/>
              </a:spcAft>
            </a:pPr>
            <a:r>
              <a:rPr sz="1400" b="1" i="0">
                <a:solidFill>
                  <a:srgbClr val="438086"/>
                </a:solidFill>
                <a:latin typeface="Times New Roman"/>
                <a:cs typeface="Times New Roman"/>
              </a:rPr>
              <a:t>Filters &amp; View Diff</a:t>
            </a:r>
          </a:p>
        </p:txBody>
      </p:sp>
      <p:sp>
        <p:nvSpPr>
          <p:cNvPr id="30" name="TextBox 29"/>
          <p:cNvSpPr txBox="1"/>
          <p:nvPr/>
        </p:nvSpPr>
        <p:spPr>
          <a:xfrm>
            <a:off x="6016752" y="5779008"/>
            <a:ext cx="2560320" cy="603504"/>
          </a:xfrm>
          <a:prstGeom prst="rect">
            <a:avLst/>
          </a:prstGeom>
          <a:noFill/>
        </p:spPr>
        <p:txBody>
          <a:bodyPr wrap="square" lIns="45720" tIns="27432" rIns="45720" bIns="27432" anchor="t">
            <a:spAutoFit/>
          </a:bodyPr>
          <a:lstStyle/>
          <a:p>
            <a:pPr algn="l">
              <a:spcAft>
                <a:spcPts val="400"/>
              </a:spcAft>
            </a:pPr>
            <a:r>
              <a:rPr sz="1250" b="0" i="0">
                <a:solidFill>
                  <a:srgbClr val="424456"/>
                </a:solidFill>
                <a:latin typeface="Times New Roman"/>
                <a:cs typeface="Times New Roman"/>
              </a:rPr>
              <a:t>Search, severity, type; line diff</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Testing &amp; Validation</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13</a:t>
            </a:fld>
            <a:endParaRPr lang="en-US" altLang="en-US"/>
          </a:p>
        </p:txBody>
      </p:sp>
      <p:sp>
        <p:nvSpPr>
          <p:cNvPr id="10" name="Rounded Rectangle 9"/>
          <p:cNvSpPr/>
          <p:nvPr/>
        </p:nvSpPr>
        <p:spPr>
          <a:xfrm>
            <a:off x="502920" y="1737360"/>
            <a:ext cx="2651760" cy="1554480"/>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 y="1810512"/>
            <a:ext cx="2651760" cy="868680"/>
          </a:xfrm>
          <a:prstGeom prst="rect">
            <a:avLst/>
          </a:prstGeom>
          <a:noFill/>
        </p:spPr>
        <p:txBody>
          <a:bodyPr wrap="square" lIns="45720" tIns="27432" rIns="45720" bIns="27432" anchor="ctr">
            <a:spAutoFit/>
          </a:bodyPr>
          <a:lstStyle/>
          <a:p>
            <a:pPr algn="ctr">
              <a:spcAft>
                <a:spcPts val="400"/>
              </a:spcAft>
            </a:pPr>
            <a:r>
              <a:rPr sz="4000" b="1" i="0">
                <a:solidFill>
                  <a:srgbClr val="FFFFFF"/>
                </a:solidFill>
                <a:latin typeface="Times New Roman"/>
                <a:cs typeface="Times New Roman"/>
              </a:rPr>
              <a:t>4 / 4</a:t>
            </a:r>
          </a:p>
        </p:txBody>
      </p:sp>
      <p:sp>
        <p:nvSpPr>
          <p:cNvPr id="12" name="TextBox 11"/>
          <p:cNvSpPr txBox="1"/>
          <p:nvPr/>
        </p:nvSpPr>
        <p:spPr>
          <a:xfrm>
            <a:off x="502920" y="2697480"/>
            <a:ext cx="2651760" cy="502920"/>
          </a:xfrm>
          <a:prstGeom prst="rect">
            <a:avLst/>
          </a:prstGeom>
          <a:noFill/>
        </p:spPr>
        <p:txBody>
          <a:bodyPr wrap="square" lIns="45720" tIns="27432" rIns="45720" bIns="27432" anchor="t">
            <a:spAutoFit/>
          </a:bodyPr>
          <a:lstStyle/>
          <a:p>
            <a:pPr algn="ctr">
              <a:spcAft>
                <a:spcPts val="400"/>
              </a:spcAft>
            </a:pPr>
            <a:r>
              <a:rPr sz="1500" b="0" i="0">
                <a:solidFill>
                  <a:srgbClr val="FFFFFF"/>
                </a:solidFill>
                <a:latin typeface="Times New Roman"/>
                <a:cs typeface="Times New Roman"/>
              </a:rPr>
              <a:t>unit tests passed</a:t>
            </a:r>
          </a:p>
        </p:txBody>
      </p:sp>
      <p:sp>
        <p:nvSpPr>
          <p:cNvPr id="13" name="Rounded Rectangle 12"/>
          <p:cNvSpPr/>
          <p:nvPr/>
        </p:nvSpPr>
        <p:spPr>
          <a:xfrm>
            <a:off x="3246120" y="1737360"/>
            <a:ext cx="2651760" cy="1554480"/>
          </a:xfrm>
          <a:prstGeom prst="roundRect">
            <a:avLst>
              <a:gd name="adj" fmla="val 6000"/>
            </a:avLst>
          </a:prstGeom>
          <a:solidFill>
            <a:srgbClr val="438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46120" y="1810512"/>
            <a:ext cx="2651760" cy="868680"/>
          </a:xfrm>
          <a:prstGeom prst="rect">
            <a:avLst/>
          </a:prstGeom>
          <a:noFill/>
        </p:spPr>
        <p:txBody>
          <a:bodyPr wrap="square" lIns="45720" tIns="27432" rIns="45720" bIns="27432" anchor="ctr">
            <a:spAutoFit/>
          </a:bodyPr>
          <a:lstStyle/>
          <a:p>
            <a:pPr algn="ctr">
              <a:spcAft>
                <a:spcPts val="400"/>
              </a:spcAft>
            </a:pPr>
            <a:r>
              <a:rPr sz="4000" b="1" i="0">
                <a:solidFill>
                  <a:srgbClr val="FFFFFF"/>
                </a:solidFill>
                <a:latin typeface="Times New Roman"/>
                <a:cs typeface="Times New Roman"/>
              </a:rPr>
              <a:t>0.049 s</a:t>
            </a:r>
          </a:p>
        </p:txBody>
      </p:sp>
      <p:sp>
        <p:nvSpPr>
          <p:cNvPr id="15" name="TextBox 14"/>
          <p:cNvSpPr txBox="1"/>
          <p:nvPr/>
        </p:nvSpPr>
        <p:spPr>
          <a:xfrm>
            <a:off x="3246120" y="2697480"/>
            <a:ext cx="2651760" cy="502920"/>
          </a:xfrm>
          <a:prstGeom prst="rect">
            <a:avLst/>
          </a:prstGeom>
          <a:noFill/>
        </p:spPr>
        <p:txBody>
          <a:bodyPr wrap="square" lIns="45720" tIns="27432" rIns="45720" bIns="27432" anchor="t">
            <a:spAutoFit/>
          </a:bodyPr>
          <a:lstStyle/>
          <a:p>
            <a:pPr algn="ctr">
              <a:spcAft>
                <a:spcPts val="400"/>
              </a:spcAft>
            </a:pPr>
            <a:r>
              <a:rPr sz="1500" b="0" i="0">
                <a:solidFill>
                  <a:srgbClr val="FFFFFF"/>
                </a:solidFill>
                <a:latin typeface="Times New Roman"/>
                <a:cs typeface="Times New Roman"/>
              </a:rPr>
              <a:t>reported test run time</a:t>
            </a:r>
          </a:p>
        </p:txBody>
      </p:sp>
      <p:sp>
        <p:nvSpPr>
          <p:cNvPr id="16" name="Rounded Rectangle 15"/>
          <p:cNvSpPr/>
          <p:nvPr/>
        </p:nvSpPr>
        <p:spPr>
          <a:xfrm>
            <a:off x="5989320" y="1737360"/>
            <a:ext cx="2651760" cy="1554480"/>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89320" y="1810512"/>
            <a:ext cx="2651760" cy="868680"/>
          </a:xfrm>
          <a:prstGeom prst="rect">
            <a:avLst/>
          </a:prstGeom>
          <a:noFill/>
        </p:spPr>
        <p:txBody>
          <a:bodyPr wrap="square" lIns="45720" tIns="27432" rIns="45720" bIns="27432" anchor="ctr">
            <a:spAutoFit/>
          </a:bodyPr>
          <a:lstStyle/>
          <a:p>
            <a:pPr algn="ctr">
              <a:spcAft>
                <a:spcPts val="400"/>
              </a:spcAft>
            </a:pPr>
            <a:r>
              <a:rPr sz="4000" b="1" i="0">
                <a:solidFill>
                  <a:srgbClr val="FFFFFF"/>
                </a:solidFill>
                <a:latin typeface="Times New Roman"/>
                <a:cs typeface="Times New Roman"/>
              </a:rPr>
              <a:t>0</a:t>
            </a:r>
          </a:p>
        </p:txBody>
      </p:sp>
      <p:sp>
        <p:nvSpPr>
          <p:cNvPr id="18" name="TextBox 17"/>
          <p:cNvSpPr txBox="1"/>
          <p:nvPr/>
        </p:nvSpPr>
        <p:spPr>
          <a:xfrm>
            <a:off x="5989320" y="2697480"/>
            <a:ext cx="2651760" cy="502920"/>
          </a:xfrm>
          <a:prstGeom prst="rect">
            <a:avLst/>
          </a:prstGeom>
          <a:noFill/>
        </p:spPr>
        <p:txBody>
          <a:bodyPr wrap="square" lIns="45720" tIns="27432" rIns="45720" bIns="27432" anchor="t">
            <a:spAutoFit/>
          </a:bodyPr>
          <a:lstStyle/>
          <a:p>
            <a:pPr algn="ctr">
              <a:spcAft>
                <a:spcPts val="400"/>
              </a:spcAft>
            </a:pPr>
            <a:r>
              <a:rPr sz="1500" b="0" i="0">
                <a:solidFill>
                  <a:srgbClr val="FFFFFF"/>
                </a:solidFill>
                <a:latin typeface="Times New Roman"/>
                <a:cs typeface="Times New Roman"/>
              </a:rPr>
              <a:t>false alarms on a clean scan</a:t>
            </a:r>
          </a:p>
        </p:txBody>
      </p:sp>
      <p:sp>
        <p:nvSpPr>
          <p:cNvPr id="19" name="Rounded Rectangle 18"/>
          <p:cNvSpPr/>
          <p:nvPr/>
        </p:nvSpPr>
        <p:spPr>
          <a:xfrm>
            <a:off x="502920" y="3520440"/>
            <a:ext cx="3977639" cy="2423160"/>
          </a:xfrm>
          <a:prstGeom prst="roundRect">
            <a:avLst>
              <a:gd name="adj" fmla="val 6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0080" y="3566160"/>
            <a:ext cx="3703320" cy="365760"/>
          </a:xfrm>
          <a:prstGeom prst="rect">
            <a:avLst/>
          </a:prstGeom>
          <a:noFill/>
        </p:spPr>
        <p:txBody>
          <a:bodyPr wrap="square" lIns="45720" tIns="27432" rIns="45720" bIns="27432" anchor="t">
            <a:spAutoFit/>
          </a:bodyPr>
          <a:lstStyle/>
          <a:p>
            <a:pPr algn="l">
              <a:spcAft>
                <a:spcPts val="400"/>
              </a:spcAft>
            </a:pPr>
            <a:r>
              <a:rPr sz="1600" b="1" i="0">
                <a:solidFill>
                  <a:srgbClr val="53548A"/>
                </a:solidFill>
                <a:latin typeface="Times New Roman"/>
                <a:cs typeface="Times New Roman"/>
              </a:rPr>
              <a:t>What the 4 tests check</a:t>
            </a:r>
          </a:p>
        </p:txBody>
      </p:sp>
      <p:sp>
        <p:nvSpPr>
          <p:cNvPr id="21" name="TextBox 20"/>
          <p:cNvSpPr txBox="1"/>
          <p:nvPr/>
        </p:nvSpPr>
        <p:spPr>
          <a:xfrm>
            <a:off x="640080" y="3977639"/>
            <a:ext cx="3703320" cy="1920240"/>
          </a:xfrm>
          <a:prstGeom prst="rect">
            <a:avLst/>
          </a:prstGeom>
          <a:noFill/>
        </p:spPr>
        <p:txBody>
          <a:bodyPr wrap="square" lIns="45720" tIns="27432" rIns="45720" bIns="27432" anchor="t">
            <a:spAutoFit/>
          </a:bodyPr>
          <a:lstStyle/>
          <a:p>
            <a:pPr marL="182880" indent="-182880" algn="l">
              <a:spcAft>
                <a:spcPts val="800"/>
              </a:spcAft>
              <a:buChar char="•"/>
            </a:pPr>
            <a:r>
              <a:rPr sz="1600" b="0" i="0">
                <a:solidFill>
                  <a:srgbClr val="424456"/>
                </a:solidFill>
                <a:latin typeface="Times New Roman"/>
                <a:cs typeface="Times New Roman"/>
              </a:rPr>
              <a:t>Clean scan gives no events</a:t>
            </a:r>
          </a:p>
          <a:p>
            <a:pPr marL="182880" indent="-182880" algn="l">
              <a:spcAft>
                <a:spcPts val="800"/>
              </a:spcAft>
              <a:buChar char="•"/>
            </a:pPr>
            <a:r>
              <a:rPr sz="1600" b="0" i="0">
                <a:solidFill>
                  <a:srgbClr val="424456"/>
                </a:solidFill>
                <a:latin typeface="Times New Roman"/>
                <a:cs typeface="Times New Roman"/>
              </a:rPr>
              <a:t>ADDED file is detected</a:t>
            </a:r>
          </a:p>
          <a:p>
            <a:pPr marL="182880" indent="-182880" algn="l">
              <a:spcAft>
                <a:spcPts val="800"/>
              </a:spcAft>
              <a:buChar char="•"/>
            </a:pPr>
            <a:r>
              <a:rPr sz="1600" b="0" i="0">
                <a:solidFill>
                  <a:srgbClr val="424456"/>
                </a:solidFill>
                <a:latin typeface="Times New Roman"/>
                <a:cs typeface="Times New Roman"/>
              </a:rPr>
              <a:t>MODIFIED file is detected, with diff</a:t>
            </a:r>
          </a:p>
          <a:p>
            <a:pPr marL="182880" indent="-182880" algn="l">
              <a:spcAft>
                <a:spcPts val="800"/>
              </a:spcAft>
              <a:buChar char="•"/>
            </a:pPr>
            <a:r>
              <a:rPr sz="1600" b="0" i="0">
                <a:solidFill>
                  <a:srgbClr val="424456"/>
                </a:solidFill>
                <a:latin typeface="Times New Roman"/>
                <a:cs typeface="Times New Roman"/>
              </a:rPr>
              <a:t>DELETED file is detected</a:t>
            </a:r>
          </a:p>
        </p:txBody>
      </p:sp>
      <p:sp>
        <p:nvSpPr>
          <p:cNvPr id="22" name="Rounded Rectangle 21"/>
          <p:cNvSpPr/>
          <p:nvPr/>
        </p:nvSpPr>
        <p:spPr>
          <a:xfrm>
            <a:off x="4663440" y="3520440"/>
            <a:ext cx="3977639" cy="2423160"/>
          </a:xfrm>
          <a:prstGeom prst="roundRect">
            <a:avLst>
              <a:gd name="adj" fmla="val 6000"/>
            </a:avLst>
          </a:prstGeom>
          <a:solidFill>
            <a:srgbClr val="E4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800600" y="3566160"/>
            <a:ext cx="3703320" cy="365760"/>
          </a:xfrm>
          <a:prstGeom prst="rect">
            <a:avLst/>
          </a:prstGeom>
          <a:noFill/>
        </p:spPr>
        <p:txBody>
          <a:bodyPr wrap="square" lIns="45720" tIns="27432" rIns="45720" bIns="27432" anchor="t">
            <a:spAutoFit/>
          </a:bodyPr>
          <a:lstStyle/>
          <a:p>
            <a:pPr algn="l">
              <a:spcAft>
                <a:spcPts val="400"/>
              </a:spcAft>
            </a:pPr>
            <a:r>
              <a:rPr sz="1600" b="1" i="0">
                <a:solidFill>
                  <a:srgbClr val="438086"/>
                </a:solidFill>
                <a:latin typeface="Times New Roman"/>
                <a:cs typeface="Times New Roman"/>
              </a:rPr>
              <a:t>Demonstrated manually</a:t>
            </a:r>
          </a:p>
        </p:txBody>
      </p:sp>
      <p:sp>
        <p:nvSpPr>
          <p:cNvPr id="24" name="TextBox 23"/>
          <p:cNvSpPr txBox="1"/>
          <p:nvPr/>
        </p:nvSpPr>
        <p:spPr>
          <a:xfrm>
            <a:off x="4800600" y="3977639"/>
            <a:ext cx="3703320" cy="1920240"/>
          </a:xfrm>
          <a:prstGeom prst="rect">
            <a:avLst/>
          </a:prstGeom>
          <a:noFill/>
        </p:spPr>
        <p:txBody>
          <a:bodyPr wrap="square" lIns="45720" tIns="27432" rIns="45720" bIns="27432" anchor="t">
            <a:spAutoFit/>
          </a:bodyPr>
          <a:lstStyle/>
          <a:p>
            <a:pPr marL="182880" indent="-182880" algn="l">
              <a:spcAft>
                <a:spcPts val="800"/>
              </a:spcAft>
              <a:buChar char="•"/>
            </a:pPr>
            <a:r>
              <a:rPr sz="1600" b="0" i="0">
                <a:solidFill>
                  <a:srgbClr val="424456"/>
                </a:solidFill>
                <a:latin typeface="Times New Roman"/>
                <a:cs typeface="Times New Roman"/>
              </a:rPr>
              <a:t>Baseline of the mock tree</a:t>
            </a:r>
          </a:p>
          <a:p>
            <a:pPr marL="182880" indent="-182880" algn="l">
              <a:spcAft>
                <a:spcPts val="800"/>
              </a:spcAft>
              <a:buChar char="•"/>
            </a:pPr>
            <a:r>
              <a:rPr sz="1600" b="0" i="0">
                <a:solidFill>
                  <a:srgbClr val="424456"/>
                </a:solidFill>
                <a:latin typeface="Times New Roman"/>
                <a:cs typeface="Times New Roman"/>
              </a:rPr>
              <a:t>Clean scan: no changes</a:t>
            </a:r>
          </a:p>
          <a:p>
            <a:pPr marL="182880" indent="-182880" algn="l">
              <a:spcAft>
                <a:spcPts val="800"/>
              </a:spcAft>
              <a:buChar char="•"/>
            </a:pPr>
            <a:r>
              <a:rPr sz="1600" b="0" i="0">
                <a:solidFill>
                  <a:srgbClr val="424456"/>
                </a:solidFill>
                <a:latin typeface="Times New Roman"/>
                <a:cs typeface="Times New Roman"/>
              </a:rPr>
              <a:t>Modified mock crontab → MODIFIED, HIGH</a:t>
            </a:r>
          </a:p>
          <a:p>
            <a:pPr marL="182880" indent="-182880" algn="l">
              <a:spcAft>
                <a:spcPts val="800"/>
              </a:spcAft>
              <a:buChar char="•"/>
            </a:pPr>
            <a:r>
              <a:rPr sz="1600" b="0" i="0">
                <a:solidFill>
                  <a:srgbClr val="424456"/>
                </a:solidFill>
                <a:latin typeface="Times New Roman"/>
                <a:cs typeface="Times New Roman"/>
              </a:rPr>
              <a:t>Reset returns to clean state</a:t>
            </a:r>
          </a:p>
        </p:txBody>
      </p:sp>
      <p:sp>
        <p:nvSpPr>
          <p:cNvPr id="25" name="TextBox 24"/>
          <p:cNvSpPr txBox="1"/>
          <p:nvPr/>
        </p:nvSpPr>
        <p:spPr>
          <a:xfrm>
            <a:off x="502920" y="6053328"/>
            <a:ext cx="8138160" cy="457200"/>
          </a:xfrm>
          <a:prstGeom prst="rect">
            <a:avLst/>
          </a:prstGeom>
          <a:noFill/>
        </p:spPr>
        <p:txBody>
          <a:bodyPr wrap="square" lIns="45720" tIns="27432" rIns="45720" bIns="27432" anchor="ctr">
            <a:spAutoFit/>
          </a:bodyPr>
          <a:lstStyle/>
          <a:p>
            <a:pPr algn="ctr">
              <a:spcAft>
                <a:spcPts val="400"/>
              </a:spcAft>
            </a:pPr>
            <a:r>
              <a:rPr sz="1250" b="0" i="0">
                <a:solidFill>
                  <a:srgbClr val="424456"/>
                </a:solidFill>
                <a:latin typeface="Times New Roman"/>
                <a:cs typeface="Times New Roman"/>
              </a:rPr>
              <a:t>Results are from the team’s earlier reported runs on the mock tree. No performance benchmarks are claimed.</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Limitations &amp; Future Scope</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14</a:t>
            </a:fld>
            <a:endParaRPr lang="en-US" altLang="en-US"/>
          </a:p>
        </p:txBody>
      </p:sp>
      <p:sp>
        <p:nvSpPr>
          <p:cNvPr id="10" name="Rounded Rectangle 9"/>
          <p:cNvSpPr/>
          <p:nvPr/>
        </p:nvSpPr>
        <p:spPr>
          <a:xfrm>
            <a:off x="502920" y="1737360"/>
            <a:ext cx="3977639" cy="4709160"/>
          </a:xfrm>
          <a:prstGeom prst="roundRect">
            <a:avLst>
              <a:gd name="adj" fmla="val 6000"/>
            </a:avLst>
          </a:prstGeom>
          <a:solidFill>
            <a:srgbClr val="F9EAE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10"/>
          <p:cNvSpPr/>
          <p:nvPr/>
        </p:nvSpPr>
        <p:spPr>
          <a:xfrm>
            <a:off x="502920" y="1737360"/>
            <a:ext cx="3977639" cy="566928"/>
          </a:xfrm>
          <a:prstGeom prst="roundRect">
            <a:avLst>
              <a:gd name="adj" fmla="val 6000"/>
            </a:avLst>
          </a:prstGeom>
          <a:solidFill>
            <a:srgbClr val="C465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737360"/>
            <a:ext cx="3977639" cy="566928"/>
          </a:xfrm>
          <a:prstGeom prst="rect">
            <a:avLst/>
          </a:prstGeom>
          <a:noFill/>
        </p:spPr>
        <p:txBody>
          <a:bodyPr wrap="square" lIns="45720" tIns="27432" rIns="45720" bIns="27432" anchor="ctr">
            <a:spAutoFit/>
          </a:bodyPr>
          <a:lstStyle/>
          <a:p>
            <a:pPr algn="ctr">
              <a:spcAft>
                <a:spcPts val="400"/>
              </a:spcAft>
            </a:pPr>
            <a:r>
              <a:rPr sz="1800" b="1" i="0">
                <a:solidFill>
                  <a:srgbClr val="FFFFFF"/>
                </a:solidFill>
                <a:latin typeface="Times New Roman"/>
                <a:cs typeface="Times New Roman"/>
              </a:rPr>
              <a:t>Current Limitations</a:t>
            </a:r>
          </a:p>
        </p:txBody>
      </p:sp>
      <p:sp>
        <p:nvSpPr>
          <p:cNvPr id="13" name="TextBox 12"/>
          <p:cNvSpPr txBox="1"/>
          <p:nvPr/>
        </p:nvSpPr>
        <p:spPr>
          <a:xfrm>
            <a:off x="685800" y="2487168"/>
            <a:ext cx="3611880" cy="3931920"/>
          </a:xfrm>
          <a:prstGeom prst="rect">
            <a:avLst/>
          </a:prstGeom>
          <a:noFill/>
        </p:spPr>
        <p:txBody>
          <a:bodyPr wrap="square" lIns="45720" tIns="27432" rIns="45720" bIns="27432" anchor="t">
            <a:spAutoFit/>
          </a:bodyPr>
          <a:lstStyle/>
          <a:p>
            <a:pPr marL="182880" indent="-182880" algn="l">
              <a:spcAft>
                <a:spcPts val="1100"/>
              </a:spcAft>
              <a:buChar char="•"/>
            </a:pPr>
            <a:r>
              <a:rPr sz="1600" b="0" i="0">
                <a:solidFill>
                  <a:srgbClr val="424456"/>
                </a:solidFill>
                <a:latin typeface="Times New Roman"/>
                <a:cs typeface="Times New Roman"/>
              </a:rPr>
              <a:t>Tested only on a mock Linux tree on Windows</a:t>
            </a:r>
          </a:p>
          <a:p>
            <a:pPr marL="182880" indent="-182880" algn="l">
              <a:spcAft>
                <a:spcPts val="1100"/>
              </a:spcAft>
              <a:buChar char="•"/>
            </a:pPr>
            <a:r>
              <a:rPr sz="1600" b="0" i="0">
                <a:solidFill>
                  <a:srgbClr val="424456"/>
                </a:solidFill>
                <a:latin typeface="Times New Roman"/>
                <a:cs typeface="Times New Roman"/>
              </a:rPr>
              <a:t>Mock /etc/crontab is a sample file, not the real one</a:t>
            </a:r>
          </a:p>
          <a:p>
            <a:pPr marL="182880" indent="-182880" algn="l">
              <a:spcAft>
                <a:spcPts val="1100"/>
              </a:spcAft>
              <a:buChar char="•"/>
            </a:pPr>
            <a:r>
              <a:rPr sz="1600" b="0" i="0">
                <a:solidFill>
                  <a:srgbClr val="424456"/>
                </a:solidFill>
                <a:latin typeface="Times New Roman"/>
                <a:cs typeface="Times New Roman"/>
              </a:rPr>
              <a:t>Scan on demand; not real-time monitoring</a:t>
            </a:r>
          </a:p>
          <a:p>
            <a:pPr marL="182880" indent="-182880" algn="l">
              <a:spcAft>
                <a:spcPts val="1100"/>
              </a:spcAft>
              <a:buChar char="•"/>
            </a:pPr>
            <a:r>
              <a:rPr sz="1600" b="0" i="0">
                <a:solidFill>
                  <a:srgbClr val="424456"/>
                </a:solidFill>
                <a:latin typeface="Times New Roman"/>
                <a:cs typeface="Times New Roman"/>
              </a:rPr>
              <a:t>Severity is rule-based; not proof of attack</a:t>
            </a:r>
          </a:p>
          <a:p>
            <a:pPr marL="182880" indent="-182880" algn="l">
              <a:spcAft>
                <a:spcPts val="1100"/>
              </a:spcAft>
              <a:buChar char="•"/>
            </a:pPr>
            <a:r>
              <a:rPr sz="1600" b="0" i="0">
                <a:solidFill>
                  <a:srgbClr val="424456"/>
                </a:solidFill>
                <a:latin typeface="Times New Roman"/>
                <a:cs typeface="Times New Roman"/>
              </a:rPr>
              <a:t>No auto-response or attacker identification</a:t>
            </a:r>
          </a:p>
          <a:p>
            <a:pPr marL="182880" indent="-182880" algn="l">
              <a:spcAft>
                <a:spcPts val="1100"/>
              </a:spcAft>
              <a:buChar char="•"/>
            </a:pPr>
            <a:r>
              <a:rPr sz="1600" b="0" i="0">
                <a:solidFill>
                  <a:srgbClr val="424456"/>
                </a:solidFill>
                <a:latin typeface="Times New Roman"/>
                <a:cs typeface="Times New Roman"/>
              </a:rPr>
              <a:t>No whitelist: normal admin edits are flagged too</a:t>
            </a:r>
          </a:p>
        </p:txBody>
      </p:sp>
      <p:sp>
        <p:nvSpPr>
          <p:cNvPr id="14" name="Rounded Rectangle 13"/>
          <p:cNvSpPr/>
          <p:nvPr/>
        </p:nvSpPr>
        <p:spPr>
          <a:xfrm>
            <a:off x="4663440" y="1737360"/>
            <a:ext cx="3977639" cy="4709160"/>
          </a:xfrm>
          <a:prstGeom prst="roundRect">
            <a:avLst>
              <a:gd name="adj" fmla="val 6000"/>
            </a:avLst>
          </a:prstGeom>
          <a:solidFill>
            <a:srgbClr val="E4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4663440" y="1737360"/>
            <a:ext cx="3977639" cy="566928"/>
          </a:xfrm>
          <a:prstGeom prst="roundRect">
            <a:avLst>
              <a:gd name="adj" fmla="val 6000"/>
            </a:avLst>
          </a:prstGeom>
          <a:solidFill>
            <a:srgbClr val="4380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663440" y="1737360"/>
            <a:ext cx="3977639" cy="566928"/>
          </a:xfrm>
          <a:prstGeom prst="rect">
            <a:avLst/>
          </a:prstGeom>
          <a:noFill/>
        </p:spPr>
        <p:txBody>
          <a:bodyPr wrap="square" lIns="45720" tIns="27432" rIns="45720" bIns="27432" anchor="ctr">
            <a:spAutoFit/>
          </a:bodyPr>
          <a:lstStyle/>
          <a:p>
            <a:pPr algn="ctr">
              <a:spcAft>
                <a:spcPts val="400"/>
              </a:spcAft>
            </a:pPr>
            <a:r>
              <a:rPr sz="1800" b="1" i="0">
                <a:solidFill>
                  <a:srgbClr val="FFFFFF"/>
                </a:solidFill>
                <a:latin typeface="Times New Roman"/>
                <a:cs typeface="Times New Roman"/>
              </a:rPr>
              <a:t>Future Scope</a:t>
            </a:r>
          </a:p>
        </p:txBody>
      </p:sp>
      <p:sp>
        <p:nvSpPr>
          <p:cNvPr id="17" name="TextBox 16"/>
          <p:cNvSpPr txBox="1"/>
          <p:nvPr/>
        </p:nvSpPr>
        <p:spPr>
          <a:xfrm>
            <a:off x="4846320" y="2487168"/>
            <a:ext cx="3611880" cy="3931920"/>
          </a:xfrm>
          <a:prstGeom prst="rect">
            <a:avLst/>
          </a:prstGeom>
          <a:noFill/>
        </p:spPr>
        <p:txBody>
          <a:bodyPr wrap="square" lIns="45720" tIns="27432" rIns="45720" bIns="27432" anchor="t">
            <a:spAutoFit/>
          </a:bodyPr>
          <a:lstStyle/>
          <a:p>
            <a:pPr marL="182880" indent="-182880" algn="l">
              <a:spcAft>
                <a:spcPts val="1100"/>
              </a:spcAft>
              <a:buChar char="•"/>
            </a:pPr>
            <a:r>
              <a:rPr sz="1600" b="0" i="0">
                <a:solidFill>
                  <a:srgbClr val="424456"/>
                </a:solidFill>
                <a:latin typeface="Times New Roman"/>
                <a:cs typeface="Times New Roman"/>
              </a:rPr>
              <a:t>Test on a real Linux VM (e.g. Kali)</a:t>
            </a:r>
          </a:p>
          <a:p>
            <a:pPr marL="182880" indent="-182880" algn="l">
              <a:spcAft>
                <a:spcPts val="1100"/>
              </a:spcAft>
              <a:buChar char="•"/>
            </a:pPr>
            <a:r>
              <a:rPr sz="1600" b="0" i="0">
                <a:solidFill>
                  <a:srgbClr val="424456"/>
                </a:solidFill>
                <a:latin typeface="Times New Roman"/>
                <a:cs typeface="Times New Roman"/>
              </a:rPr>
              <a:t>Real-time hooks: inotify, eBPF, auditd</a:t>
            </a:r>
          </a:p>
          <a:p>
            <a:pPr marL="182880" indent="-182880" algn="l">
              <a:spcAft>
                <a:spcPts val="1100"/>
              </a:spcAft>
              <a:buChar char="•"/>
            </a:pPr>
            <a:r>
              <a:rPr sz="1600" b="0" i="0">
                <a:solidFill>
                  <a:srgbClr val="424456"/>
                </a:solidFill>
                <a:latin typeface="Times New Roman"/>
                <a:cs typeface="Times New Roman"/>
              </a:rPr>
              <a:t>Alerting and SIEM forwarding</a:t>
            </a:r>
          </a:p>
          <a:p>
            <a:pPr marL="182880" indent="-182880" algn="l">
              <a:spcAft>
                <a:spcPts val="1100"/>
              </a:spcAft>
              <a:buChar char="•"/>
            </a:pPr>
            <a:r>
              <a:rPr sz="1600" b="0" i="0">
                <a:solidFill>
                  <a:srgbClr val="424456"/>
                </a:solidFill>
                <a:latin typeface="Times New Roman"/>
                <a:cs typeface="Times New Roman"/>
              </a:rPr>
              <a:t>Whitelisting and change approval</a:t>
            </a:r>
          </a:p>
          <a:p>
            <a:pPr marL="182880" indent="-182880" algn="l">
              <a:spcAft>
                <a:spcPts val="1100"/>
              </a:spcAft>
              <a:buChar char="•"/>
            </a:pPr>
            <a:r>
              <a:rPr sz="1600" b="0" i="0">
                <a:solidFill>
                  <a:srgbClr val="424456"/>
                </a:solidFill>
                <a:latin typeface="Times New Roman"/>
                <a:cs typeface="Times New Roman"/>
              </a:rPr>
              <a:t>Cover more persistence locations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sz="2800" b="1" i="0">
                <a:solidFill>
                  <a:srgbClr val="424456"/>
                </a:solidFill>
                <a:latin typeface="Times New Roman"/>
                <a:cs typeface="Times New Roman"/>
              </a:rPr>
              <a:t>Conclusion &amp; Thank You</a:t>
            </a:r>
          </a:p>
        </p:txBody>
      </p:sp>
      <p:sp>
        <p:nvSpPr>
          <p:cNvPr id="9" name="Slide Number Placeholder 5">
            <a:extLst>
              <a:ext uri="{FF2B5EF4-FFF2-40B4-BE49-F238E27FC236}">
                <a16:creationId xmlns:a16="http://schemas.microsoft.com/office/drawing/2014/main" id="{9FB351EA-5CDE-CBDF-7FE6-78CF39AE0C8D}"/>
              </a:ext>
            </a:extLst>
          </p:cNvPr>
          <p:cNvSpPr>
            <a:spLocks noGrp="1"/>
          </p:cNvSpPr>
          <p:nvPr>
            <p:ph type="sldNum" sz="quarter" idx="12"/>
          </p:nvPr>
        </p:nvSpPr>
        <p:spPr/>
        <p:txBody>
          <a:bodyPr>
            <a:normAutofit lnSpcReduction="10000"/>
          </a:bodyPr>
          <a:lstStyle/>
          <a:p>
            <a:pPr>
              <a:defRPr/>
            </a:pPr>
            <a:fld id="{F8D28E11-6266-47C4-B1CE-C6D99AC79DCA}" type="slidenum">
              <a:rPr lang="en-US" altLang="en-US"/>
              <a:pPr>
                <a:defRPr/>
              </a:pPr>
              <a:t>15</a:t>
            </a:fld>
            <a:endParaRPr lang="en-US" altLang="en-US"/>
          </a:p>
        </p:txBody>
      </p:sp>
      <p:sp>
        <p:nvSpPr>
          <p:cNvPr id="10" name="Rounded Rectangle 9"/>
          <p:cNvSpPr/>
          <p:nvPr/>
        </p:nvSpPr>
        <p:spPr>
          <a:xfrm>
            <a:off x="502920" y="1737360"/>
            <a:ext cx="4846320" cy="4754880"/>
          </a:xfrm>
          <a:prstGeom prst="roundRect">
            <a:avLst>
              <a:gd name="adj" fmla="val 6000"/>
            </a:avLst>
          </a:prstGeom>
          <a:solidFill>
            <a:srgbClr val="EEEE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85800" y="1828800"/>
            <a:ext cx="4480560" cy="411480"/>
          </a:xfrm>
          <a:prstGeom prst="rect">
            <a:avLst/>
          </a:prstGeom>
          <a:noFill/>
        </p:spPr>
        <p:txBody>
          <a:bodyPr wrap="square" lIns="45720" tIns="27432" rIns="45720" bIns="27432" anchor="t">
            <a:spAutoFit/>
          </a:bodyPr>
          <a:lstStyle/>
          <a:p>
            <a:pPr algn="l">
              <a:spcAft>
                <a:spcPts val="400"/>
              </a:spcAft>
            </a:pPr>
            <a:r>
              <a:rPr sz="1900" b="1" i="0">
                <a:solidFill>
                  <a:srgbClr val="53548A"/>
                </a:solidFill>
                <a:latin typeface="Times New Roman"/>
                <a:cs typeface="Times New Roman"/>
              </a:rPr>
              <a:t>Key contributions</a:t>
            </a:r>
          </a:p>
        </p:txBody>
      </p:sp>
      <p:sp>
        <p:nvSpPr>
          <p:cNvPr id="12" name="TextBox 11"/>
          <p:cNvSpPr txBox="1"/>
          <p:nvPr/>
        </p:nvSpPr>
        <p:spPr>
          <a:xfrm>
            <a:off x="685800" y="2377440"/>
            <a:ext cx="4526280" cy="4023360"/>
          </a:xfrm>
          <a:prstGeom prst="rect">
            <a:avLst/>
          </a:prstGeom>
          <a:noFill/>
        </p:spPr>
        <p:txBody>
          <a:bodyPr wrap="square" lIns="45720" tIns="27432" rIns="45720" bIns="27432" anchor="t">
            <a:spAutoFit/>
          </a:bodyPr>
          <a:lstStyle/>
          <a:p>
            <a:pPr marL="182880" indent="-182880" algn="l">
              <a:spcAft>
                <a:spcPts val="1600"/>
              </a:spcAft>
              <a:buChar char="•"/>
            </a:pPr>
            <a:r>
              <a:rPr sz="1700" b="0" i="0">
                <a:solidFill>
                  <a:srgbClr val="424456"/>
                </a:solidFill>
                <a:latin typeface="Times New Roman"/>
                <a:cs typeface="Times New Roman"/>
              </a:rPr>
              <a:t>Working prototype: SHA-256 baseline of 23 persistence locations</a:t>
            </a:r>
          </a:p>
          <a:p>
            <a:pPr marL="182880" indent="-182880" algn="l">
              <a:spcAft>
                <a:spcPts val="1600"/>
              </a:spcAft>
              <a:buChar char="•"/>
            </a:pPr>
            <a:r>
              <a:rPr sz="1700" b="0" i="0">
                <a:solidFill>
                  <a:srgbClr val="424456"/>
                </a:solidFill>
                <a:latin typeface="Times New Roman"/>
                <a:cs typeface="Times New Roman"/>
              </a:rPr>
              <a:t>Detects ADDED, MODIFIED and DELETED items with exact line diffs</a:t>
            </a:r>
          </a:p>
          <a:p>
            <a:pPr marL="182880" indent="-182880" algn="l">
              <a:spcAft>
                <a:spcPts val="1600"/>
              </a:spcAft>
              <a:buChar char="•"/>
            </a:pPr>
            <a:r>
              <a:rPr sz="1700" b="0" i="0">
                <a:solidFill>
                  <a:srgbClr val="424456"/>
                </a:solidFill>
                <a:latin typeface="Times New Roman"/>
                <a:cs typeface="Times New Roman"/>
              </a:rPr>
              <a:t>Local SOC-style dashboard with rule-based severity and ATT&amp;CK tags</a:t>
            </a:r>
          </a:p>
          <a:p>
            <a:pPr marL="182880" indent="-182880" algn="l">
              <a:spcAft>
                <a:spcPts val="1600"/>
              </a:spcAft>
              <a:buChar char="•"/>
            </a:pPr>
            <a:r>
              <a:rPr sz="1700" b="0" i="0">
                <a:solidFill>
                  <a:srgbClr val="424456"/>
                </a:solidFill>
                <a:latin typeface="Times New Roman"/>
                <a:cs typeface="Times New Roman"/>
              </a:rPr>
              <a:t>Honest scope: change detection, not attack proof; validated on a mock tree</a:t>
            </a:r>
          </a:p>
        </p:txBody>
      </p:sp>
      <p:sp>
        <p:nvSpPr>
          <p:cNvPr id="13" name="Rounded Rectangle 12"/>
          <p:cNvSpPr/>
          <p:nvPr/>
        </p:nvSpPr>
        <p:spPr>
          <a:xfrm>
            <a:off x="5577840" y="1737360"/>
            <a:ext cx="3063240" cy="4754880"/>
          </a:xfrm>
          <a:prstGeom prst="roundRect">
            <a:avLst>
              <a:gd name="adj" fmla="val 6000"/>
            </a:avLst>
          </a:prstGeom>
          <a:solidFill>
            <a:srgbClr val="5354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77840" y="2148840"/>
            <a:ext cx="3063240" cy="822960"/>
          </a:xfrm>
          <a:prstGeom prst="rect">
            <a:avLst/>
          </a:prstGeom>
          <a:noFill/>
        </p:spPr>
        <p:txBody>
          <a:bodyPr wrap="square" lIns="45720" tIns="27432" rIns="45720" bIns="27432" anchor="ctr">
            <a:spAutoFit/>
          </a:bodyPr>
          <a:lstStyle/>
          <a:p>
            <a:pPr algn="ctr">
              <a:spcAft>
                <a:spcPts val="400"/>
              </a:spcAft>
            </a:pPr>
            <a:r>
              <a:rPr sz="3400" b="1" i="0">
                <a:solidFill>
                  <a:srgbClr val="FFFFFF"/>
                </a:solidFill>
                <a:latin typeface="Times New Roman"/>
                <a:cs typeface="Times New Roman"/>
              </a:rPr>
              <a:t>Thank You</a:t>
            </a:r>
          </a:p>
        </p:txBody>
      </p:sp>
      <p:sp>
        <p:nvSpPr>
          <p:cNvPr id="15" name="TextBox 14"/>
          <p:cNvSpPr txBox="1"/>
          <p:nvPr/>
        </p:nvSpPr>
        <p:spPr>
          <a:xfrm>
            <a:off x="5577840" y="3063240"/>
            <a:ext cx="3063240" cy="457200"/>
          </a:xfrm>
          <a:prstGeom prst="rect">
            <a:avLst/>
          </a:prstGeom>
          <a:noFill/>
        </p:spPr>
        <p:txBody>
          <a:bodyPr wrap="square" lIns="45720" tIns="27432" rIns="45720" bIns="27432" anchor="t">
            <a:spAutoFit/>
          </a:bodyPr>
          <a:lstStyle/>
          <a:p>
            <a:pPr algn="ctr">
              <a:spcAft>
                <a:spcPts val="400"/>
              </a:spcAft>
            </a:pPr>
            <a:r>
              <a:rPr sz="1700" b="0" i="0">
                <a:solidFill>
                  <a:srgbClr val="FFFFFF"/>
                </a:solidFill>
                <a:latin typeface="Times New Roman"/>
                <a:cs typeface="Times New Roman"/>
              </a:rPr>
              <a:t>Questions &amp; Discussion</a:t>
            </a:r>
          </a:p>
        </p:txBody>
      </p:sp>
      <p:sp>
        <p:nvSpPr>
          <p:cNvPr id="16" name="TextBox 15"/>
          <p:cNvSpPr txBox="1"/>
          <p:nvPr/>
        </p:nvSpPr>
        <p:spPr>
          <a:xfrm>
            <a:off x="5715000" y="4206240"/>
            <a:ext cx="2788920" cy="1737360"/>
          </a:xfrm>
          <a:prstGeom prst="rect">
            <a:avLst/>
          </a:prstGeom>
          <a:noFill/>
        </p:spPr>
        <p:txBody>
          <a:bodyPr wrap="square" lIns="45720" tIns="27432" rIns="45720" bIns="27432" anchor="t">
            <a:spAutoFit/>
          </a:bodyPr>
          <a:lstStyle/>
          <a:p>
            <a:pPr algn="ctr">
              <a:spcAft>
                <a:spcPts val="600"/>
              </a:spcAft>
            </a:pPr>
            <a:r>
              <a:rPr sz="1500" b="1" i="0">
                <a:solidFill>
                  <a:srgbClr val="FFFFFF"/>
                </a:solidFill>
                <a:latin typeface="Times New Roman"/>
                <a:cs typeface="Times New Roman"/>
              </a:rPr>
              <a:t>Arun Kumar</a:t>
            </a:r>
          </a:p>
          <a:p>
            <a:pPr algn="ctr">
              <a:spcAft>
                <a:spcPts val="600"/>
              </a:spcAft>
            </a:pPr>
            <a:r>
              <a:rPr sz="1500" b="1" i="0">
                <a:solidFill>
                  <a:srgbClr val="FFFFFF"/>
                </a:solidFill>
                <a:latin typeface="Times New Roman"/>
                <a:cs typeface="Times New Roman"/>
              </a:rPr>
              <a:t>Abhishek Sharma</a:t>
            </a:r>
          </a:p>
          <a:p>
            <a:pPr algn="ctr">
              <a:spcAft>
                <a:spcPts val="600"/>
              </a:spcAft>
            </a:pPr>
            <a:r>
              <a:rPr sz="1500" b="1" i="0">
                <a:solidFill>
                  <a:srgbClr val="FFFFFF"/>
                </a:solidFill>
                <a:latin typeface="Times New Roman"/>
                <a:cs typeface="Times New Roman"/>
              </a:rPr>
              <a:t>MIET, Jammu  |  2026</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1_AcademicPresentation3">
  <a:themeElements>
    <a:clrScheme name="Urban">
      <a:dk1>
        <a:sysClr val="windowText" lastClr="000000"/>
      </a:dk1>
      <a:lt1>
        <a:sysClr val="window" lastClr="FFFFFF"/>
      </a:lt1>
      <a:dk2>
        <a:srgbClr val="424456"/>
      </a:dk2>
      <a:lt2>
        <a:srgbClr val="DEDEDE"/>
      </a:lt2>
      <a:accent1>
        <a:srgbClr val="53548A"/>
      </a:accent1>
      <a:accent2>
        <a:srgbClr val="438086"/>
      </a:accent2>
      <a:accent3>
        <a:srgbClr val="A04DA3"/>
      </a:accent3>
      <a:accent4>
        <a:srgbClr val="C4652D"/>
      </a:accent4>
      <a:accent5>
        <a:srgbClr val="8B5D3D"/>
      </a:accent5>
      <a:accent6>
        <a:srgbClr val="5C92B5"/>
      </a:accent6>
      <a:hlink>
        <a:srgbClr val="67AFBD"/>
      </a:hlink>
      <a:folHlink>
        <a:srgbClr val="C2A874"/>
      </a:folHlink>
    </a:clrScheme>
    <a:fontScheme name="Median">
      <a:maj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ajorFont>
      <a:minorFont>
        <a:latin typeface="Tw Cen MT"/>
        <a:ea typeface=""/>
        <a:cs typeface=""/>
        <a:font script="Grek" typeface="Calibri"/>
        <a:font script="Cyrl" typeface="Calibri"/>
        <a:font script="Jpan" typeface="HGPｺﾞｼｯｸE"/>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blipFill>
          <a:blip xmlns:r="http://schemas.openxmlformats.org/officeDocument/2006/relationships" r:embed="rId1">
            <a:duotone>
              <a:schemeClr val="phClr">
                <a:shade val="90000"/>
                <a:satMod val="140000"/>
              </a:schemeClr>
              <a:schemeClr val="phClr">
                <a:satMod val="120000"/>
              </a:schemeClr>
            </a:duotone>
          </a:blip>
          <a:tile tx="0" ty="0" sx="100000" sy="100000" flip="none" algn="tl"/>
        </a:blipFill>
        <a:blipFill>
          <a:blip xmlns:r="http://schemas.openxmlformats.org/officeDocument/2006/relationships" r:embed="rId2">
            <a:duotone>
              <a:schemeClr val="phClr">
                <a:shade val="90000"/>
                <a:satMod val="140000"/>
              </a:schemeClr>
              <a:schemeClr val="phClr">
                <a:satMod val="12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18396</TotalTime>
  <Words>3011</Words>
  <Application>Microsoft Office PowerPoint</Application>
  <PresentationFormat>On-screen Show (4:3)</PresentationFormat>
  <Paragraphs>323</Paragraphs>
  <Slides>15</Slides>
  <Notes>15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Courier New</vt:lpstr>
      <vt:lpstr>Times New Roman</vt:lpstr>
      <vt:lpstr>Tw Cen MT</vt:lpstr>
      <vt:lpstr>Wingdings</vt:lpstr>
      <vt:lpstr>Wingdings 2</vt:lpstr>
      <vt:lpstr>1_AcademicPresentation3</vt:lpstr>
      <vt:lpstr>PowerPoint Presentation</vt:lpstr>
      <vt:lpstr>Table of Contents</vt:lpstr>
      <vt:lpstr>Introduction &amp; Background</vt:lpstr>
      <vt:lpstr>Problem Statement</vt:lpstr>
      <vt:lpstr>Project Objectives</vt:lpstr>
      <vt:lpstr>Linux Persistence: Core Concepts</vt:lpstr>
      <vt:lpstr>Proposed Solution: Scope &amp; Boundaries</vt:lpstr>
      <vt:lpstr>System Architecture</vt:lpstr>
      <vt:lpstr>Technologies &amp; Tools</vt:lpstr>
      <vt:lpstr>Working Methodology</vt:lpstr>
      <vt:lpstr>Change Detection Demonstration</vt:lpstr>
      <vt:lpstr>SOC Dashboard &amp; Results</vt:lpstr>
      <vt:lpstr>Testing &amp; Validation</vt:lpstr>
      <vt:lpstr>Limitations &amp; Future Scope</vt:lpstr>
      <vt:lpstr>Conclusion &amp;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sahil.adm@mietjammu.in</dc:creator>
  <cp:lastModifiedBy>arun dogra</cp:lastModifiedBy>
  <cp:revision>297</cp:revision>
  <dcterms:created xsi:type="dcterms:W3CDTF">2020-08-09T07:27:56Z</dcterms:created>
  <dcterms:modified xsi:type="dcterms:W3CDTF">2026-10-21T04:24:58Z</dcterms:modified>
</cp:coreProperties>
</file>